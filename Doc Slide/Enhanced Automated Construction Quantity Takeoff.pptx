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9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86EC04-E509-41C5-B8B2-05CE0B82B3D9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D38045F-9288-42A3-917F-FA652F2B4D1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AR"/>
            <a:t>Unimodal</a:t>
          </a:r>
          <a:endParaRPr lang="en-US"/>
        </a:p>
      </dgm:t>
    </dgm:pt>
    <dgm:pt modelId="{EC6BAE35-AAF9-4E18-85F2-82F081E588D2}" type="parTrans" cxnId="{F3CD020A-DB0F-49D2-BEDB-2A3061045DEB}">
      <dgm:prSet/>
      <dgm:spPr/>
      <dgm:t>
        <a:bodyPr/>
        <a:lstStyle/>
        <a:p>
          <a:endParaRPr lang="en-US"/>
        </a:p>
      </dgm:t>
    </dgm:pt>
    <dgm:pt modelId="{06AEBA92-3190-4356-B552-BC426EAF196E}" type="sibTrans" cxnId="{F3CD020A-DB0F-49D2-BEDB-2A3061045DEB}">
      <dgm:prSet/>
      <dgm:spPr/>
      <dgm:t>
        <a:bodyPr/>
        <a:lstStyle/>
        <a:p>
          <a:endParaRPr lang="en-US"/>
        </a:p>
      </dgm:t>
    </dgm:pt>
    <dgm:pt modelId="{2F7CCFEF-6B2C-4E31-91C6-A2A7859ECB74}">
      <dgm:prSet/>
      <dgm:spPr/>
      <dgm:t>
        <a:bodyPr/>
        <a:lstStyle/>
        <a:p>
          <a:pPr>
            <a:lnSpc>
              <a:spcPct val="100000"/>
            </a:lnSpc>
          </a:pPr>
          <a:r>
            <a:rPr lang="es-AR"/>
            <a:t>Assistance réglementaire et normative</a:t>
          </a:r>
          <a:endParaRPr lang="en-US"/>
        </a:p>
      </dgm:t>
    </dgm:pt>
    <dgm:pt modelId="{3696EAC3-D811-4787-A985-E2E0D59010D8}" type="parTrans" cxnId="{03B65351-ADA2-481B-81EA-AFF7A1C0F0AE}">
      <dgm:prSet/>
      <dgm:spPr/>
      <dgm:t>
        <a:bodyPr/>
        <a:lstStyle/>
        <a:p>
          <a:endParaRPr lang="en-US"/>
        </a:p>
      </dgm:t>
    </dgm:pt>
    <dgm:pt modelId="{35736356-A47A-46B7-B78B-FFCB1220B5B5}" type="sibTrans" cxnId="{03B65351-ADA2-481B-81EA-AFF7A1C0F0AE}">
      <dgm:prSet/>
      <dgm:spPr/>
      <dgm:t>
        <a:bodyPr/>
        <a:lstStyle/>
        <a:p>
          <a:endParaRPr lang="en-US"/>
        </a:p>
      </dgm:t>
    </dgm:pt>
    <dgm:pt modelId="{9BD09608-481C-46C7-A033-7444C0B16DE8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Relecture et feedback de documents techniques</a:t>
          </a:r>
          <a:endParaRPr lang="en-US"/>
        </a:p>
      </dgm:t>
    </dgm:pt>
    <dgm:pt modelId="{3EAE192C-A53A-4218-8367-2A566885C938}" type="parTrans" cxnId="{9206DC78-FA10-4683-B5CC-BAF855401B55}">
      <dgm:prSet/>
      <dgm:spPr/>
      <dgm:t>
        <a:bodyPr/>
        <a:lstStyle/>
        <a:p>
          <a:endParaRPr lang="en-US"/>
        </a:p>
      </dgm:t>
    </dgm:pt>
    <dgm:pt modelId="{46EAC97E-3292-46C3-875B-980E050FCC04}" type="sibTrans" cxnId="{9206DC78-FA10-4683-B5CC-BAF855401B55}">
      <dgm:prSet/>
      <dgm:spPr/>
      <dgm:t>
        <a:bodyPr/>
        <a:lstStyle/>
        <a:p>
          <a:endParaRPr lang="en-US"/>
        </a:p>
      </dgm:t>
    </dgm:pt>
    <dgm:pt modelId="{D3C80141-1BC3-4046-96BF-D212459977A3}">
      <dgm:prSet/>
      <dgm:spPr/>
      <dgm:t>
        <a:bodyPr/>
        <a:lstStyle/>
        <a:p>
          <a:pPr>
            <a:lnSpc>
              <a:spcPct val="100000"/>
            </a:lnSpc>
          </a:pPr>
          <a:r>
            <a:rPr lang="es-AR"/>
            <a:t>Domain-specific LLMs</a:t>
          </a:r>
          <a:endParaRPr lang="en-US"/>
        </a:p>
      </dgm:t>
    </dgm:pt>
    <dgm:pt modelId="{1C081ECA-7F3B-43E5-B0F7-06B895F245BE}" type="parTrans" cxnId="{424BE92B-2682-4773-9402-9AF3665C96F7}">
      <dgm:prSet/>
      <dgm:spPr/>
      <dgm:t>
        <a:bodyPr/>
        <a:lstStyle/>
        <a:p>
          <a:endParaRPr lang="en-US"/>
        </a:p>
      </dgm:t>
    </dgm:pt>
    <dgm:pt modelId="{D2CDD0E1-8A9B-4A82-BB27-1FCEF45EA409}" type="sibTrans" cxnId="{424BE92B-2682-4773-9402-9AF3665C96F7}">
      <dgm:prSet/>
      <dgm:spPr/>
      <dgm:t>
        <a:bodyPr/>
        <a:lstStyle/>
        <a:p>
          <a:endParaRPr lang="en-US"/>
        </a:p>
      </dgm:t>
    </dgm:pt>
    <dgm:pt modelId="{D32D1E0D-A0BA-4202-9DF4-C6EB5638085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AR"/>
            <a:t>Multimodal</a:t>
          </a:r>
          <a:endParaRPr lang="en-US"/>
        </a:p>
      </dgm:t>
    </dgm:pt>
    <dgm:pt modelId="{423FD113-FD98-4B60-ADB0-7D97FA848867}" type="parTrans" cxnId="{9D4525EB-C28F-49C1-8DCD-EB96B857E19D}">
      <dgm:prSet/>
      <dgm:spPr/>
      <dgm:t>
        <a:bodyPr/>
        <a:lstStyle/>
        <a:p>
          <a:endParaRPr lang="en-US"/>
        </a:p>
      </dgm:t>
    </dgm:pt>
    <dgm:pt modelId="{12504A14-410F-45A9-8C0C-435B5F5B052F}" type="sibTrans" cxnId="{9D4525EB-C28F-49C1-8DCD-EB96B857E19D}">
      <dgm:prSet/>
      <dgm:spPr/>
      <dgm:t>
        <a:bodyPr/>
        <a:lstStyle/>
        <a:p>
          <a:endParaRPr lang="en-US"/>
        </a:p>
      </dgm:t>
    </dgm:pt>
    <dgm:pt modelId="{C15B2ECA-D3E9-424C-AC75-2E675E1ED734}">
      <dgm:prSet/>
      <dgm:spPr/>
      <dgm:t>
        <a:bodyPr/>
        <a:lstStyle/>
        <a:p>
          <a:pPr>
            <a:lnSpc>
              <a:spcPct val="100000"/>
            </a:lnSpc>
          </a:pPr>
          <a:r>
            <a:rPr lang="es-AR"/>
            <a:t>Génération de rapports automatisés</a:t>
          </a:r>
          <a:endParaRPr lang="en-US"/>
        </a:p>
      </dgm:t>
    </dgm:pt>
    <dgm:pt modelId="{77587FC7-CAC5-409C-9AB5-AE0F2D235F5C}" type="parTrans" cxnId="{5ED40E8F-D2C6-47FB-AB5A-B72C1A872F26}">
      <dgm:prSet/>
      <dgm:spPr/>
      <dgm:t>
        <a:bodyPr/>
        <a:lstStyle/>
        <a:p>
          <a:endParaRPr lang="en-US"/>
        </a:p>
      </dgm:t>
    </dgm:pt>
    <dgm:pt modelId="{159B1F80-472E-49EB-AFC3-2FAFF55EFEE3}" type="sibTrans" cxnId="{5ED40E8F-D2C6-47FB-AB5A-B72C1A872F26}">
      <dgm:prSet/>
      <dgm:spPr/>
      <dgm:t>
        <a:bodyPr/>
        <a:lstStyle/>
        <a:p>
          <a:endParaRPr lang="en-US"/>
        </a:p>
      </dgm:t>
    </dgm:pt>
    <dgm:pt modelId="{65B30D46-F709-4967-B225-EE270FFDEEAD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Reconnaissance de matériaux de déchets</a:t>
          </a:r>
          <a:endParaRPr lang="en-US"/>
        </a:p>
      </dgm:t>
    </dgm:pt>
    <dgm:pt modelId="{B76C6C78-9833-4EB8-8289-7F0538D3810D}" type="parTrans" cxnId="{EA378F27-4F1A-445C-8F77-D9B8E1D06357}">
      <dgm:prSet/>
      <dgm:spPr/>
      <dgm:t>
        <a:bodyPr/>
        <a:lstStyle/>
        <a:p>
          <a:endParaRPr lang="en-US"/>
        </a:p>
      </dgm:t>
    </dgm:pt>
    <dgm:pt modelId="{129979BB-9078-41B6-A4D5-2ECA70C22696}" type="sibTrans" cxnId="{EA378F27-4F1A-445C-8F77-D9B8E1D06357}">
      <dgm:prSet/>
      <dgm:spPr/>
      <dgm:t>
        <a:bodyPr/>
        <a:lstStyle/>
        <a:p>
          <a:endParaRPr lang="en-US"/>
        </a:p>
      </dgm:t>
    </dgm:pt>
    <dgm:pt modelId="{33BEFC75-36CE-44FF-AEBC-45216B1000A5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Classification des activités de chantier</a:t>
          </a:r>
          <a:endParaRPr lang="en-US"/>
        </a:p>
      </dgm:t>
    </dgm:pt>
    <dgm:pt modelId="{04E0A404-2B02-4DF8-8FB5-6D81B9AAABD9}" type="parTrans" cxnId="{8EAD28E4-6E12-4ADC-AE2F-52A2CEEA1020}">
      <dgm:prSet/>
      <dgm:spPr/>
      <dgm:t>
        <a:bodyPr/>
        <a:lstStyle/>
        <a:p>
          <a:endParaRPr lang="en-US"/>
        </a:p>
      </dgm:t>
    </dgm:pt>
    <dgm:pt modelId="{54A924F0-0ACD-4575-B984-C92DD0130F11}" type="sibTrans" cxnId="{8EAD28E4-6E12-4ADC-AE2F-52A2CEEA1020}">
      <dgm:prSet/>
      <dgm:spPr/>
      <dgm:t>
        <a:bodyPr/>
        <a:lstStyle/>
        <a:p>
          <a:endParaRPr lang="en-US"/>
        </a:p>
      </dgm:t>
    </dgm:pt>
    <dgm:pt modelId="{52D2F33B-17F0-46B8-9ACA-09E2B1AF1EC3}" type="pres">
      <dgm:prSet presAssocID="{0C86EC04-E509-41C5-B8B2-05CE0B82B3D9}" presName="root" presStyleCnt="0">
        <dgm:presLayoutVars>
          <dgm:dir/>
          <dgm:resizeHandles val="exact"/>
        </dgm:presLayoutVars>
      </dgm:prSet>
      <dgm:spPr/>
    </dgm:pt>
    <dgm:pt modelId="{38992E95-3E1D-41BB-8F25-CF252D83995F}" type="pres">
      <dgm:prSet presAssocID="{9D38045F-9288-42A3-917F-FA652F2B4D12}" presName="compNode" presStyleCnt="0"/>
      <dgm:spPr/>
    </dgm:pt>
    <dgm:pt modelId="{CCB79326-4639-4A6D-895F-5B1FD2F82BF8}" type="pres">
      <dgm:prSet presAssocID="{9D38045F-9288-42A3-917F-FA652F2B4D12}" presName="iconRect" presStyleLbl="node1" presStyleIdx="0" presStyleCnt="2" custScaleY="102629" custLinFactNeighborX="28298" custLinFactNeighborY="5837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1000" r="-1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 contour"/>
        </a:ext>
      </dgm:extLst>
    </dgm:pt>
    <dgm:pt modelId="{0F35DFC3-F865-493C-9E3E-3D8484C58A8F}" type="pres">
      <dgm:prSet presAssocID="{9D38045F-9288-42A3-917F-FA652F2B4D12}" presName="iconSpace" presStyleCnt="0"/>
      <dgm:spPr/>
    </dgm:pt>
    <dgm:pt modelId="{1526ED69-52E7-4203-AF0F-1595341779B8}" type="pres">
      <dgm:prSet presAssocID="{9D38045F-9288-42A3-917F-FA652F2B4D12}" presName="parTx" presStyleLbl="revTx" presStyleIdx="0" presStyleCnt="4">
        <dgm:presLayoutVars>
          <dgm:chMax val="0"/>
          <dgm:chPref val="0"/>
        </dgm:presLayoutVars>
      </dgm:prSet>
      <dgm:spPr/>
    </dgm:pt>
    <dgm:pt modelId="{4C3F778B-8450-4DCD-B86D-D4A8221A13FB}" type="pres">
      <dgm:prSet presAssocID="{9D38045F-9288-42A3-917F-FA652F2B4D12}" presName="txSpace" presStyleCnt="0"/>
      <dgm:spPr/>
    </dgm:pt>
    <dgm:pt modelId="{4DF2D504-0DF9-44B6-9078-1D2711CBB013}" type="pres">
      <dgm:prSet presAssocID="{9D38045F-9288-42A3-917F-FA652F2B4D12}" presName="desTx" presStyleLbl="revTx" presStyleIdx="1" presStyleCnt="4">
        <dgm:presLayoutVars/>
      </dgm:prSet>
      <dgm:spPr/>
    </dgm:pt>
    <dgm:pt modelId="{FD8CF9C9-5766-4943-BEEC-42F284403DDA}" type="pres">
      <dgm:prSet presAssocID="{06AEBA92-3190-4356-B552-BC426EAF196E}" presName="sibTrans" presStyleCnt="0"/>
      <dgm:spPr/>
    </dgm:pt>
    <dgm:pt modelId="{AA9B7DE1-B714-4C84-BF2C-9CEAD55FCAD8}" type="pres">
      <dgm:prSet presAssocID="{D32D1E0D-A0BA-4202-9DF4-C6EB56380853}" presName="compNode" presStyleCnt="0"/>
      <dgm:spPr/>
    </dgm:pt>
    <dgm:pt modelId="{CE197E7E-2AA3-45EA-AEB0-5DFADEFB3424}" type="pres">
      <dgm:prSet presAssocID="{D32D1E0D-A0BA-4202-9DF4-C6EB56380853}" presName="iconRect" presStyleLbl="node1" presStyleIdx="1" presStyleCnt="2" custScaleX="47866" custScaleY="48770" custLinFactX="23974" custLinFactNeighborX="100000" custLinFactNeighborY="-3911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 l="-2000" r="-2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pport sonore avec un remplissage uni"/>
        </a:ext>
      </dgm:extLst>
    </dgm:pt>
    <dgm:pt modelId="{769F6323-BB7C-4477-8369-94169B7B495F}" type="pres">
      <dgm:prSet presAssocID="{D32D1E0D-A0BA-4202-9DF4-C6EB56380853}" presName="iconSpace" presStyleCnt="0"/>
      <dgm:spPr/>
    </dgm:pt>
    <dgm:pt modelId="{6A3C8E60-AFCF-4597-BA88-A1682BFB8CB0}" type="pres">
      <dgm:prSet presAssocID="{D32D1E0D-A0BA-4202-9DF4-C6EB56380853}" presName="parTx" presStyleLbl="revTx" presStyleIdx="2" presStyleCnt="4">
        <dgm:presLayoutVars>
          <dgm:chMax val="0"/>
          <dgm:chPref val="0"/>
        </dgm:presLayoutVars>
      </dgm:prSet>
      <dgm:spPr/>
    </dgm:pt>
    <dgm:pt modelId="{210E8193-7DBB-4B33-8323-B557E46188B7}" type="pres">
      <dgm:prSet presAssocID="{D32D1E0D-A0BA-4202-9DF4-C6EB56380853}" presName="txSpace" presStyleCnt="0"/>
      <dgm:spPr/>
    </dgm:pt>
    <dgm:pt modelId="{059C7EA3-7CCC-412F-B3F0-3A0C520B37E6}" type="pres">
      <dgm:prSet presAssocID="{D32D1E0D-A0BA-4202-9DF4-C6EB56380853}" presName="desTx" presStyleLbl="revTx" presStyleIdx="3" presStyleCnt="4">
        <dgm:presLayoutVars/>
      </dgm:prSet>
      <dgm:spPr/>
    </dgm:pt>
  </dgm:ptLst>
  <dgm:cxnLst>
    <dgm:cxn modelId="{F3CD020A-DB0F-49D2-BEDB-2A3061045DEB}" srcId="{0C86EC04-E509-41C5-B8B2-05CE0B82B3D9}" destId="{9D38045F-9288-42A3-917F-FA652F2B4D12}" srcOrd="0" destOrd="0" parTransId="{EC6BAE35-AAF9-4E18-85F2-82F081E588D2}" sibTransId="{06AEBA92-3190-4356-B552-BC426EAF196E}"/>
    <dgm:cxn modelId="{0311B00F-4245-4E4D-8A75-C068F0DBD2BA}" type="presOf" srcId="{9D38045F-9288-42A3-917F-FA652F2B4D12}" destId="{1526ED69-52E7-4203-AF0F-1595341779B8}" srcOrd="0" destOrd="0" presId="urn:microsoft.com/office/officeart/2018/2/layout/IconLabelDescriptionList"/>
    <dgm:cxn modelId="{EA378F27-4F1A-445C-8F77-D9B8E1D06357}" srcId="{D32D1E0D-A0BA-4202-9DF4-C6EB56380853}" destId="{65B30D46-F709-4967-B225-EE270FFDEEAD}" srcOrd="1" destOrd="0" parTransId="{B76C6C78-9833-4EB8-8289-7F0538D3810D}" sibTransId="{129979BB-9078-41B6-A4D5-2ECA70C22696}"/>
    <dgm:cxn modelId="{424BE92B-2682-4773-9402-9AF3665C96F7}" srcId="{9D38045F-9288-42A3-917F-FA652F2B4D12}" destId="{D3C80141-1BC3-4046-96BF-D212459977A3}" srcOrd="2" destOrd="0" parTransId="{1C081ECA-7F3B-43E5-B0F7-06B895F245BE}" sibTransId="{D2CDD0E1-8A9B-4A82-BB27-1FCEF45EA409}"/>
    <dgm:cxn modelId="{D8C76265-8A0C-4D47-83CE-BADFEE3A803C}" type="presOf" srcId="{33BEFC75-36CE-44FF-AEBC-45216B1000A5}" destId="{059C7EA3-7CCC-412F-B3F0-3A0C520B37E6}" srcOrd="0" destOrd="2" presId="urn:microsoft.com/office/officeart/2018/2/layout/IconLabelDescriptionList"/>
    <dgm:cxn modelId="{03B65351-ADA2-481B-81EA-AFF7A1C0F0AE}" srcId="{9D38045F-9288-42A3-917F-FA652F2B4D12}" destId="{2F7CCFEF-6B2C-4E31-91C6-A2A7859ECB74}" srcOrd="0" destOrd="0" parTransId="{3696EAC3-D811-4787-A985-E2E0D59010D8}" sibTransId="{35736356-A47A-46B7-B78B-FFCB1220B5B5}"/>
    <dgm:cxn modelId="{9206DC78-FA10-4683-B5CC-BAF855401B55}" srcId="{9D38045F-9288-42A3-917F-FA652F2B4D12}" destId="{9BD09608-481C-46C7-A033-7444C0B16DE8}" srcOrd="1" destOrd="0" parTransId="{3EAE192C-A53A-4218-8367-2A566885C938}" sibTransId="{46EAC97E-3292-46C3-875B-980E050FCC04}"/>
    <dgm:cxn modelId="{690BD087-174D-4FCB-97DE-B18D08F7D7C8}" type="presOf" srcId="{C15B2ECA-D3E9-424C-AC75-2E675E1ED734}" destId="{059C7EA3-7CCC-412F-B3F0-3A0C520B37E6}" srcOrd="0" destOrd="0" presId="urn:microsoft.com/office/officeart/2018/2/layout/IconLabelDescriptionList"/>
    <dgm:cxn modelId="{5ED40E8F-D2C6-47FB-AB5A-B72C1A872F26}" srcId="{D32D1E0D-A0BA-4202-9DF4-C6EB56380853}" destId="{C15B2ECA-D3E9-424C-AC75-2E675E1ED734}" srcOrd="0" destOrd="0" parTransId="{77587FC7-CAC5-409C-9AB5-AE0F2D235F5C}" sibTransId="{159B1F80-472E-49EB-AFC3-2FAFF55EFEE3}"/>
    <dgm:cxn modelId="{01AE9398-F410-4524-B803-5CA3197813EC}" type="presOf" srcId="{D3C80141-1BC3-4046-96BF-D212459977A3}" destId="{4DF2D504-0DF9-44B6-9078-1D2711CBB013}" srcOrd="0" destOrd="2" presId="urn:microsoft.com/office/officeart/2018/2/layout/IconLabelDescriptionList"/>
    <dgm:cxn modelId="{0B53D6A9-B3D3-4672-928A-D042D7901A21}" type="presOf" srcId="{D32D1E0D-A0BA-4202-9DF4-C6EB56380853}" destId="{6A3C8E60-AFCF-4597-BA88-A1682BFB8CB0}" srcOrd="0" destOrd="0" presId="urn:microsoft.com/office/officeart/2018/2/layout/IconLabelDescriptionList"/>
    <dgm:cxn modelId="{EED50BAF-95F9-42CC-83FF-C87988323DB2}" type="presOf" srcId="{0C86EC04-E509-41C5-B8B2-05CE0B82B3D9}" destId="{52D2F33B-17F0-46B8-9ACA-09E2B1AF1EC3}" srcOrd="0" destOrd="0" presId="urn:microsoft.com/office/officeart/2018/2/layout/IconLabelDescriptionList"/>
    <dgm:cxn modelId="{1D967CB1-770B-4CBF-A8EE-E4F893A9D68B}" type="presOf" srcId="{2F7CCFEF-6B2C-4E31-91C6-A2A7859ECB74}" destId="{4DF2D504-0DF9-44B6-9078-1D2711CBB013}" srcOrd="0" destOrd="0" presId="urn:microsoft.com/office/officeart/2018/2/layout/IconLabelDescriptionList"/>
    <dgm:cxn modelId="{3601D0B1-7296-4CCA-8061-A48AE2250E58}" type="presOf" srcId="{9BD09608-481C-46C7-A033-7444C0B16DE8}" destId="{4DF2D504-0DF9-44B6-9078-1D2711CBB013}" srcOrd="0" destOrd="1" presId="urn:microsoft.com/office/officeart/2018/2/layout/IconLabelDescriptionList"/>
    <dgm:cxn modelId="{33908BD1-EC93-4756-891E-EA84368BF3CB}" type="presOf" srcId="{65B30D46-F709-4967-B225-EE270FFDEEAD}" destId="{059C7EA3-7CCC-412F-B3F0-3A0C520B37E6}" srcOrd="0" destOrd="1" presId="urn:microsoft.com/office/officeart/2018/2/layout/IconLabelDescriptionList"/>
    <dgm:cxn modelId="{8EAD28E4-6E12-4ADC-AE2F-52A2CEEA1020}" srcId="{D32D1E0D-A0BA-4202-9DF4-C6EB56380853}" destId="{33BEFC75-36CE-44FF-AEBC-45216B1000A5}" srcOrd="2" destOrd="0" parTransId="{04E0A404-2B02-4DF8-8FB5-6D81B9AAABD9}" sibTransId="{54A924F0-0ACD-4575-B984-C92DD0130F11}"/>
    <dgm:cxn modelId="{9D4525EB-C28F-49C1-8DCD-EB96B857E19D}" srcId="{0C86EC04-E509-41C5-B8B2-05CE0B82B3D9}" destId="{D32D1E0D-A0BA-4202-9DF4-C6EB56380853}" srcOrd="1" destOrd="0" parTransId="{423FD113-FD98-4B60-ADB0-7D97FA848867}" sibTransId="{12504A14-410F-45A9-8C0C-435B5F5B052F}"/>
    <dgm:cxn modelId="{7354B58B-C9A9-436C-AC8F-8E8AD3C1EB08}" type="presParOf" srcId="{52D2F33B-17F0-46B8-9ACA-09E2B1AF1EC3}" destId="{38992E95-3E1D-41BB-8F25-CF252D83995F}" srcOrd="0" destOrd="0" presId="urn:microsoft.com/office/officeart/2018/2/layout/IconLabelDescriptionList"/>
    <dgm:cxn modelId="{260AF4E6-228E-460D-83E4-5AB4232A5115}" type="presParOf" srcId="{38992E95-3E1D-41BB-8F25-CF252D83995F}" destId="{CCB79326-4639-4A6D-895F-5B1FD2F82BF8}" srcOrd="0" destOrd="0" presId="urn:microsoft.com/office/officeart/2018/2/layout/IconLabelDescriptionList"/>
    <dgm:cxn modelId="{C01EBEA7-12D8-4B60-8CB2-462C3A137A9D}" type="presParOf" srcId="{38992E95-3E1D-41BB-8F25-CF252D83995F}" destId="{0F35DFC3-F865-493C-9E3E-3D8484C58A8F}" srcOrd="1" destOrd="0" presId="urn:microsoft.com/office/officeart/2018/2/layout/IconLabelDescriptionList"/>
    <dgm:cxn modelId="{F6C0C990-1963-4BEA-A7B9-79A2BC7CF94A}" type="presParOf" srcId="{38992E95-3E1D-41BB-8F25-CF252D83995F}" destId="{1526ED69-52E7-4203-AF0F-1595341779B8}" srcOrd="2" destOrd="0" presId="urn:microsoft.com/office/officeart/2018/2/layout/IconLabelDescriptionList"/>
    <dgm:cxn modelId="{BB41BA26-41E3-4D56-A819-F8F423E25D3D}" type="presParOf" srcId="{38992E95-3E1D-41BB-8F25-CF252D83995F}" destId="{4C3F778B-8450-4DCD-B86D-D4A8221A13FB}" srcOrd="3" destOrd="0" presId="urn:microsoft.com/office/officeart/2018/2/layout/IconLabelDescriptionList"/>
    <dgm:cxn modelId="{C331B25B-59C9-49B0-9D1A-A829AD28662C}" type="presParOf" srcId="{38992E95-3E1D-41BB-8F25-CF252D83995F}" destId="{4DF2D504-0DF9-44B6-9078-1D2711CBB013}" srcOrd="4" destOrd="0" presId="urn:microsoft.com/office/officeart/2018/2/layout/IconLabelDescriptionList"/>
    <dgm:cxn modelId="{F0E750DD-DC9B-478C-936D-CD465AFC4994}" type="presParOf" srcId="{52D2F33B-17F0-46B8-9ACA-09E2B1AF1EC3}" destId="{FD8CF9C9-5766-4943-BEEC-42F284403DDA}" srcOrd="1" destOrd="0" presId="urn:microsoft.com/office/officeart/2018/2/layout/IconLabelDescriptionList"/>
    <dgm:cxn modelId="{189F3C43-DBE6-4000-8722-8ABE27FF62DC}" type="presParOf" srcId="{52D2F33B-17F0-46B8-9ACA-09E2B1AF1EC3}" destId="{AA9B7DE1-B714-4C84-BF2C-9CEAD55FCAD8}" srcOrd="2" destOrd="0" presId="urn:microsoft.com/office/officeart/2018/2/layout/IconLabelDescriptionList"/>
    <dgm:cxn modelId="{1E8D857D-5DDC-44EE-A891-92E50D5D55FD}" type="presParOf" srcId="{AA9B7DE1-B714-4C84-BF2C-9CEAD55FCAD8}" destId="{CE197E7E-2AA3-45EA-AEB0-5DFADEFB3424}" srcOrd="0" destOrd="0" presId="urn:microsoft.com/office/officeart/2018/2/layout/IconLabelDescriptionList"/>
    <dgm:cxn modelId="{B5930C7D-EC93-4BFC-9AC2-3B2780609D0F}" type="presParOf" srcId="{AA9B7DE1-B714-4C84-BF2C-9CEAD55FCAD8}" destId="{769F6323-BB7C-4477-8369-94169B7B495F}" srcOrd="1" destOrd="0" presId="urn:microsoft.com/office/officeart/2018/2/layout/IconLabelDescriptionList"/>
    <dgm:cxn modelId="{744D11DF-35C8-48C5-AFB0-409F722DB2D0}" type="presParOf" srcId="{AA9B7DE1-B714-4C84-BF2C-9CEAD55FCAD8}" destId="{6A3C8E60-AFCF-4597-BA88-A1682BFB8CB0}" srcOrd="2" destOrd="0" presId="urn:microsoft.com/office/officeart/2018/2/layout/IconLabelDescriptionList"/>
    <dgm:cxn modelId="{CEEDC4C8-5A76-408C-9154-194BCA3DE212}" type="presParOf" srcId="{AA9B7DE1-B714-4C84-BF2C-9CEAD55FCAD8}" destId="{210E8193-7DBB-4B33-8323-B557E46188B7}" srcOrd="3" destOrd="0" presId="urn:microsoft.com/office/officeart/2018/2/layout/IconLabelDescriptionList"/>
    <dgm:cxn modelId="{14D697EC-F12F-4BCA-A562-53705845B4B3}" type="presParOf" srcId="{AA9B7DE1-B714-4C84-BF2C-9CEAD55FCAD8}" destId="{059C7EA3-7CCC-412F-B3F0-3A0C520B37E6}" srcOrd="4" destOrd="0" presId="urn:microsoft.com/office/officeart/2018/2/layout/IconLabelDescription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B79326-4639-4A6D-895F-5B1FD2F82BF8}">
      <dsp:nvSpPr>
        <dsp:cNvPr id="0" name=""/>
        <dsp:cNvSpPr/>
      </dsp:nvSpPr>
      <dsp:spPr>
        <a:xfrm>
          <a:off x="1197950" y="1023457"/>
          <a:ext cx="1510523" cy="15502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1000" r="-1000"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26ED69-52E7-4203-AF0F-1595341779B8}">
      <dsp:nvSpPr>
        <dsp:cNvPr id="0" name=""/>
        <dsp:cNvSpPr/>
      </dsp:nvSpPr>
      <dsp:spPr>
        <a:xfrm>
          <a:off x="770502" y="2564812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AR" sz="3600" kern="1200"/>
            <a:t>Unimodal</a:t>
          </a:r>
          <a:endParaRPr lang="en-US" sz="3600" kern="1200"/>
        </a:p>
      </dsp:txBody>
      <dsp:txXfrm>
        <a:off x="770502" y="2564812"/>
        <a:ext cx="4315781" cy="647367"/>
      </dsp:txXfrm>
    </dsp:sp>
    <dsp:sp modelId="{4DF2D504-0DF9-44B6-9078-1D2711CBB013}">
      <dsp:nvSpPr>
        <dsp:cNvPr id="0" name=""/>
        <dsp:cNvSpPr/>
      </dsp:nvSpPr>
      <dsp:spPr>
        <a:xfrm>
          <a:off x="770502" y="3258292"/>
          <a:ext cx="4315781" cy="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kern="1200"/>
            <a:t>Assistance réglementaire et normative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Relecture et feedback de documents techniques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kern="1200"/>
            <a:t>Domain-specific LLMs</a:t>
          </a:r>
          <a:endParaRPr lang="en-US" sz="1700" kern="1200"/>
        </a:p>
      </dsp:txBody>
      <dsp:txXfrm>
        <a:off x="770502" y="3258292"/>
        <a:ext cx="4315781" cy="418"/>
      </dsp:txXfrm>
    </dsp:sp>
    <dsp:sp modelId="{CE197E7E-2AA3-45EA-AEB0-5DFADEFB3424}">
      <dsp:nvSpPr>
        <dsp:cNvPr id="0" name=""/>
        <dsp:cNvSpPr/>
      </dsp:nvSpPr>
      <dsp:spPr>
        <a:xfrm>
          <a:off x="6927442" y="1137792"/>
          <a:ext cx="346422" cy="3596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 l="-2000" r="-2000"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3C8E60-AFCF-4597-BA88-A1682BFB8CB0}">
      <dsp:nvSpPr>
        <dsp:cNvPr id="0" name=""/>
        <dsp:cNvSpPr/>
      </dsp:nvSpPr>
      <dsp:spPr>
        <a:xfrm>
          <a:off x="5841545" y="2073880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AR" sz="3600" kern="1200"/>
            <a:t>Multimodal</a:t>
          </a:r>
          <a:endParaRPr lang="en-US" sz="3600" kern="1200"/>
        </a:p>
      </dsp:txBody>
      <dsp:txXfrm>
        <a:off x="5841545" y="2073880"/>
        <a:ext cx="4315781" cy="647367"/>
      </dsp:txXfrm>
    </dsp:sp>
    <dsp:sp modelId="{059C7EA3-7CCC-412F-B3F0-3A0C520B37E6}">
      <dsp:nvSpPr>
        <dsp:cNvPr id="0" name=""/>
        <dsp:cNvSpPr/>
      </dsp:nvSpPr>
      <dsp:spPr>
        <a:xfrm>
          <a:off x="5841545" y="2767361"/>
          <a:ext cx="4315781" cy="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kern="1200"/>
            <a:t>Génération de rapports automatisés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Reconnaissance de matériaux de déchets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Classification des activités de chantier</a:t>
          </a:r>
          <a:endParaRPr lang="en-US" sz="1700" kern="1200"/>
        </a:p>
      </dsp:txBody>
      <dsp:txXfrm>
        <a:off x="5841545" y="2767361"/>
        <a:ext cx="4315781" cy="4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93E021-B8E4-47E5-ABEE-4CBF46F33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0640FD1-2475-C82B-A707-4E7F9E6E8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739836-3B14-9F7C-BD64-77612E775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571BD-3D54-40D5-A404-DFC2E61383C4}" type="datetimeFigureOut">
              <a:rPr lang="es-AR" smtClean="0"/>
              <a:t>2/10/2025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BF6E80-30E4-336F-E0E1-CF2DC5384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96A080-C830-2ABA-BA7B-C9DF79B90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CD5D-3056-4385-8C56-D0EC34D2CA6D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01837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CE6235-F184-536D-62E7-E8E2186C4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D11330-A50D-9781-A094-CE204C369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2A14BA-9CAB-36EB-B0BF-82509DA58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571BD-3D54-40D5-A404-DFC2E61383C4}" type="datetimeFigureOut">
              <a:rPr lang="es-AR" smtClean="0"/>
              <a:t>2/10/2025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B2437F-C437-BBA5-3BC1-89A78B9BA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982C63-E2D8-DF12-4561-529D80A5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CD5D-3056-4385-8C56-D0EC34D2CA6D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06824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8DFB2E-4C58-4B10-C0FE-E63B90B02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6FAB185-FE1F-0577-60CA-09450EEB5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71A1FB-AA18-2029-13D9-0C9CACE66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571BD-3D54-40D5-A404-DFC2E61383C4}" type="datetimeFigureOut">
              <a:rPr lang="es-AR" smtClean="0"/>
              <a:t>2/10/2025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22284C-A272-0993-8FC8-B7342D243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5A543A-EB58-33DC-0E3C-132C12535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CD5D-3056-4385-8C56-D0EC34D2CA6D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38008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956323-8907-1A85-6EB2-EFC1F3272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FE1168-7BB0-CDED-E060-060151FCDC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DF91E9A-75DF-3BDA-74F6-ED770D279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D1D84F0-4EA0-9924-B83B-584520AE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571BD-3D54-40D5-A404-DFC2E61383C4}" type="datetimeFigureOut">
              <a:rPr lang="es-AR" smtClean="0"/>
              <a:t>2/10/2025</a:t>
            </a:fld>
            <a:endParaRPr lang="es-A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F77B29A-2014-DE94-1051-40667EE4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66C94B-0BD7-0949-8BDE-103B4595B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CD5D-3056-4385-8C56-D0EC34D2CA6D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99470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86FD23-1E3A-1BF7-79E1-05BB81EC0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28CC270-D657-F609-0BBE-9A524E819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3D6C9EC-8BB5-F25C-275B-05634EE3AD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A9DD656-74DE-D92C-6149-06D335BE4F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BB12A80-903D-5532-4969-F1A299D91E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3818E31-8B1C-7BB5-2A72-73AF41AA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571BD-3D54-40D5-A404-DFC2E61383C4}" type="datetimeFigureOut">
              <a:rPr lang="es-AR" smtClean="0"/>
              <a:t>2/10/2025</a:t>
            </a:fld>
            <a:endParaRPr lang="es-A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673BC83-7F3B-9B4E-4091-771DC371E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4FD2101-B01D-BB7B-B7BB-8D76130DE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CD5D-3056-4385-8C56-D0EC34D2CA6D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19887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8638E7-CA9C-1F62-841E-3F8DB894D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0DD2E5A-A080-5D5D-0667-EF3A70345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571BD-3D54-40D5-A404-DFC2E61383C4}" type="datetimeFigureOut">
              <a:rPr lang="es-AR" smtClean="0"/>
              <a:t>2/10/2025</a:t>
            </a:fld>
            <a:endParaRPr lang="es-A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F4D1FFA-D973-DFE5-53F8-7511640D9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A58B53B-53C5-405F-3C6C-E1BE25611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CD5D-3056-4385-8C56-D0EC34D2CA6D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68972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30E4AEC-36FC-9EF5-DA64-B1847DED2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571BD-3D54-40D5-A404-DFC2E61383C4}" type="datetimeFigureOut">
              <a:rPr lang="es-AR" smtClean="0"/>
              <a:t>2/10/2025</a:t>
            </a:fld>
            <a:endParaRPr lang="es-A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45F6636-E4B6-98E5-22AD-156A1C125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A481ED-9625-B8EC-C661-564F0291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CD5D-3056-4385-8C56-D0EC34D2CA6D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7590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9438A6-8EC3-4C90-E0B6-485C2AB4A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E6B3C1-2C2E-2170-80F0-C691D7E5C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BD85388-93C8-D307-3652-30588B7E1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3815075-6DA7-B18F-E564-23C26763D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571BD-3D54-40D5-A404-DFC2E61383C4}" type="datetimeFigureOut">
              <a:rPr lang="es-AR" smtClean="0"/>
              <a:t>2/10/2025</a:t>
            </a:fld>
            <a:endParaRPr lang="es-A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17DB4EA-D6F0-129C-1747-056F440CF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D7FD4D-BEEC-79B3-E15D-4B9F80E0D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CD5D-3056-4385-8C56-D0EC34D2CA6D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33436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ECE2C2-6645-0EA5-AD8D-41B81A514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BE61BC8-064F-6603-DC81-694EEE746A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CBC7542-F172-9996-9356-1DEB107B5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93BC11A-7DA3-281E-E95C-5447DC68D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571BD-3D54-40D5-A404-DFC2E61383C4}" type="datetimeFigureOut">
              <a:rPr lang="es-AR" smtClean="0"/>
              <a:t>2/10/2025</a:t>
            </a:fld>
            <a:endParaRPr lang="es-A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0FAC22E-2940-440D-7FD3-986CD0B65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F465050-D195-7581-7E4F-B7C637027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CD5D-3056-4385-8C56-D0EC34D2CA6D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59076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BCF6AE-9FFE-EF0F-5D01-77DE6284C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BA67227-3B6E-6F33-3BA3-87E112D73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D02227-D325-1102-6C81-7156B2D21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571BD-3D54-40D5-A404-DFC2E61383C4}" type="datetimeFigureOut">
              <a:rPr lang="es-AR" smtClean="0"/>
              <a:t>2/10/2025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F57EE4D-A47C-3FA4-E9A7-573356B50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A5681A-503D-90EE-A3A9-38B6019E9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CD5D-3056-4385-8C56-D0EC34D2CA6D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16740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C8D0E76-16AC-2195-65C8-A92FF1F732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2646886-852B-78B5-A603-E4741DEBC1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DE76D7-C7DA-0D6C-B2FB-DB1909BB2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571BD-3D54-40D5-A404-DFC2E61383C4}" type="datetimeFigureOut">
              <a:rPr lang="es-AR" smtClean="0"/>
              <a:t>2/10/2025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5901F4-4591-B469-AD11-9F8091260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D41A89-C7DE-E55C-6994-FACFECFF9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CD5D-3056-4385-8C56-D0EC34D2CA6D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62062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AE21FBF-CEB7-6A8E-805C-736C4FC1F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C5FFECB-5F05-FE77-73D6-883C14141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6C0733-A219-E6F7-26EA-850159CB88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2571BD-3D54-40D5-A404-DFC2E61383C4}" type="datetimeFigureOut">
              <a:rPr lang="es-AR" smtClean="0"/>
              <a:t>2/10/2025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C1F56F-A077-066B-584B-7B1FC642E6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BED02F-5D82-C186-D271-7821838450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4CD5D-3056-4385-8C56-D0EC34D2CA6D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86226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11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26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0FA9DA1E-4D09-ED36-63DA-AD3047FB7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ln w="22225">
                  <a:solidFill>
                    <a:schemeClr val="tx1"/>
                  </a:solidFill>
                  <a:miter lim="800000"/>
                </a:ln>
                <a:solidFill>
                  <a:schemeClr val="bg1"/>
                </a:solidFill>
              </a:rPr>
              <a:t>Presentation de </a:t>
            </a:r>
            <a:r>
              <a:rPr lang="en-US" sz="4000" dirty="0" err="1">
                <a:ln w="22225">
                  <a:solidFill>
                    <a:schemeClr val="tx1"/>
                  </a:solidFill>
                  <a:miter lim="800000"/>
                </a:ln>
                <a:solidFill>
                  <a:schemeClr val="bg1"/>
                </a:solidFill>
              </a:rPr>
              <a:t>l’article</a:t>
            </a:r>
            <a:r>
              <a:rPr lang="en-US" sz="4000" dirty="0">
                <a:ln w="22225">
                  <a:solidFill>
                    <a:schemeClr val="tx1"/>
                  </a:solidFill>
                  <a:miter lim="800000"/>
                </a:ln>
                <a:solidFill>
                  <a:schemeClr val="bg1"/>
                </a:solidFill>
              </a:rPr>
              <a:t> :</a:t>
            </a:r>
            <a:br>
              <a:rPr lang="en-US" sz="4000" dirty="0">
                <a:ln w="22225">
                  <a:solidFill>
                    <a:schemeClr val="tx1"/>
                  </a:solidFill>
                  <a:miter lim="800000"/>
                </a:ln>
                <a:solidFill>
                  <a:schemeClr val="bg1"/>
                </a:solidFill>
              </a:rPr>
            </a:br>
            <a:r>
              <a:rPr lang="en-US" sz="4000" dirty="0">
                <a:ln w="22225">
                  <a:solidFill>
                    <a:schemeClr val="tx1"/>
                  </a:solidFill>
                  <a:miter lim="800000"/>
                </a:ln>
                <a:solidFill>
                  <a:schemeClr val="bg1"/>
                </a:solidFill>
              </a:rPr>
              <a:t>Enhanced Automated Construction Quantity Takeoff</a:t>
            </a:r>
            <a:endParaRPr lang="es-AR" sz="4000" dirty="0">
              <a:ln w="22225">
                <a:solidFill>
                  <a:schemeClr val="tx1"/>
                </a:solidFill>
                <a:miter lim="800000"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93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60C307D-C54F-BBAB-6A5F-E6DCE5F3A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635" y="1250575"/>
            <a:ext cx="4604274" cy="4163210"/>
          </a:xfrm>
        </p:spPr>
        <p:txBody>
          <a:bodyPr anchor="ctr">
            <a:normAutofit/>
          </a:bodyPr>
          <a:lstStyle/>
          <a:p>
            <a:r>
              <a:rPr lang="fr-FR" sz="6800" dirty="0">
                <a:solidFill>
                  <a:schemeClr val="bg1"/>
                </a:solidFill>
              </a:rPr>
              <a:t>Introduction </a:t>
            </a:r>
            <a:endParaRPr lang="es-AR" sz="6800" dirty="0">
              <a:solidFill>
                <a:schemeClr val="bg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2C57604-0CFD-4023-B9BD-107166A25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6476" y="1100949"/>
            <a:ext cx="4996593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ontent Placeholder 25">
            <a:extLst>
              <a:ext uri="{FF2B5EF4-FFF2-40B4-BE49-F238E27FC236}">
                <a16:creationId xmlns:a16="http://schemas.microsoft.com/office/drawing/2014/main" id="{E7358B7B-A22E-A789-BE1D-B2E498350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3224" y="860612"/>
            <a:ext cx="4797909" cy="502382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solidFill>
                  <a:schemeClr val="bg1"/>
                </a:solidFill>
              </a:rPr>
              <a:t>Objetif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l’article</a:t>
            </a:r>
            <a:r>
              <a:rPr lang="en-US" sz="2000" dirty="0">
                <a:solidFill>
                  <a:schemeClr val="bg1"/>
                </a:solidFill>
              </a:rPr>
              <a:t>: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La realization de quantity of takeoff à </a:t>
            </a:r>
            <a:r>
              <a:rPr lang="en-US" sz="2000" dirty="0" err="1">
                <a:solidFill>
                  <a:schemeClr val="bg1"/>
                </a:solidFill>
              </a:rPr>
              <a:t>partir</a:t>
            </a:r>
            <a:r>
              <a:rPr lang="en-US" sz="2000" dirty="0">
                <a:solidFill>
                  <a:schemeClr val="bg1"/>
                </a:solidFill>
              </a:rPr>
              <a:t> de plans 2D et  de documentation </a:t>
            </a:r>
            <a:r>
              <a:rPr lang="en-US" sz="2000" dirty="0" err="1">
                <a:solidFill>
                  <a:schemeClr val="bg1"/>
                </a:solidFill>
              </a:rPr>
              <a:t>liers</a:t>
            </a:r>
            <a:r>
              <a:rPr lang="en-US" sz="2000" dirty="0">
                <a:solidFill>
                  <a:schemeClr val="bg1"/>
                </a:solidFill>
              </a:rPr>
              <a:t> au </a:t>
            </a:r>
            <a:r>
              <a:rPr lang="en-US" sz="2000" dirty="0" err="1">
                <a:solidFill>
                  <a:schemeClr val="bg1"/>
                </a:solidFill>
              </a:rPr>
              <a:t>projet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4322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1D186C-A28C-CCED-2F30-D0EAB4DB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6400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dirty="0"/>
              <a:t>BIM – Building information modeling</a:t>
            </a:r>
          </a:p>
        </p:txBody>
      </p:sp>
      <p:pic>
        <p:nvPicPr>
          <p:cNvPr id="11" name="Espace réservé du contenu 10" descr="Une image contenant texte, capture d’écran, Logiciel multimédia, logiciel&#10;&#10;Le contenu généré par l’IA peut être incorrect.">
            <a:extLst>
              <a:ext uri="{FF2B5EF4-FFF2-40B4-BE49-F238E27FC236}">
                <a16:creationId xmlns:a16="http://schemas.microsoft.com/office/drawing/2014/main" id="{F62DF9C3-9F08-6C32-473F-90CF049D21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89" r="1" b="1820"/>
          <a:stretch>
            <a:fillRect/>
          </a:stretch>
        </p:blipFill>
        <p:spPr>
          <a:xfrm>
            <a:off x="640080" y="640080"/>
            <a:ext cx="1091184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2575616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Espace réservé du contenu 15" descr="Une image contenant texte, carte&#10;&#10;Le contenu généré par l’IA peut être incorrect.">
            <a:extLst>
              <a:ext uri="{FF2B5EF4-FFF2-40B4-BE49-F238E27FC236}">
                <a16:creationId xmlns:a16="http://schemas.microsoft.com/office/drawing/2014/main" id="{9EEF074F-3885-3E0C-BCD9-E772074281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067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B422E8D-8AEF-6D01-D8F3-C26DF62D98F8}"/>
              </a:ext>
            </a:extLst>
          </p:cNvPr>
          <p:cNvSpPr txBox="1"/>
          <p:nvPr/>
        </p:nvSpPr>
        <p:spPr>
          <a:xfrm>
            <a:off x="841249" y="941832"/>
            <a:ext cx="10506456" cy="2057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Extraction </a:t>
            </a:r>
            <a:r>
              <a:rPr lang="en-US" sz="5000" b="1" u="sng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manuel</a:t>
            </a:r>
            <a:r>
              <a:rPr lang="en-US" sz="5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des </a:t>
            </a:r>
            <a:r>
              <a:rPr lang="en-US" sz="5000" b="1" u="sng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informations</a:t>
            </a:r>
            <a:endParaRPr lang="en-US" sz="5000" b="1" u="sng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indent="-2286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0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D8A3E2B-2BE5-83A4-E6EF-AEF7B3F7AC54}"/>
              </a:ext>
            </a:extLst>
          </p:cNvPr>
          <p:cNvSpPr txBox="1"/>
          <p:nvPr/>
        </p:nvSpPr>
        <p:spPr>
          <a:xfrm>
            <a:off x="841248" y="3502152"/>
            <a:ext cx="10506456" cy="2670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Chronophage</a:t>
            </a:r>
            <a:r>
              <a:rPr lang="en-US" sz="2000" dirty="0">
                <a:solidFill>
                  <a:schemeClr val="bg1"/>
                </a:solidFill>
              </a:rPr>
              <a:t> 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2000" dirty="0" err="1">
                <a:solidFill>
                  <a:schemeClr val="bg1"/>
                </a:solidFill>
              </a:rPr>
              <a:t>Coûteuse</a:t>
            </a:r>
            <a:endParaRPr lang="en-US" sz="2000" dirty="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Sujet</a:t>
            </a:r>
            <a:r>
              <a:rPr lang="en-US" sz="2000" dirty="0">
                <a:solidFill>
                  <a:schemeClr val="bg1"/>
                </a:solidFill>
              </a:rPr>
              <a:t> aux </a:t>
            </a:r>
            <a:r>
              <a:rPr lang="en-US" sz="2000" dirty="0" err="1">
                <a:solidFill>
                  <a:schemeClr val="bg1"/>
                </a:solidFill>
              </a:rPr>
              <a:t>erreurs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humaines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3428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15C33D4-B9A0-834D-2863-D608D434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Les LLM est la construction</a:t>
            </a:r>
            <a:endParaRPr lang="es-AR" sz="4000">
              <a:solidFill>
                <a:srgbClr val="FFFFFF"/>
              </a:solidFill>
            </a:endParaRP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E4A60AE4-C139-6CE8-B17F-A02C3E98B7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3912864"/>
              </p:ext>
            </p:extLst>
          </p:nvPr>
        </p:nvGraphicFramePr>
        <p:xfrm>
          <a:off x="644056" y="2112579"/>
          <a:ext cx="10927829" cy="419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8" name="Graphique 17" descr="Image contour">
            <a:extLst>
              <a:ext uri="{FF2B5EF4-FFF2-40B4-BE49-F238E27FC236}">
                <a16:creationId xmlns:a16="http://schemas.microsoft.com/office/drawing/2014/main" id="{71B03F9D-4A93-A644-C57F-3ACDD70079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48857" y="3249000"/>
            <a:ext cx="360000" cy="360000"/>
          </a:xfrm>
          <a:prstGeom prst="rect">
            <a:avLst/>
          </a:prstGeom>
        </p:spPr>
      </p:pic>
      <p:pic>
        <p:nvPicPr>
          <p:cNvPr id="20" name="Graphique 19" descr="Présentation avec multimédia contour">
            <a:extLst>
              <a:ext uri="{FF2B5EF4-FFF2-40B4-BE49-F238E27FC236}">
                <a16:creationId xmlns:a16="http://schemas.microsoft.com/office/drawing/2014/main" id="{62B50C8D-9B83-BAA3-328C-F6C4937F9ED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66829" y="324900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7819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81</Words>
  <Application>Microsoft Office PowerPoint</Application>
  <PresentationFormat>Grand écran</PresentationFormat>
  <Paragraphs>18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Thème Office</vt:lpstr>
      <vt:lpstr>Presentation de l’article : Enhanced Automated Construction Quantity Takeoff</vt:lpstr>
      <vt:lpstr>Introduction </vt:lpstr>
      <vt:lpstr>BIM – Building information modeling</vt:lpstr>
      <vt:lpstr>Présentation PowerPoint</vt:lpstr>
      <vt:lpstr>Les LLM est la construction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MOUGNE Robin</dc:creator>
  <cp:lastModifiedBy>MOUGNE Robin</cp:lastModifiedBy>
  <cp:revision>3</cp:revision>
  <dcterms:created xsi:type="dcterms:W3CDTF">2025-10-02T12:47:20Z</dcterms:created>
  <dcterms:modified xsi:type="dcterms:W3CDTF">2025-10-02T14:42:05Z</dcterms:modified>
</cp:coreProperties>
</file>