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8637ED-3BA2-15F4-0B7D-E732496D5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EBEE21-E238-D96F-582F-9859F390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087DA7-9828-4226-EB6D-B88CDBA6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1ED0DD-F00B-95D9-AC6F-52405C3A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E8C0AC-E5B2-EA0F-EF22-C9157839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437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C055D-9F55-9BDC-CAC4-D73E9319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094EC-9CB0-6F7A-4CDC-753A3203A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877A9F-68A2-3F97-C0D1-B1CF23F0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B95588-BAD4-1B62-C831-98761EA7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C7AADC-6220-9F9A-9331-7208757B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941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A41D2-4409-A20F-2733-1F1F3AA2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D77942-A1F3-099B-3DC1-AAA91F7F6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435A91-272A-5843-B756-10A4E98F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D83A90-3E15-9E1C-08D1-4B84CC2C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961DF5-BC11-C37D-DC9C-23172E58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14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41A36-2D5E-1194-D60F-61D4442F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E7659-DD1E-7336-8EB2-74B418C20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A7FFD2-42B5-DCC7-F1E3-760D0049E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C120D3-66EA-2FDE-E821-FF90D0A2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C88452-3C29-4995-3005-DB5E059C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FEEEBF-A47E-49C8-0F53-EF0FD915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10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273A8-78F9-D6A0-CEA1-033E0F68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EC4F3A-07C6-F762-FC5D-D1F97E2A6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D3E63C-11A7-F197-43AB-0A6D16FC2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2A0739-FA20-BA15-5305-CAB70A746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213AF49-4D0D-D480-FA57-B6913F5E4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AC164B-D20F-1A44-0B98-0CED11D8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0FBC5C-35BC-D9F4-D13A-99005EB4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9CC17C-F519-2697-6F16-14C95591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274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BB9AB-D1F7-395E-30EC-446648C0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1D3F21-9405-407D-A183-1212C102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9EF01F-774C-12EF-25CD-363DDE20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8514C9-89E2-3DB3-7922-240921C7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370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26FD62-EA59-9264-8DC8-24BCA5AE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D533DA-EA22-41FE-1D2D-8DB10902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027F18-2F33-D7C9-D1EF-70BFF90A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3650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74B4B-1849-8E2F-BAF7-F113F9B8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BF7A55-03F4-E288-3DE0-D6C76C89A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51AB96-15CE-9393-338A-AB70FA650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A998D3-2948-7ECA-F1DD-99F2A589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59A358-063C-7733-E95A-8D93BB295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AEEA81-14E3-2351-286B-7AE3F18C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813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ED2D0-DE35-3F12-3611-1F3D427E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1D80F1D-5498-FEC6-32B0-12A6DDFD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C54779-1F41-E7DD-B189-C3D8FC7B9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3692AF-B72F-4F19-21E6-46C19B5C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4DC4AA-4916-7BCD-E238-1A77693F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7F8961-299E-B483-90B7-3A2C6043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438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AE3D1-AB01-29DC-9ABD-2D6424CD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92AF57-9C4A-C448-BCBE-4A589CAA6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89F92C-C476-9D08-0B40-B76F96EB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55D9E2-9292-0CB7-0689-FB631EC1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AD346E-3F7C-E4E1-94F7-91650289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583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A622422-9E5B-2A01-DBE0-D264B4BF9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0BA964-937C-FFEC-6803-1CF80E362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7C951B-A43F-CA62-2820-D86A5A4E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E911E3-AD22-D113-B5FA-DF06A579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C52C64-880C-EB7F-B4E3-9F873E28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012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8597278-0DB1-94C2-ECB3-C5FEEBCE3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385C96-B09C-3997-3B89-AE4727B60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6134BB-C0E9-3AF4-4AAD-2035AD695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98120-A03B-421F-8E42-0D275B84E880}" type="datetimeFigureOut">
              <a:rPr lang="es-AR" smtClean="0"/>
              <a:t>9/12/2025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3E1F14-77DD-A1ED-C368-C64A97C5D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9E8B2D-0D00-11C1-0352-65040861A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490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6945940-8F90-211F-DD3B-E222254B6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422400"/>
            <a:ext cx="4505552" cy="2387600"/>
          </a:xfrm>
        </p:spPr>
        <p:txBody>
          <a:bodyPr>
            <a:normAutofit/>
          </a:bodyPr>
          <a:lstStyle/>
          <a:p>
            <a:pPr algn="l"/>
            <a:r>
              <a:rPr lang="fr-FR" sz="4300">
                <a:solidFill>
                  <a:schemeClr val="bg1"/>
                </a:solidFill>
              </a:rPr>
              <a:t>Solution d’estimation de prix avec IA pour Pluo</a:t>
            </a:r>
            <a:endParaRPr lang="es-AR" sz="4300">
              <a:solidFill>
                <a:schemeClr val="bg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277405F-0B4F-4418-B773-1B3881412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0421" y="226893"/>
            <a:ext cx="5968658" cy="6085007"/>
          </a:xfrm>
          <a:custGeom>
            <a:avLst/>
            <a:gdLst>
              <a:gd name="connsiteX0" fmla="*/ 0 w 5968658"/>
              <a:gd name="connsiteY0" fmla="*/ 0 h 6085007"/>
              <a:gd name="connsiteX1" fmla="*/ 3557919 w 5968658"/>
              <a:gd name="connsiteY1" fmla="*/ 0 h 6085007"/>
              <a:gd name="connsiteX2" fmla="*/ 3557919 w 5968658"/>
              <a:gd name="connsiteY2" fmla="*/ 2195749 h 6085007"/>
              <a:gd name="connsiteX3" fmla="*/ 5968658 w 5968658"/>
              <a:gd name="connsiteY3" fmla="*/ 2195749 h 6085007"/>
              <a:gd name="connsiteX4" fmla="*/ 5968658 w 5968658"/>
              <a:gd name="connsiteY4" fmla="*/ 6085007 h 6085007"/>
              <a:gd name="connsiteX5" fmla="*/ 2058230 w 5968658"/>
              <a:gd name="connsiteY5" fmla="*/ 6085007 h 6085007"/>
              <a:gd name="connsiteX6" fmla="*/ 2058230 w 5968658"/>
              <a:gd name="connsiteY6" fmla="*/ 3538657 h 6085007"/>
              <a:gd name="connsiteX7" fmla="*/ 0 w 5968658"/>
              <a:gd name="connsiteY7" fmla="*/ 3538657 h 6085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8658" h="6085007">
                <a:moveTo>
                  <a:pt x="0" y="0"/>
                </a:moveTo>
                <a:lnTo>
                  <a:pt x="3557919" y="0"/>
                </a:lnTo>
                <a:lnTo>
                  <a:pt x="3557919" y="2195749"/>
                </a:lnTo>
                <a:lnTo>
                  <a:pt x="5968658" y="2195749"/>
                </a:lnTo>
                <a:lnTo>
                  <a:pt x="5968658" y="6085007"/>
                </a:lnTo>
                <a:lnTo>
                  <a:pt x="2058230" y="6085007"/>
                </a:lnTo>
                <a:lnTo>
                  <a:pt x="2058230" y="3538657"/>
                </a:lnTo>
                <a:lnTo>
                  <a:pt x="0" y="3538657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 4" descr="Une image contenant Police, logo, Graphique, cercle&#10;&#10;Le contenu généré par l’IA peut être incorrect.">
            <a:extLst>
              <a:ext uri="{FF2B5EF4-FFF2-40B4-BE49-F238E27FC236}">
                <a16:creationId xmlns:a16="http://schemas.microsoft.com/office/drawing/2014/main" id="{74B72717-064B-BA70-BD7A-6FE684F26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805" y="2663211"/>
            <a:ext cx="3408121" cy="340812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75BF81B-612D-C43E-429D-174212434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393" y="1258552"/>
            <a:ext cx="3105975" cy="147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9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18F347-98F0-2EA3-EB71-33E05013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fr-FR" b="1"/>
              <a:t>Objectif</a:t>
            </a:r>
            <a:endParaRPr lang="es-A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3B17BC-88EF-17BD-36F4-4C0A21121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fr-FR" sz="2000"/>
              <a:t>Automatiser une </a:t>
            </a:r>
            <a:r>
              <a:rPr lang="fr-FR" sz="2000" b="1"/>
              <a:t>première estimation de prix</a:t>
            </a:r>
            <a:r>
              <a:rPr lang="fr-FR" sz="2000"/>
              <a:t> à partir :</a:t>
            </a:r>
            <a:br>
              <a:rPr lang="fr-FR" sz="2000"/>
            </a:br>
            <a:r>
              <a:rPr lang="fr-FR" sz="2000"/>
              <a:t>-du modèle 3D Vectorworks</a:t>
            </a:r>
            <a:br>
              <a:rPr lang="fr-FR" sz="2000"/>
            </a:br>
            <a:r>
              <a:rPr lang="fr-FR" sz="2000"/>
              <a:t>-d’une image du meuble</a:t>
            </a:r>
            <a:br>
              <a:rPr lang="fr-FR" sz="2000"/>
            </a:br>
            <a:r>
              <a:rPr lang="fr-FR" sz="2000"/>
              <a:t>-des matériaux utilisés</a:t>
            </a:r>
            <a:br>
              <a:rPr lang="fr-FR" sz="2000"/>
            </a:br>
            <a:r>
              <a:rPr lang="fr-FR" sz="2000"/>
              <a:t>En s’appuyant sur un </a:t>
            </a:r>
            <a:r>
              <a:rPr lang="fr-FR" sz="2000" b="1"/>
              <a:t>LLM (Gemini)</a:t>
            </a:r>
            <a:endParaRPr lang="es-AR" sz="2000"/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CE9CAE86-1DD4-92E3-F79F-D0FD56BB5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193" y="467065"/>
            <a:ext cx="4031910" cy="55998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B483EF-07A5-4D10-E93C-87F48F0AF0C8}"/>
              </a:ext>
            </a:extLst>
          </p:cNvPr>
          <p:cNvSpPr/>
          <p:nvPr/>
        </p:nvSpPr>
        <p:spPr>
          <a:xfrm>
            <a:off x="7321492" y="5707100"/>
            <a:ext cx="977153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9705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C2CF4-9C9E-0AE0-07D4-821DC591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Étape 1 : Préparation dans </a:t>
            </a:r>
            <a:r>
              <a:rPr lang="fr-FR" b="1" dirty="0" err="1"/>
              <a:t>Vectorworks</a:t>
            </a:r>
            <a:endParaRPr lang="es-A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69139D-ACD7-DA3C-913F-D7CA99A9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Isoler la pièce</a:t>
            </a:r>
            <a:endParaRPr lang="fr-FR" dirty="0"/>
          </a:p>
          <a:p>
            <a:r>
              <a:rPr lang="fr-FR" b="1" dirty="0"/>
              <a:t>Export STL</a:t>
            </a:r>
            <a:endParaRPr lang="fr-FR" dirty="0"/>
          </a:p>
          <a:p>
            <a:r>
              <a:rPr lang="fr-FR" dirty="0"/>
              <a:t>Export de la pièce au format </a:t>
            </a:r>
            <a:r>
              <a:rPr lang="fr-FR" b="1" dirty="0"/>
              <a:t>STL</a:t>
            </a:r>
            <a:endParaRPr lang="fr-FR" dirty="0"/>
          </a:p>
          <a:p>
            <a:r>
              <a:rPr lang="fr-FR" dirty="0"/>
              <a:t>Ce fichier contient :</a:t>
            </a:r>
          </a:p>
          <a:p>
            <a:pPr lvl="1"/>
            <a:r>
              <a:rPr lang="fr-FR" dirty="0"/>
              <a:t>la géométrie 3D</a:t>
            </a:r>
          </a:p>
          <a:p>
            <a:pPr lvl="1"/>
            <a:r>
              <a:rPr lang="fr-FR" dirty="0"/>
              <a:t>le volume de la pièce (utile pour estimer matière, temps machine, etc.)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773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DEDDE-9DED-37E1-9349-816BE71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2 : Image et matériaux</a:t>
            </a:r>
            <a:endParaRPr lang="es-A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958871-EB92-F369-0E59-87289DFA9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err="1"/>
              <a:t>Image</a:t>
            </a:r>
            <a:r>
              <a:rPr lang="es-AR" dirty="0"/>
              <a:t> du </a:t>
            </a:r>
            <a:r>
              <a:rPr lang="es-AR" dirty="0" err="1"/>
              <a:t>meuble</a:t>
            </a:r>
            <a:endParaRPr lang="es-AR" dirty="0"/>
          </a:p>
          <a:p>
            <a:pPr lvl="1"/>
            <a:r>
              <a:rPr lang="fr-FR" dirty="0"/>
              <a:t>Permet au LLM de comprendre :</a:t>
            </a:r>
          </a:p>
          <a:p>
            <a:pPr lvl="1"/>
            <a:r>
              <a:rPr lang="fr-FR" dirty="0"/>
              <a:t>le type d’objet</a:t>
            </a:r>
          </a:p>
          <a:p>
            <a:pPr lvl="1"/>
            <a:r>
              <a:rPr lang="fr-FR" dirty="0"/>
              <a:t>le niveau de finition</a:t>
            </a:r>
          </a:p>
          <a:p>
            <a:pPr lvl="1"/>
            <a:r>
              <a:rPr lang="fr-FR" dirty="0"/>
              <a:t>le contexte d’utilisation</a:t>
            </a:r>
          </a:p>
          <a:p>
            <a:r>
              <a:rPr lang="es-AR" dirty="0" err="1"/>
              <a:t>Matériaux</a:t>
            </a:r>
            <a:r>
              <a:rPr lang="es-AR" dirty="0"/>
              <a:t> </a:t>
            </a:r>
            <a:r>
              <a:rPr lang="es-AR" dirty="0" err="1"/>
              <a:t>utilisés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4284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E92D83-42A4-0D83-4B6B-105F6E559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3 : Appel au LLM (Gemini)</a:t>
            </a:r>
            <a:endParaRPr lang="es-A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46C37E-D4FF-D8EF-AD88-8A2E9AD36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Entrées fournies à Gemini</a:t>
            </a:r>
            <a:endParaRPr lang="fr-FR" dirty="0"/>
          </a:p>
          <a:p>
            <a:pPr lvl="1"/>
            <a:r>
              <a:rPr lang="fr-FR" dirty="0"/>
              <a:t>Fichier </a:t>
            </a:r>
            <a:r>
              <a:rPr lang="fr-FR" b="1" dirty="0"/>
              <a:t>STL</a:t>
            </a:r>
            <a:r>
              <a:rPr lang="fr-FR" dirty="0"/>
              <a:t> de la pièce</a:t>
            </a:r>
          </a:p>
          <a:p>
            <a:pPr lvl="1"/>
            <a:r>
              <a:rPr lang="fr-FR" b="1" dirty="0"/>
              <a:t>Image</a:t>
            </a:r>
            <a:r>
              <a:rPr lang="fr-FR" dirty="0"/>
              <a:t> du meuble</a:t>
            </a:r>
          </a:p>
          <a:p>
            <a:pPr lvl="1"/>
            <a:r>
              <a:rPr lang="fr-FR" b="1" dirty="0"/>
              <a:t>Liste des matériaux</a:t>
            </a:r>
            <a:r>
              <a:rPr lang="fr-FR" dirty="0"/>
              <a:t> </a:t>
            </a:r>
          </a:p>
          <a:p>
            <a:r>
              <a:rPr lang="fr-FR" b="1" dirty="0"/>
              <a:t>Rôle du LLM</a:t>
            </a:r>
            <a:endParaRPr lang="fr-FR" dirty="0"/>
          </a:p>
          <a:p>
            <a:pPr lvl="1"/>
            <a:r>
              <a:rPr lang="fr-FR" dirty="0"/>
              <a:t>Interpréter la géométrie, l’apparence et les matériaux</a:t>
            </a:r>
          </a:p>
          <a:p>
            <a:pPr lvl="1"/>
            <a:r>
              <a:rPr lang="fr-FR" dirty="0"/>
              <a:t>S’inspirer de références de prix dans la même gamme</a:t>
            </a:r>
          </a:p>
          <a:p>
            <a:pPr lvl="1"/>
            <a:r>
              <a:rPr lang="fr-FR" dirty="0"/>
              <a:t>Fournir </a:t>
            </a:r>
            <a:r>
              <a:rPr lang="fr-FR" b="1" dirty="0"/>
              <a:t>plusieurs estimations de prix</a:t>
            </a:r>
            <a:r>
              <a:rPr lang="fr-FR" dirty="0"/>
              <a:t> pour la pièce ou le meuble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8056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B23D79-AC24-65D4-FEC1-10387E8B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Resultat</a:t>
            </a:r>
            <a:r>
              <a:rPr lang="fr-FR" dirty="0"/>
              <a:t>: </a:t>
            </a:r>
            <a:endParaRPr lang="es-A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873E2-A88F-6CA7-06E7-FDFD8E2DA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la Gondole:</a:t>
            </a:r>
          </a:p>
          <a:p>
            <a:pPr lvl="1"/>
            <a:r>
              <a:rPr lang="fr-FR" dirty="0"/>
              <a:t>prix estimer par </a:t>
            </a:r>
            <a:r>
              <a:rPr lang="fr-FR" dirty="0" err="1"/>
              <a:t>Pluo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Prix estimer par Gemini : </a:t>
            </a:r>
          </a:p>
          <a:p>
            <a:pPr lvl="1"/>
            <a:endParaRPr lang="fr-FR" dirty="0"/>
          </a:p>
          <a:p>
            <a:pPr marL="457200" lvl="1" indent="0">
              <a:buNone/>
            </a:pPr>
            <a:r>
              <a:rPr lang="fr-FR" dirty="0"/>
              <a:t>Temps de </a:t>
            </a:r>
            <a:r>
              <a:rPr lang="fr-FR" dirty="0" err="1"/>
              <a:t>processe</a:t>
            </a:r>
            <a:r>
              <a:rPr lang="fr-FR" dirty="0"/>
              <a:t> environ 10 min sans </a:t>
            </a:r>
            <a:r>
              <a:rPr lang="fr-FR" dirty="0" err="1"/>
              <a:t>surcoup</a:t>
            </a:r>
            <a:r>
              <a:rPr lang="fr-FR" dirty="0"/>
              <a:t> </a:t>
            </a:r>
            <a:r>
              <a:rPr lang="fr-FR" dirty="0" err="1"/>
              <a:t>possibelement</a:t>
            </a:r>
            <a:r>
              <a:rPr lang="fr-FR" dirty="0"/>
              <a:t> 2 voir 3 fois moins avec un abonnement.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34647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201</Words>
  <Application>Microsoft Office PowerPoint</Application>
  <PresentationFormat>Grand écran</PresentationFormat>
  <Paragraphs>32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Solution d’estimation de prix avec IA pour Pluo</vt:lpstr>
      <vt:lpstr>Objectif</vt:lpstr>
      <vt:lpstr>Étape 1 : Préparation dans Vectorworks</vt:lpstr>
      <vt:lpstr>Étape 2 : Image et matériaux</vt:lpstr>
      <vt:lpstr>Étape 3 : Appel au LLM (Gemini)</vt:lpstr>
      <vt:lpstr>Resultat: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MOUGNE Robin</dc:creator>
  <cp:lastModifiedBy>MOUGNE Robin</cp:lastModifiedBy>
  <cp:revision>2</cp:revision>
  <dcterms:created xsi:type="dcterms:W3CDTF">2025-12-09T08:13:54Z</dcterms:created>
  <dcterms:modified xsi:type="dcterms:W3CDTF">2025-12-09T15:36:33Z</dcterms:modified>
</cp:coreProperties>
</file>