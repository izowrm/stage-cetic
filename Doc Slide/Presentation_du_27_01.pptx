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305" r:id="rId2"/>
    <p:sldId id="301" r:id="rId3"/>
    <p:sldId id="303" r:id="rId4"/>
    <p:sldId id="302" r:id="rId5"/>
    <p:sldId id="265" r:id="rId6"/>
    <p:sldId id="264" r:id="rId7"/>
    <p:sldId id="304" r:id="rId8"/>
    <p:sldId id="266" r:id="rId9"/>
    <p:sldId id="267" r:id="rId10"/>
    <p:sldId id="271" r:id="rId11"/>
    <p:sldId id="270" r:id="rId12"/>
    <p:sldId id="269" r:id="rId13"/>
    <p:sldId id="272" r:id="rId14"/>
    <p:sldId id="275" r:id="rId15"/>
    <p:sldId id="314" r:id="rId16"/>
    <p:sldId id="315" r:id="rId17"/>
    <p:sldId id="276" r:id="rId18"/>
    <p:sldId id="316" r:id="rId19"/>
    <p:sldId id="319" r:id="rId20"/>
    <p:sldId id="317" r:id="rId21"/>
    <p:sldId id="279" r:id="rId22"/>
    <p:sldId id="318" r:id="rId23"/>
    <p:sldId id="320" r:id="rId24"/>
    <p:sldId id="259" r:id="rId25"/>
    <p:sldId id="299" r:id="rId26"/>
    <p:sldId id="258" r:id="rId27"/>
    <p:sldId id="281" r:id="rId28"/>
    <p:sldId id="308" r:id="rId29"/>
    <p:sldId id="309" r:id="rId30"/>
    <p:sldId id="310" r:id="rId31"/>
    <p:sldId id="311" r:id="rId32"/>
    <p:sldId id="300" r:id="rId3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562" autoAdjust="0"/>
  </p:normalViewPr>
  <p:slideViewPr>
    <p:cSldViewPr snapToGrid="0">
      <p:cViewPr varScale="1">
        <p:scale>
          <a:sx n="96" d="100"/>
          <a:sy n="96" d="100"/>
        </p:scale>
        <p:origin x="1092" y="78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 dirty="0"/>
            <a:t>Fusion</a:t>
          </a:r>
          <a:r>
            <a:rPr lang="fr-FR" dirty="0"/>
            <a:t> </a:t>
          </a:r>
          <a:endParaRPr lang="en-US" dirty="0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 dirty="0" err="1"/>
            <a:t>Early</a:t>
          </a:r>
          <a:r>
            <a:rPr lang="fr-FR" dirty="0"/>
            <a:t> fusion</a:t>
          </a:r>
          <a:endParaRPr lang="en-US" dirty="0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 dirty="0" err="1"/>
            <a:t>Late</a:t>
          </a:r>
          <a:r>
            <a:rPr lang="fr-FR" dirty="0"/>
            <a:t> fusion</a:t>
          </a:r>
          <a:endParaRPr lang="en-US" dirty="0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Fusion</a:t>
          </a:r>
          <a:r>
            <a:rPr lang="fr-FR" sz="2000" kern="1200" dirty="0"/>
            <a:t> </a:t>
          </a:r>
          <a:endParaRPr lang="en-US" sz="2000" kern="1200" dirty="0"/>
        </a:p>
      </dsp:txBody>
      <dsp:txXfrm>
        <a:off x="333914" y="2049612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49612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49612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49612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4961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Early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Late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19/01/2026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204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51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  <a:p>
            <a:r>
              <a:rPr lang="fr-FR" dirty="0"/>
              <a:t>Exemple:</a:t>
            </a:r>
          </a:p>
          <a:p>
            <a:r>
              <a:rPr lang="fr-FR" dirty="0"/>
              <a:t>Chat-GPT de la génération d’image avec des modalité textes et image </a:t>
            </a:r>
          </a:p>
          <a:p>
            <a:r>
              <a:rPr lang="fr-FR" dirty="0"/>
              <a:t>Spécifier une question à  l’aide d’une image et  d’un texte -&gt; de quel  couleurs /où se trouve ? </a:t>
            </a:r>
          </a:p>
          <a:p>
            <a:endParaRPr lang="fr-FR" dirty="0"/>
          </a:p>
          <a:p>
            <a:r>
              <a:rPr lang="fr-FR" dirty="0"/>
              <a:t>Pour de l’identification d’une plante  fournir une photo + l’</a:t>
            </a:r>
            <a:r>
              <a:rPr lang="fr-FR" dirty="0" err="1"/>
              <a:t>endroie</a:t>
            </a:r>
            <a:r>
              <a:rPr lang="fr-FR" dirty="0"/>
              <a:t> et la date de la photo  en textuel  possibilité d’enlevé des ambiguïté :</a:t>
            </a:r>
          </a:p>
          <a:p>
            <a:r>
              <a:rPr lang="fr-FR" b="1" dirty="0"/>
              <a:t>Aloe </a:t>
            </a:r>
            <a:r>
              <a:rPr lang="fr-FR" b="1" dirty="0" err="1"/>
              <a:t>vera</a:t>
            </a:r>
            <a:r>
              <a:rPr lang="fr-FR" dirty="0"/>
              <a:t> : Afrique et péninsule arabique</a:t>
            </a:r>
          </a:p>
          <a:p>
            <a:r>
              <a:rPr lang="fr-FR" b="1" dirty="0"/>
              <a:t>Agave</a:t>
            </a:r>
            <a:r>
              <a:rPr lang="fr-FR" dirty="0"/>
              <a:t> : Amérique centrale et Mexique</a:t>
            </a:r>
          </a:p>
          <a:p>
            <a:endParaRPr lang="fr-FR" dirty="0"/>
          </a:p>
          <a:p>
            <a:r>
              <a:rPr lang="fr-FR" dirty="0"/>
              <a:t>Donne l’exemple des IA </a:t>
            </a:r>
            <a:r>
              <a:rPr lang="fr-FR" dirty="0" err="1"/>
              <a:t>generatives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5703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BB98-C514-87F7-4A61-4F586157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5595E7-5E40-EB12-F51A-113C991E8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BCF12F-4FE4-6EED-FE4B-B29944FE9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Chargement</a:t>
            </a:r>
            <a:endParaRPr lang="fr-FR" dirty="0"/>
          </a:p>
          <a:p>
            <a:r>
              <a:rPr lang="fr-FR" dirty="0"/>
              <a:t>Lecture du fichier (JPEG/PNG) → image en mémoire.</a:t>
            </a:r>
          </a:p>
          <a:p>
            <a:r>
              <a:rPr lang="fr-FR" b="1" dirty="0" err="1"/>
              <a:t>Préprocessing</a:t>
            </a:r>
            <a:endParaRPr lang="fr-FR" dirty="0"/>
          </a:p>
          <a:p>
            <a:r>
              <a:rPr lang="fr-FR" b="1" dirty="0"/>
              <a:t>Redimensionnement</a:t>
            </a:r>
            <a:r>
              <a:rPr lang="fr-FR" dirty="0"/>
              <a:t> vers une taille fixe (ex. 224×224).</a:t>
            </a:r>
          </a:p>
          <a:p>
            <a:r>
              <a:rPr lang="fr-FR" b="1" dirty="0"/>
              <a:t>Conversion en tenseur</a:t>
            </a:r>
            <a:r>
              <a:rPr lang="fr-FR" dirty="0"/>
              <a:t> (souvent H×W×C → C×H×W).</a:t>
            </a:r>
          </a:p>
          <a:p>
            <a:r>
              <a:rPr lang="fr-FR" b="1" dirty="0"/>
              <a:t>Mise à l’échelle / normalisation</a:t>
            </a:r>
            <a:r>
              <a:rPr lang="fr-FR" dirty="0"/>
              <a:t> des pixels (ex. [0,255] → [0,1], puis éventuellement (x−mean)/std).</a:t>
            </a:r>
          </a:p>
          <a:p>
            <a:r>
              <a:rPr lang="fr-FR" dirty="0"/>
              <a:t>(En entraînement) </a:t>
            </a:r>
            <a:r>
              <a:rPr lang="fr-FR" b="1" dirty="0"/>
              <a:t>augmentations</a:t>
            </a:r>
            <a:r>
              <a:rPr lang="fr-FR" dirty="0"/>
              <a:t> : flip, </a:t>
            </a:r>
            <a:r>
              <a:rPr lang="fr-FR" dirty="0" err="1"/>
              <a:t>crop</a:t>
            </a:r>
            <a:r>
              <a:rPr lang="fr-FR" dirty="0"/>
              <a:t>, rotation légère, </a:t>
            </a:r>
            <a:r>
              <a:rPr lang="fr-FR" dirty="0" err="1"/>
              <a:t>jitter</a:t>
            </a:r>
            <a:r>
              <a:rPr lang="fr-FR" dirty="0"/>
              <a:t> couleur, etc.</a:t>
            </a:r>
          </a:p>
          <a:p>
            <a:r>
              <a:rPr lang="fr-FR" b="1" dirty="0"/>
              <a:t>Backbone CNN (extraction de features)</a:t>
            </a:r>
            <a:endParaRPr lang="fr-FR" dirty="0"/>
          </a:p>
          <a:p>
            <a:r>
              <a:rPr lang="fr-FR" dirty="0"/>
              <a:t>Suites de </a:t>
            </a:r>
            <a:r>
              <a:rPr lang="fr-FR" b="1" dirty="0"/>
              <a:t>convolutions + activation (</a:t>
            </a:r>
            <a:r>
              <a:rPr lang="fr-FR" b="1" dirty="0" err="1"/>
              <a:t>ReLU</a:t>
            </a:r>
            <a:r>
              <a:rPr lang="fr-FR" b="1" dirty="0"/>
              <a:t>) + (</a:t>
            </a:r>
            <a:r>
              <a:rPr lang="fr-FR" b="1" dirty="0" err="1"/>
              <a:t>BatchNorm</a:t>
            </a:r>
            <a:r>
              <a:rPr lang="fr-FR" b="1" dirty="0"/>
              <a:t>) + </a:t>
            </a:r>
            <a:r>
              <a:rPr lang="fr-FR" b="1" dirty="0" err="1"/>
              <a:t>pooling</a:t>
            </a:r>
            <a:r>
              <a:rPr lang="fr-FR" dirty="0"/>
              <a:t>.</a:t>
            </a:r>
          </a:p>
          <a:p>
            <a:r>
              <a:rPr lang="fr-FR" dirty="0"/>
              <a:t>L’image devient des </a:t>
            </a:r>
            <a:r>
              <a:rPr lang="fr-FR" b="1" dirty="0"/>
              <a:t>cartes de caractéristiques</a:t>
            </a:r>
            <a:r>
              <a:rPr lang="fr-FR" dirty="0"/>
              <a:t> de plus en plus abstraites, avec une résolution qui diminue et un nombre de canaux qui augmente.</a:t>
            </a:r>
          </a:p>
          <a:p>
            <a:r>
              <a:rPr lang="fr-FR" b="1" dirty="0"/>
              <a:t>Agrégation</a:t>
            </a:r>
            <a:endParaRPr lang="fr-FR" dirty="0"/>
          </a:p>
          <a:p>
            <a:r>
              <a:rPr lang="fr-FR" dirty="0"/>
              <a:t>Souvent </a:t>
            </a:r>
            <a:r>
              <a:rPr lang="fr-FR" b="1" dirty="0"/>
              <a:t>Global </a:t>
            </a:r>
            <a:r>
              <a:rPr lang="fr-FR" b="1" dirty="0" err="1"/>
              <a:t>Average</a:t>
            </a:r>
            <a:r>
              <a:rPr lang="fr-FR" b="1" dirty="0"/>
              <a:t> </a:t>
            </a:r>
            <a:r>
              <a:rPr lang="fr-FR" b="1" dirty="0" err="1"/>
              <a:t>Pooling</a:t>
            </a:r>
            <a:r>
              <a:rPr lang="fr-FR" dirty="0"/>
              <a:t> (ou </a:t>
            </a:r>
            <a:r>
              <a:rPr lang="fr-FR" dirty="0" err="1"/>
              <a:t>flatten</a:t>
            </a:r>
            <a:r>
              <a:rPr lang="fr-FR" dirty="0"/>
              <a:t>) pour passer des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maps</a:t>
            </a:r>
            <a:r>
              <a:rPr lang="fr-FR" dirty="0"/>
              <a:t> à un vecteur.</a:t>
            </a:r>
          </a:p>
          <a:p>
            <a:r>
              <a:rPr lang="fr-FR" b="1" dirty="0"/>
              <a:t>Head (prédiction)</a:t>
            </a:r>
            <a:endParaRPr lang="fr-FR" dirty="0"/>
          </a:p>
          <a:p>
            <a:r>
              <a:rPr lang="fr-FR" dirty="0"/>
              <a:t>Une ou quelques couches </a:t>
            </a:r>
            <a:r>
              <a:rPr lang="fr-FR" b="1" dirty="0" err="1"/>
              <a:t>fully-connected</a:t>
            </a:r>
            <a:r>
              <a:rPr lang="fr-FR" dirty="0"/>
              <a:t> (MLP) → sortie.</a:t>
            </a:r>
          </a:p>
          <a:p>
            <a:r>
              <a:rPr lang="fr-FR" b="1" dirty="0" err="1"/>
              <a:t>Softmax</a:t>
            </a:r>
            <a:r>
              <a:rPr lang="fr-FR" dirty="0"/>
              <a:t> (multi-classe) ou </a:t>
            </a:r>
            <a:r>
              <a:rPr lang="fr-FR" b="1" dirty="0" err="1"/>
              <a:t>sigmoid</a:t>
            </a:r>
            <a:r>
              <a:rPr lang="fr-FR" dirty="0"/>
              <a:t> (multi-label).</a:t>
            </a:r>
          </a:p>
          <a:p>
            <a:r>
              <a:rPr lang="fr-FR" b="1" dirty="0"/>
              <a:t>Post-traitement (selon la tâche)</a:t>
            </a:r>
            <a:endParaRPr lang="fr-FR" dirty="0"/>
          </a:p>
          <a:p>
            <a:r>
              <a:rPr lang="fr-FR" dirty="0"/>
              <a:t>Prendre la classe top-1/top-k, appliquer un seuil, etc.</a:t>
            </a:r>
          </a:p>
          <a:p>
            <a:r>
              <a:rPr lang="fr-FR" dirty="0"/>
              <a:t>En une ligne : </a:t>
            </a:r>
            <a:r>
              <a:rPr lang="fr-FR" b="1" dirty="0"/>
              <a:t>image → </a:t>
            </a:r>
            <a:r>
              <a:rPr lang="fr-FR" b="1" dirty="0" err="1"/>
              <a:t>preprocessing</a:t>
            </a:r>
            <a:r>
              <a:rPr lang="fr-FR" b="1" dirty="0"/>
              <a:t> → backbone (</a:t>
            </a:r>
            <a:r>
              <a:rPr lang="fr-FR" b="1" dirty="0" err="1"/>
              <a:t>conv</a:t>
            </a:r>
            <a:r>
              <a:rPr lang="fr-FR" b="1" dirty="0"/>
              <a:t>) → </a:t>
            </a:r>
            <a:r>
              <a:rPr lang="fr-FR" b="1" dirty="0" err="1"/>
              <a:t>pooling</a:t>
            </a:r>
            <a:r>
              <a:rPr lang="fr-FR" b="1" dirty="0"/>
              <a:t> → </a:t>
            </a:r>
            <a:r>
              <a:rPr lang="fr-FR" b="1" dirty="0" err="1"/>
              <a:t>head</a:t>
            </a:r>
            <a:r>
              <a:rPr lang="fr-FR" b="1" dirty="0"/>
              <a:t> (dense) → prédiction</a:t>
            </a:r>
            <a:r>
              <a:rPr lang="fr-FR" dirty="0"/>
              <a:t>.</a:t>
            </a:r>
          </a:p>
          <a:p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EDF5C2-335C-2295-9B98-9289FABD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49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015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 réduire d’hétérogénéité entres les modalités et crée un espace latent qui encode au mieux les différentes modalités 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  <a:p>
            <a:r>
              <a:rPr lang="fr-FR" dirty="0"/>
              <a:t>se concentre sur l’intégration et l’interprétation d’informations provenant de différentes modalités, telles que le texte, les images, l’audio ou la vidéo, en les projetant dans un espace latent partagé.</a:t>
            </a:r>
          </a:p>
          <a:p>
            <a:endParaRPr lang="fr-FR" dirty="0"/>
          </a:p>
          <a:p>
            <a:r>
              <a:rPr lang="fr-FR" dirty="0"/>
              <a:t>Joint AV</a:t>
            </a:r>
          </a:p>
          <a:p>
            <a:r>
              <a:rPr lang="fr-FR" dirty="0"/>
              <a:t>Joint DV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EB5E6-3029-5328-9A79-4C124B48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3DA0EEB-B5E2-FDC8-D918-A09603DA9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8F7D171-6F96-ACCA-9A3B-358E0B50B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A70840-1309-9423-CBE4-A3B4F9729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94433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47869-A6FC-E5C1-961C-88F0F5CD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F30968-2588-F639-78A6-3981A20933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9CB7A3D-EFFD-D4B4-D1D7-6B22FFD2A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423B981-5FEB-66BA-4A24-07658D130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76646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 des </a:t>
            </a:r>
            <a:r>
              <a:rPr lang="fr-FR" dirty="0" err="1"/>
              <a:t>embeding</a:t>
            </a:r>
            <a:r>
              <a:rPr lang="fr-FR" dirty="0"/>
              <a:t> pour donner l’exemple</a:t>
            </a:r>
          </a:p>
          <a:p>
            <a:endParaRPr lang="fr-FR" dirty="0"/>
          </a:p>
          <a:p>
            <a:r>
              <a:rPr lang="fr-FR" dirty="0"/>
              <a:t>C’est de passé d’une modalité à une autre de la traduire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0767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5031E-F60B-1EFA-FA16-35B30711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DAD2D7-C134-81E9-9AA6-3C89DEE40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01A943E-418E-DFB1-9484-41DDDBC9F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327BF71-3659-98F9-7300-49F2A8C84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1004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81D9-F3FD-59F9-BDE5-E8016B97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6C0367E-0D68-0C04-A573-C2A9FCEEE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3D386E3-52D1-9757-4A31-FE04DA03F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F91C89-0907-EA4F-321A-787A44373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842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possiblement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19/01/2026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19/01/2026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19/01/2026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19/01/2026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19/01/2026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19/01/2026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19/01/2026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ixc1mh55y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6D03FA7-3D73-F860-D803-F3FD4CEA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0DD1E2-9457-87AC-C4AE-42768AAB7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327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rrière-plan de carte de circuit imprimé">
            <a:extLst>
              <a:ext uri="{FF2B5EF4-FFF2-40B4-BE49-F238E27FC236}">
                <a16:creationId xmlns:a16="http://schemas.microsoft.com/office/drawing/2014/main" id="{40DA87CF-CC19-9877-2794-4F5A3A05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237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2B5EC8-D024-B2A3-AE7B-C5A7DCB34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/>
          </a:bodyPr>
          <a:lstStyle/>
          <a:p>
            <a:r>
              <a:rPr lang="fr-FR" sz="2000" dirty="0"/>
              <a:t>La multimodalité</a:t>
            </a:r>
          </a:p>
          <a:p>
            <a:r>
              <a:rPr lang="fr-FR" sz="2000" dirty="0"/>
              <a:t>La fusion</a:t>
            </a:r>
          </a:p>
          <a:p>
            <a:r>
              <a:rPr lang="fr-FR" sz="2000" dirty="0"/>
              <a:t>Data </a:t>
            </a:r>
            <a:r>
              <a:rPr lang="fr-FR" sz="2000" dirty="0" err="1"/>
              <a:t>Representation</a:t>
            </a:r>
            <a:endParaRPr lang="fr-FR" sz="2000" dirty="0"/>
          </a:p>
          <a:p>
            <a:r>
              <a:rPr lang="fr-FR" sz="2000" dirty="0"/>
              <a:t>Data Translation</a:t>
            </a:r>
          </a:p>
          <a:p>
            <a:r>
              <a:rPr lang="fr-FR" sz="2000" dirty="0"/>
              <a:t>Data </a:t>
            </a:r>
            <a:r>
              <a:rPr lang="fr-FR" sz="2000" dirty="0" err="1"/>
              <a:t>Alignment</a:t>
            </a:r>
            <a:endParaRPr lang="fr-FR" sz="2000" dirty="0"/>
          </a:p>
          <a:p>
            <a:r>
              <a:rPr lang="fr-FR" sz="2000" dirty="0"/>
              <a:t>Le </a:t>
            </a:r>
            <a:r>
              <a:rPr lang="fr-FR" sz="2000" dirty="0" err="1"/>
              <a:t>co-learning</a:t>
            </a:r>
            <a:endParaRPr lang="fr-FR" sz="2000" dirty="0"/>
          </a:p>
          <a:p>
            <a:r>
              <a:rPr lang="fr-FR" sz="2000" dirty="0"/>
              <a:t>Domaines d’applications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2A657-B0EB-5916-15EB-E333F72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/>
              <a:pPr>
                <a:spcAft>
                  <a:spcPts val="600"/>
                </a:spcAft>
              </a:pPr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997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6FB3C81-96AF-73E6-EE64-FCCBD7DD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Modalité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F4045D-A3E7-7974-A8E0-3EF85881D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Une modalité est un type de donnée utilisé pour représenter une information.</a:t>
            </a:r>
          </a:p>
          <a:p>
            <a:r>
              <a:rPr lang="fr-FR" sz="2000" dirty="0"/>
              <a:t>Les type de formats :</a:t>
            </a:r>
          </a:p>
          <a:p>
            <a:pPr lvl="1"/>
            <a:r>
              <a:rPr lang="fr-FR" sz="2000" dirty="0"/>
              <a:t>Image</a:t>
            </a:r>
          </a:p>
          <a:p>
            <a:pPr lvl="1"/>
            <a:r>
              <a:rPr lang="fr-FR" sz="2000" dirty="0"/>
              <a:t>Textuel</a:t>
            </a:r>
          </a:p>
          <a:p>
            <a:pPr lvl="1"/>
            <a:r>
              <a:rPr lang="fr-FR" sz="2000" dirty="0"/>
              <a:t>Audio</a:t>
            </a:r>
          </a:p>
          <a:p>
            <a:pPr lvl="1"/>
            <a:r>
              <a:rPr lang="fr-FR" sz="2000" dirty="0"/>
              <a:t>Vidéo</a:t>
            </a:r>
          </a:p>
          <a:p>
            <a:pPr lvl="1"/>
            <a:r>
              <a:rPr lang="fr-FR" sz="2000" dirty="0"/>
              <a:t>…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6C1FF8-E2CC-C7BD-9A78-D6520AF6B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37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9C1425A-61FE-9953-C009-595773A3BC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0" b="8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53D618-21D5-B52D-6309-A7835837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La multimodalité: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7D760F-65A3-B682-D2A8-D583AA6DB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FFFFFF"/>
                </a:solidFill>
              </a:rPr>
              <a:pPr defTabSz="457200"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90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52703"/>
              </p:ext>
            </p:extLst>
          </p:nvPr>
        </p:nvGraphicFramePr>
        <p:xfrm>
          <a:off x="644056" y="2615979"/>
          <a:ext cx="10927829" cy="3739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CA16D-5769-48EF-CA4C-73F741A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8E2EEF1-A01C-8EFD-9DE0-E73F8FFB4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49E5A1-38A3-B04D-4025-5A2DB0135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C384252-5B83-F3BB-179D-53E730578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ED89E3-27EC-288E-7990-4131F037E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9A4C64-AB5F-42F9-2A44-7A5FD99E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 unimodal 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4B20A7-78C2-4A32-9AC5-27E03B20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  <p:pic>
        <p:nvPicPr>
          <p:cNvPr id="8" name="Image 7" descr="Une image contenant texte, chie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D7EC4CA-3865-B300-1EC3-969ECE0A2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491" y="3108783"/>
            <a:ext cx="9231013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03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326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  <p:pic>
        <p:nvPicPr>
          <p:cNvPr id="8" name="Image 7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A6D3E72-A02D-0855-21D5-47361B67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80" y="1905908"/>
            <a:ext cx="10288436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  <p:pic>
        <p:nvPicPr>
          <p:cNvPr id="4" name="Image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1829686-D7AD-BFFD-CEA6-367446A3E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807" y="1907554"/>
            <a:ext cx="972638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  <p:pic>
        <p:nvPicPr>
          <p:cNvPr id="4" name="Image 3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4AF1D286-4F87-3E48-4462-AFDDD9E94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91" y="1822348"/>
            <a:ext cx="9231013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18BF3DFB-6C59-F2D6-B1DC-9001D6C9F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123" y="182234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Representation: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r>
              <a:rPr lang="fr-FR" dirty="0"/>
              <a:t> </a:t>
            </a:r>
          </a:p>
          <a:p>
            <a:pPr marL="0" indent="0">
              <a:buNone/>
            </a:pPr>
            <a:r>
              <a:rPr lang="en-US" sz="2000" b="1" dirty="0"/>
              <a:t>Joint Representation:</a:t>
            </a:r>
          </a:p>
          <a:p>
            <a:pPr lvl="1"/>
            <a:r>
              <a:rPr lang="fr-FR" sz="2000" dirty="0"/>
              <a:t>Les modalités sont fusionnées pour produire une représentation unique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Coordinated Representation:</a:t>
            </a:r>
          </a:p>
          <a:p>
            <a:pPr lvl="1"/>
            <a:r>
              <a:rPr lang="fr-FR" sz="2100" dirty="0"/>
              <a:t>Chaque modalité conserve sa propre représentation</a:t>
            </a:r>
            <a:r>
              <a:rPr lang="fr-FR" dirty="0"/>
              <a:t>, </a:t>
            </a:r>
            <a:r>
              <a:rPr lang="fr-FR" sz="2100" dirty="0"/>
              <a:t>mais ces représentations sont alignées grâce à des contraintes d’apprentissage.</a:t>
            </a:r>
            <a:endParaRPr lang="en-US" sz="21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  <p:pic>
        <p:nvPicPr>
          <p:cNvPr id="9" name="Image 8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5AC5A39-8449-AFC0-DC3C-F0FBB16DC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239" y="2241055"/>
            <a:ext cx="5703902" cy="23758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9DC746-F57F-1224-B208-A785154FC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9F3952C-2089-82FC-DBAD-49FA3A50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93C838D-FC72-6A58-4B73-21832A954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2A7E06-CABB-8D9C-5788-D6D220BCD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4266A6-2818-1791-89D2-301AE38A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8F1DC40-E215-3969-98BB-75EE44D8C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Coordinated Representation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FB51000-AB07-24B5-BE77-4B3A1C2A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15</a:t>
            </a:fld>
            <a:endParaRPr lang="fr-FR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8C759CA9-CA37-603D-BD57-546CA534CE70}"/>
              </a:ext>
            </a:extLst>
          </p:cNvPr>
          <p:cNvSpPr txBox="1">
            <a:spLocks/>
          </p:cNvSpPr>
          <p:nvPr/>
        </p:nvSpPr>
        <p:spPr>
          <a:xfrm>
            <a:off x="836612" y="1681163"/>
            <a:ext cx="5157787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/>
              <a:t>Avantages</a:t>
            </a:r>
            <a:r>
              <a:rPr lang="en-US" dirty="0"/>
              <a:t>:</a:t>
            </a:r>
          </a:p>
        </p:txBody>
      </p:sp>
      <p:sp>
        <p:nvSpPr>
          <p:cNvPr id="8" name="Espace réservé du contenu 3">
            <a:extLst>
              <a:ext uri="{FF2B5EF4-FFF2-40B4-BE49-F238E27FC236}">
                <a16:creationId xmlns:a16="http://schemas.microsoft.com/office/drawing/2014/main" id="{3707EE75-31F9-D0C1-7F26-B36DA132C751}"/>
              </a:ext>
            </a:extLst>
          </p:cNvPr>
          <p:cNvSpPr txBox="1">
            <a:spLocks/>
          </p:cNvSpPr>
          <p:nvPr/>
        </p:nvSpPr>
        <p:spPr>
          <a:xfrm>
            <a:off x="836612" y="2505075"/>
            <a:ext cx="5157787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Garde une représentation par modalité, chaque modalité conserve ses informations propres.</a:t>
            </a:r>
          </a:p>
          <a:p>
            <a:r>
              <a:rPr lang="fr-FR" dirty="0"/>
              <a:t>Permet d’aligner les modalités via des contraintes</a:t>
            </a:r>
          </a:p>
          <a:p>
            <a:r>
              <a:rPr lang="fr-FR" dirty="0"/>
              <a:t>Très utile quand une seule modalité est disponible au test.</a:t>
            </a:r>
          </a:p>
          <a:p>
            <a:r>
              <a:rPr lang="fr-FR" dirty="0"/>
              <a:t>Favorise le transfert cross-modal.</a:t>
            </a:r>
          </a:p>
          <a:p>
            <a:endParaRPr lang="fr-FR" dirty="0"/>
          </a:p>
        </p:txBody>
      </p:sp>
      <p:sp>
        <p:nvSpPr>
          <p:cNvPr id="9" name="Espace réservé du texte 4">
            <a:extLst>
              <a:ext uri="{FF2B5EF4-FFF2-40B4-BE49-F238E27FC236}">
                <a16:creationId xmlns:a16="http://schemas.microsoft.com/office/drawing/2014/main" id="{5CB5BD66-2660-0195-AF46-E68337738AC9}"/>
              </a:ext>
            </a:extLst>
          </p:cNvPr>
          <p:cNvSpPr txBox="1">
            <a:spLocks/>
          </p:cNvSpPr>
          <p:nvPr/>
        </p:nvSpPr>
        <p:spPr>
          <a:xfrm>
            <a:off x="6169024" y="1681163"/>
            <a:ext cx="5183188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fr-FR" u="sng" dirty="0"/>
              <a:t>Désavantages</a:t>
            </a:r>
            <a:r>
              <a:rPr lang="fr-FR" dirty="0"/>
              <a:t>: 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B0A33E5A-8F75-AFA7-92D0-975FE7CFB8D3}"/>
              </a:ext>
            </a:extLst>
          </p:cNvPr>
          <p:cNvSpPr txBox="1">
            <a:spLocks/>
          </p:cNvSpPr>
          <p:nvPr/>
        </p:nvSpPr>
        <p:spPr>
          <a:xfrm>
            <a:off x="6172200" y="2505075"/>
            <a:ext cx="5183188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L’alignement peut être difficile à apprendre si les modalités sont très différentes ou bruitées.</a:t>
            </a:r>
          </a:p>
          <a:p>
            <a:r>
              <a:rPr lang="fr-FR"/>
              <a:t>La qualité dépend fortement de la contrainte choisie.</a:t>
            </a:r>
          </a:p>
          <a:p>
            <a:r>
              <a:rPr lang="fr-FR"/>
              <a:t>Peut-être moins efficace si l’objectif est une décision finale unique.</a:t>
            </a:r>
          </a:p>
          <a:p>
            <a:r>
              <a:rPr lang="fr-FR"/>
              <a:t>Devient plus complexe quand tu as beaucoup de modalités.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2387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E0936-7215-EDDB-04F9-F4A6D459B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C506E464-EE80-3B19-C248-BA137623B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F159EF-43B3-7B82-A469-12E933852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57E5336-A503-72FE-1A4F-0EF526202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C563BB5-E562-AFD7-A2E0-E706D2313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ECB27C2-5EFF-B9D0-34AB-E46AF1AB7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Joint Representation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533C1F-36E0-734E-E861-7F589986C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95DC18EE-AE51-4143-8E26-7E49E60060B4}"/>
              </a:ext>
            </a:extLst>
          </p:cNvPr>
          <p:cNvSpPr txBox="1">
            <a:spLocks/>
          </p:cNvSpPr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/>
              <a:t>Avantages</a:t>
            </a:r>
            <a:r>
              <a:rPr lang="en-US" dirty="0"/>
              <a:t>: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161EC5B2-756A-E2D0-0E49-C485453614D4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Produit un embedding unique, plus facile à exploiter pour une tâche finale.</a:t>
            </a:r>
          </a:p>
          <a:p>
            <a:r>
              <a:rPr lang="fr-FR"/>
              <a:t>Permet de capturer directement les interactions et la complémentarité entre modalités.</a:t>
            </a:r>
          </a:p>
          <a:p>
            <a:r>
              <a:rPr lang="fr-FR"/>
              <a:t>Souvent efficace quand toutes les modalités sont disponibles à l’entraînement et au test.</a:t>
            </a:r>
          </a:p>
          <a:p>
            <a:endParaRPr lang="fr-FR" dirty="0"/>
          </a:p>
        </p:txBody>
      </p:sp>
      <p:sp>
        <p:nvSpPr>
          <p:cNvPr id="14" name="Espace réservé du texte 4">
            <a:extLst>
              <a:ext uri="{FF2B5EF4-FFF2-40B4-BE49-F238E27FC236}">
                <a16:creationId xmlns:a16="http://schemas.microsoft.com/office/drawing/2014/main" id="{06A5DD05-E232-B61E-98C3-B26DBC51BE88}"/>
              </a:ext>
            </a:extLst>
          </p:cNvPr>
          <p:cNvSpPr txBox="1">
            <a:spLocks/>
          </p:cNvSpPr>
          <p:nvPr/>
        </p:nvSpPr>
        <p:spPr>
          <a:xfrm>
            <a:off x="6172200" y="1681163"/>
            <a:ext cx="5183188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u="sng" dirty="0"/>
              <a:t>Désavantages</a:t>
            </a:r>
            <a:r>
              <a:rPr lang="fr-FR" dirty="0"/>
              <a:t>: </a:t>
            </a:r>
          </a:p>
        </p:txBody>
      </p:sp>
      <p:sp>
        <p:nvSpPr>
          <p:cNvPr id="15" name="Espace réservé du contenu 5">
            <a:extLst>
              <a:ext uri="{FF2B5EF4-FFF2-40B4-BE49-F238E27FC236}">
                <a16:creationId xmlns:a16="http://schemas.microsoft.com/office/drawing/2014/main" id="{AE321B69-3DDE-7FA3-83C2-E2A4C98C039A}"/>
              </a:ext>
            </a:extLst>
          </p:cNvPr>
          <p:cNvSpPr txBox="1">
            <a:spLocks/>
          </p:cNvSpPr>
          <p:nvPr/>
        </p:nvSpPr>
        <p:spPr>
          <a:xfrm>
            <a:off x="6172200" y="2505075"/>
            <a:ext cx="5183188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Risque de perdre la spécificité de chaque modalité.</a:t>
            </a:r>
          </a:p>
          <a:p>
            <a:r>
              <a:rPr lang="fr-FR"/>
              <a:t>Plus sensible aux modalités manquantes.</a:t>
            </a:r>
          </a:p>
          <a:p>
            <a:r>
              <a:rPr lang="fr-FR"/>
              <a:t>La fusion peut introduire du bruit ou de la redondance si elle est mal contrôlée.</a:t>
            </a:r>
          </a:p>
          <a:p>
            <a:r>
              <a:rPr lang="fr-FR"/>
              <a:t>Peut nécessiter beaucoup de données pour apprendre une représentation commune stable.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2227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Translation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7F56C88-046F-D9E7-8BD4-4BA82279F704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effectLst/>
              </a:rPr>
              <a:t>En multimodal, la data translation </a:t>
            </a:r>
            <a:r>
              <a:rPr lang="en-US" sz="2000" dirty="0" err="1">
                <a:effectLst/>
              </a:rPr>
              <a:t>désigne</a:t>
            </a:r>
            <a:r>
              <a:rPr lang="en-US" sz="2000" dirty="0">
                <a:effectLst/>
              </a:rPr>
              <a:t> le fait de </a:t>
            </a:r>
            <a:r>
              <a:rPr lang="en-US" sz="2000" dirty="0" err="1">
                <a:effectLst/>
              </a:rPr>
              <a:t>convertire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une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modalité</a:t>
            </a:r>
            <a:r>
              <a:rPr lang="en-US" sz="2000" dirty="0">
                <a:effectLst/>
              </a:rPr>
              <a:t> vers </a:t>
            </a:r>
            <a:r>
              <a:rPr lang="en-US" sz="2000" dirty="0" err="1">
                <a:effectLst/>
              </a:rPr>
              <a:t>une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autre</a:t>
            </a:r>
            <a:r>
              <a:rPr lang="en-US" sz="2000" dirty="0"/>
              <a:t>, </a:t>
            </a:r>
            <a:r>
              <a:rPr lang="en-US" sz="2000" dirty="0" err="1">
                <a:effectLst/>
              </a:rPr>
              <a:t>ou</a:t>
            </a:r>
            <a:r>
              <a:rPr lang="en-US" sz="2000" dirty="0">
                <a:effectLst/>
              </a:rPr>
              <a:t> vers </a:t>
            </a:r>
            <a:r>
              <a:rPr lang="en-US" sz="2000" dirty="0" err="1">
                <a:effectLst/>
              </a:rPr>
              <a:t>une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représentation</a:t>
            </a:r>
            <a:r>
              <a:rPr lang="en-US" sz="2000" dirty="0">
                <a:effectLst/>
              </a:rPr>
              <a:t> commune, tout </a:t>
            </a:r>
            <a:r>
              <a:rPr lang="en-US" sz="2000" dirty="0" err="1">
                <a:effectLst/>
              </a:rPr>
              <a:t>en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conservant</a:t>
            </a:r>
            <a:r>
              <a:rPr lang="en-US" sz="2000" dirty="0">
                <a:effectLst/>
              </a:rPr>
              <a:t> au </a:t>
            </a:r>
            <a:r>
              <a:rPr lang="en-US" sz="2000" dirty="0" err="1">
                <a:effectLst/>
              </a:rPr>
              <a:t>mieux</a:t>
            </a:r>
            <a:r>
              <a:rPr lang="en-US" sz="2000" dirty="0">
                <a:effectLst/>
              </a:rPr>
              <a:t> le </a:t>
            </a:r>
            <a:r>
              <a:rPr lang="en-US" sz="2000" dirty="0" err="1">
                <a:effectLst/>
              </a:rPr>
              <a:t>sens</a:t>
            </a:r>
            <a:r>
              <a:rPr lang="en-US" sz="2000" dirty="0">
                <a:effectLst/>
              </a:rPr>
              <a:t>, la structure et les </a:t>
            </a:r>
            <a:r>
              <a:rPr lang="en-US" sz="2000" dirty="0" err="1">
                <a:effectLst/>
              </a:rPr>
              <a:t>contraintes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utiles</a:t>
            </a:r>
            <a:r>
              <a:rPr lang="en-US" sz="2000" dirty="0">
                <a:effectLst/>
              </a:rPr>
              <a:t> pour </a:t>
            </a:r>
            <a:r>
              <a:rPr lang="en-US" sz="2000" dirty="0"/>
              <a:t>le </a:t>
            </a:r>
            <a:r>
              <a:rPr lang="en-US" sz="2000" dirty="0" err="1"/>
              <a:t>modéle</a:t>
            </a:r>
            <a:r>
              <a:rPr lang="en-US" sz="2000" dirty="0">
                <a:effectLst/>
              </a:rPr>
              <a:t>. </a:t>
            </a:r>
            <a:endParaRPr lang="en-US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114078D-1DDF-AB97-041B-1AA6E3B17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Exemple de Translation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EB4FA1-5664-3F22-2B3F-2710D9993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dirty="0"/>
              <a:t>Exemples typiques :</a:t>
            </a:r>
          </a:p>
          <a:p>
            <a:pPr lvl="1"/>
            <a:r>
              <a:rPr lang="fr-FR" i="1" dirty="0"/>
              <a:t>Image → texte</a:t>
            </a:r>
            <a:r>
              <a:rPr lang="fr-FR" dirty="0"/>
              <a:t> : OCR + restructuration, </a:t>
            </a:r>
          </a:p>
          <a:p>
            <a:pPr lvl="1"/>
            <a:r>
              <a:rPr lang="fr-FR" i="1" dirty="0"/>
              <a:t>Audio → texte</a:t>
            </a:r>
            <a:r>
              <a:rPr lang="fr-FR" dirty="0"/>
              <a:t> : transcription</a:t>
            </a:r>
          </a:p>
          <a:p>
            <a:pPr lvl="1"/>
            <a:r>
              <a:rPr lang="fr-FR" i="1" dirty="0"/>
              <a:t>Vidéo → texte</a:t>
            </a:r>
            <a:r>
              <a:rPr lang="fr-FR" dirty="0"/>
              <a:t> : résumé / description d’actions</a:t>
            </a:r>
          </a:p>
          <a:p>
            <a:pPr lvl="1"/>
            <a:r>
              <a:rPr lang="fr-FR" i="1" dirty="0"/>
              <a:t>Texte → image</a:t>
            </a:r>
            <a:r>
              <a:rPr lang="fr-FR" dirty="0"/>
              <a:t> : génération</a:t>
            </a:r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FBD95A-5712-330E-7A4B-44A7E998A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6907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1B6286-E419-B031-5735-4630D84BB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Ajouter les forces et  les limites?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98A8DA-E65F-1C77-4B78-5F6F02BC5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B358792-C021-C34D-E399-BBFDDA9D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76408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F1E377C-B493-3EAC-F9A5-9B44BBB3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Data Alignment</a:t>
            </a:r>
            <a:endParaRPr lang="fr-F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62B3776-4373-575D-E746-1882F87EB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AR" sz="2000" dirty="0"/>
              <a:t>Le </a:t>
            </a:r>
            <a:r>
              <a:rPr lang="es-AR" sz="2000" i="1" dirty="0"/>
              <a:t>data </a:t>
            </a:r>
            <a:r>
              <a:rPr lang="es-AR" sz="2000" i="1"/>
              <a:t>alignment</a:t>
            </a:r>
            <a:r>
              <a:rPr lang="es-AR" sz="2000" dirty="0"/>
              <a:t> consiste à </a:t>
            </a:r>
            <a:r>
              <a:rPr lang="es-AR" sz="2000"/>
              <a:t>identifier</a:t>
            </a:r>
            <a:r>
              <a:rPr lang="es-AR" sz="2000" dirty="0"/>
              <a:t> et </a:t>
            </a:r>
            <a:r>
              <a:rPr lang="es-AR" sz="2000"/>
              <a:t>établir</a:t>
            </a:r>
            <a:r>
              <a:rPr lang="es-AR" sz="2000" dirty="0"/>
              <a:t> des </a:t>
            </a:r>
            <a:r>
              <a:rPr lang="es-AR" sz="2000"/>
              <a:t>correspondances</a:t>
            </a:r>
            <a:r>
              <a:rPr lang="es-AR" sz="2000" dirty="0"/>
              <a:t> entre des </a:t>
            </a:r>
            <a:r>
              <a:rPr lang="es-AR" sz="2000"/>
              <a:t>éléments</a:t>
            </a:r>
            <a:r>
              <a:rPr lang="es-AR" sz="2000" dirty="0"/>
              <a:t> </a:t>
            </a:r>
            <a:r>
              <a:rPr lang="es-AR" sz="2000"/>
              <a:t>issus</a:t>
            </a:r>
            <a:r>
              <a:rPr lang="es-AR" sz="2000" dirty="0"/>
              <a:t> de </a:t>
            </a:r>
            <a:r>
              <a:rPr lang="es-AR" sz="2000"/>
              <a:t>différentes</a:t>
            </a:r>
            <a:r>
              <a:rPr lang="es-AR" sz="2000" dirty="0"/>
              <a:t> </a:t>
            </a:r>
            <a:r>
              <a:rPr lang="es-AR" sz="2000"/>
              <a:t>modalités</a:t>
            </a:r>
            <a:r>
              <a:rPr lang="es-AR" sz="2000" dirty="0"/>
              <a:t>. </a:t>
            </a:r>
            <a:r>
              <a:rPr lang="es-AR" sz="2000"/>
              <a:t>Il</a:t>
            </a:r>
            <a:r>
              <a:rPr lang="es-AR" sz="2000" dirty="0"/>
              <a:t> vise à </a:t>
            </a:r>
            <a:r>
              <a:rPr lang="es-AR" sz="2000"/>
              <a:t>aligner</a:t>
            </a:r>
            <a:r>
              <a:rPr lang="es-AR" sz="2000" dirty="0"/>
              <a:t> ces </a:t>
            </a:r>
            <a:r>
              <a:rPr lang="es-AR" sz="2000"/>
              <a:t>informations</a:t>
            </a:r>
            <a:r>
              <a:rPr lang="es-AR" sz="2000" dirty="0"/>
              <a:t> </a:t>
            </a:r>
            <a:r>
              <a:rPr lang="es-AR" sz="2000"/>
              <a:t>dans</a:t>
            </a:r>
            <a:r>
              <a:rPr lang="es-AR" sz="2000" dirty="0"/>
              <a:t> le </a:t>
            </a:r>
            <a:r>
              <a:rPr lang="es-AR" sz="2000"/>
              <a:t>temps</a:t>
            </a:r>
            <a:r>
              <a:rPr lang="es-AR" sz="2000" dirty="0"/>
              <a:t> et </a:t>
            </a:r>
            <a:r>
              <a:rPr lang="es-AR" sz="2000"/>
              <a:t>ou</a:t>
            </a:r>
            <a:r>
              <a:rPr lang="es-AR" sz="2000" dirty="0"/>
              <a:t> </a:t>
            </a:r>
            <a:r>
              <a:rPr lang="es-AR" sz="2000"/>
              <a:t>dans</a:t>
            </a:r>
            <a:r>
              <a:rPr lang="es-AR" sz="2000" dirty="0"/>
              <a:t> </a:t>
            </a:r>
            <a:r>
              <a:rPr lang="es-AR" sz="2000"/>
              <a:t>l’espace</a:t>
            </a:r>
            <a:r>
              <a:rPr lang="es-AR" sz="2000" dirty="0"/>
              <a:t>, </a:t>
            </a:r>
            <a:r>
              <a:rPr lang="es-AR" sz="2000"/>
              <a:t>afin</a:t>
            </a:r>
            <a:r>
              <a:rPr lang="es-AR" sz="2000" dirty="0"/>
              <a:t> de garantir une mise en </a:t>
            </a:r>
            <a:r>
              <a:rPr lang="es-AR" sz="2000"/>
              <a:t>relation</a:t>
            </a:r>
            <a:r>
              <a:rPr lang="es-AR" sz="2000" dirty="0"/>
              <a:t> </a:t>
            </a:r>
            <a:r>
              <a:rPr lang="es-AR" sz="2000"/>
              <a:t>cohérente</a:t>
            </a:r>
            <a:r>
              <a:rPr lang="es-AR" sz="2000" dirty="0"/>
              <a:t> et un </a:t>
            </a:r>
            <a:r>
              <a:rPr lang="es-AR" sz="2000"/>
              <a:t>partage</a:t>
            </a:r>
            <a:r>
              <a:rPr lang="es-AR" sz="2000" dirty="0"/>
              <a:t> </a:t>
            </a:r>
            <a:r>
              <a:rPr lang="es-AR" sz="2000"/>
              <a:t>pertinent</a:t>
            </a:r>
            <a:r>
              <a:rPr lang="es-AR" sz="2000" dirty="0"/>
              <a:t> de </a:t>
            </a:r>
            <a:r>
              <a:rPr lang="es-AR" sz="2000"/>
              <a:t>l’information</a:t>
            </a:r>
            <a:r>
              <a:rPr lang="es-AR" sz="2000" dirty="0"/>
              <a:t> entre les </a:t>
            </a:r>
            <a:r>
              <a:rPr lang="es-AR" sz="2000"/>
              <a:t>modalités</a:t>
            </a:r>
            <a:r>
              <a:rPr lang="es-AR" sz="2000" dirty="0"/>
              <a:t>.</a:t>
            </a:r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C25C1BF-4B4E-ED0A-977F-799D8CD01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1588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567" y="207554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Exemple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dirty="0">
                <a:solidFill>
                  <a:srgbClr val="FFFFFF"/>
                </a:solidFill>
              </a:rPr>
              <a:t>Data 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7182676" y="3792778"/>
            <a:ext cx="4184373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 dirty="0">
                <a:latin typeface="+mn-lt"/>
                <a:ea typeface="+mn-ea"/>
                <a:cs typeface="+mn-cs"/>
              </a:rPr>
              <a:t>“</a:t>
            </a:r>
            <a:r>
              <a:rPr lang="en-US" sz="2000" kern="1200" dirty="0"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000" kern="1200" dirty="0">
                <a:latin typeface="+mn-lt"/>
                <a:ea typeface="+mn-ea"/>
                <a:cs typeface="+mn-cs"/>
              </a:rPr>
              <a:t>court dans </a:t>
            </a:r>
            <a:r>
              <a:rPr lang="en-US" sz="2000" kern="1200" dirty="0"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000" kern="1200" dirty="0" err="1"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000" kern="1200" dirty="0"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000" kern="1200" dirty="0"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777564" y="2003504"/>
            <a:ext cx="5627548" cy="4452160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E8311-813D-5C3C-A6D7-CCD9E7AC5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BA767897-FD45-0631-108A-0A9D03944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B6F2375-7097-BCD2-BA71-754E007E3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CB93499-DB0F-2B33-7481-F0FCC27C6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D79EA06-0667-9710-C63F-512E4F21A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2CCAA3-A426-6EDB-DF10-5EB9788FC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CB761CC0-1A63-1068-FE69-8E449A88AD14}"/>
              </a:ext>
            </a:extLst>
          </p:cNvPr>
          <p:cNvSpPr txBox="1">
            <a:spLocks/>
          </p:cNvSpPr>
          <p:nvPr/>
        </p:nvSpPr>
        <p:spPr>
          <a:xfrm>
            <a:off x="440692" y="125656"/>
            <a:ext cx="9392421" cy="13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>
                <a:solidFill>
                  <a:schemeClr val="bg1"/>
                </a:solidFill>
              </a:rPr>
              <a:t>Structure d’</a:t>
            </a:r>
            <a:r>
              <a:rPr lang="en-US" dirty="0">
                <a:solidFill>
                  <a:schemeClr val="bg1"/>
                </a:solidFill>
              </a:rPr>
              <a:t> Alignment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8B4FCAD3-933B-02F1-B22C-B30C83210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12" name="Image 11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4ED8A8EF-330D-2BF1-6769-FE73EA254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761" y="3186010"/>
            <a:ext cx="5462478" cy="194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532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771733-3A46-483C-A722-052BE6A9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5808C39-2F74-7D77-DF0A-6BAEEAEF4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6574A0-3ACC-57B6-DE3A-E47833A67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518CFF-1C33-6DD8-78A4-6636BBCA7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9908B5E-5EA6-B7F6-2C9D-50ABD01FE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310BBD-6ED5-C74C-13FD-6DF0DCB78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4000" dirty="0" err="1">
                <a:solidFill>
                  <a:schemeClr val="bg1"/>
                </a:solidFill>
              </a:rPr>
              <a:t>Avantages</a:t>
            </a:r>
            <a:r>
              <a:rPr lang="en-US" sz="4000" dirty="0">
                <a:solidFill>
                  <a:schemeClr val="bg1"/>
                </a:solidFill>
              </a:rPr>
              <a:t> 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et 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limites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l’alignement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1256F-D1F4-9BFB-49FE-ABE35C3C8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25F22F00-9FD0-E86A-3E8E-5C4C7976DC0B}"/>
              </a:ext>
            </a:extLst>
          </p:cNvPr>
          <p:cNvSpPr txBox="1">
            <a:spLocks/>
          </p:cNvSpPr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/>
              <a:t>Avantages</a:t>
            </a:r>
            <a:r>
              <a:rPr lang="en-US" dirty="0"/>
              <a:t>: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D453D0DD-A1EA-4848-9B62-EFFC0E3C0A19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L’alignement permet de relier directement des sous-éléments de deux modalités </a:t>
            </a:r>
          </a:p>
        </p:txBody>
      </p:sp>
      <p:sp>
        <p:nvSpPr>
          <p:cNvPr id="14" name="Espace réservé du texte 4">
            <a:extLst>
              <a:ext uri="{FF2B5EF4-FFF2-40B4-BE49-F238E27FC236}">
                <a16:creationId xmlns:a16="http://schemas.microsoft.com/office/drawing/2014/main" id="{D98CA4E1-4571-304F-F7BB-F04B20FA15FE}"/>
              </a:ext>
            </a:extLst>
          </p:cNvPr>
          <p:cNvSpPr txBox="1">
            <a:spLocks/>
          </p:cNvSpPr>
          <p:nvPr/>
        </p:nvSpPr>
        <p:spPr>
          <a:xfrm>
            <a:off x="6172200" y="1681163"/>
            <a:ext cx="5183188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u="sng" dirty="0"/>
              <a:t>Limites</a:t>
            </a:r>
            <a:r>
              <a:rPr lang="fr-FR" dirty="0"/>
              <a:t>: </a:t>
            </a:r>
          </a:p>
        </p:txBody>
      </p:sp>
      <p:sp>
        <p:nvSpPr>
          <p:cNvPr id="15" name="Espace réservé du contenu 5">
            <a:extLst>
              <a:ext uri="{FF2B5EF4-FFF2-40B4-BE49-F238E27FC236}">
                <a16:creationId xmlns:a16="http://schemas.microsoft.com/office/drawing/2014/main" id="{06C7FABF-6B20-6AFE-7A1B-2D84EBAA4791}"/>
              </a:ext>
            </a:extLst>
          </p:cNvPr>
          <p:cNvSpPr txBox="1">
            <a:spLocks/>
          </p:cNvSpPr>
          <p:nvPr/>
        </p:nvSpPr>
        <p:spPr>
          <a:xfrm>
            <a:off x="6172200" y="2505075"/>
            <a:ext cx="5183188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Risque de perdre la spécificité de chaque modalité.</a:t>
            </a:r>
          </a:p>
          <a:p>
            <a:r>
              <a:rPr lang="fr-FR"/>
              <a:t>Plus sensible aux modalités manquantes.</a:t>
            </a:r>
          </a:p>
          <a:p>
            <a:r>
              <a:rPr lang="fr-FR"/>
              <a:t>La fusion peut introduire du bruit ou de la redondance si elle est mal contrôlée.</a:t>
            </a:r>
          </a:p>
          <a:p>
            <a:r>
              <a:rPr lang="fr-FR"/>
              <a:t>Peut nécessiter beaucoup de données pour apprendre une représentation commune stable.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38220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696D38D-8A35-E72B-B2FE-5F6DCCA9E3C4}"/>
              </a:ext>
            </a:extLst>
          </p:cNvPr>
          <p:cNvSpPr txBox="1"/>
          <p:nvPr/>
        </p:nvSpPr>
        <p:spPr>
          <a:xfrm>
            <a:off x="5297557" y="3003756"/>
            <a:ext cx="5817895" cy="3339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Le </a:t>
            </a:r>
            <a:r>
              <a:rPr lang="fr-FR" dirty="0" err="1"/>
              <a:t>co-learning</a:t>
            </a:r>
            <a:r>
              <a:rPr lang="fr-FR" dirty="0"/>
              <a:t> multimodal est l’approche qui permet de transférer l’information d’une modalité vers une autre afin d’obtenir des modèles capables de fonctionner même avec des modalités manquantes, bruitées ou peu annotées.</a:t>
            </a:r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5400000">
            <a:off x="7049210" y="-1459407"/>
            <a:ext cx="2209913" cy="5922571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où les données sont souvent incomplètes ou imparfaites comme dans la santé, systèmes autonomes …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  <a:p>
            <a:pPr lvl="1"/>
            <a:r>
              <a:rPr lang="fr-FR" sz="2000" dirty="0" err="1"/>
              <a:t>LLM’s</a:t>
            </a:r>
            <a:r>
              <a:rPr lang="fr-FR" sz="2000" dirty="0"/>
              <a:t> Enrichie</a:t>
            </a:r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263" y="2495191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EEBFD7-A76E-255A-BEA0-7B36E6B2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Conduite autonome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68E448-BC78-618F-0D96-A565DDCC1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3A36BC-DF62-35A2-6C36-3DF67D58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28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7807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8824BB-26F5-8A3A-927B-B6C4B0C32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Analyse de sentiment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8D1E74-878B-7D04-5DF9-CC2F9A00F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B1B337-2DE3-CEBE-D649-C7971094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29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7518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4517A-2DD6-AD3C-8D57-147E0E84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Domaine Médicale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052E92-03F8-B13D-B5AE-B70FCC1644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BC0D00-9E40-451F-771C-1158ACC6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30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8799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8DC2C-9315-309A-51B5-C5433D894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F7BC347A-0B4B-CA05-10FF-9E003C665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979EBD-F3ED-43B4-E592-7F9DE9546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4BF458-E54C-4377-71F5-EC6596A7C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5988094-6EE5-15A0-8595-E770070BE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ACDBCE-0801-4714-F232-501F73B020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9ACA2-29AB-5155-B737-81592DFD3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 err="1">
                <a:solidFill>
                  <a:srgbClr val="FFFFFF"/>
                </a:solidFill>
              </a:rPr>
              <a:t>LLM’s</a:t>
            </a:r>
            <a:r>
              <a:rPr lang="fr-FR" sz="4000" dirty="0">
                <a:solidFill>
                  <a:srgbClr val="FFFFFF"/>
                </a:solidFill>
              </a:rPr>
              <a:t> Enrichie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4A5BEE-2761-72F7-A68B-196F02E6F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51EB6D-02F5-5384-6FA6-AAA75158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31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5882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2022 </a:t>
            </a:r>
          </a:p>
          <a:p>
            <a:r>
              <a:rPr lang="es-AR" sz="1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https://www.youtube.com/watch?v=kixc1mh55yY</a:t>
            </a:r>
            <a:endParaRPr lang="es-AR" sz="1600" dirty="0"/>
          </a:p>
          <a:p>
            <a:r>
              <a:rPr lang="es-AR" sz="1600" dirty="0"/>
              <a:t>https://www.youtube.com/watch?v=xcOMHwjNLaA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6521</TotalTime>
  <Words>1419</Words>
  <Application>Microsoft Office PowerPoint</Application>
  <PresentationFormat>Grand écran</PresentationFormat>
  <Paragraphs>226</Paragraphs>
  <Slides>32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Thème Office</vt:lpstr>
      <vt:lpstr>La Multimodalité</vt:lpstr>
      <vt:lpstr>Présentation PowerPoint</vt:lpstr>
      <vt:lpstr>Modalité</vt:lpstr>
      <vt:lpstr>La multimodalité: </vt:lpstr>
      <vt:lpstr>Les 5 clefs de la multimodalité</vt:lpstr>
      <vt:lpstr>La fusion</vt:lpstr>
      <vt:lpstr>Model unimodal 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Data Representation:</vt:lpstr>
      <vt:lpstr>Coordinated Representation</vt:lpstr>
      <vt:lpstr>Joint Representation</vt:lpstr>
      <vt:lpstr>Data Translation</vt:lpstr>
      <vt:lpstr>Exemple de Translation</vt:lpstr>
      <vt:lpstr>Ajouter les forces et  les limites?</vt:lpstr>
      <vt:lpstr>Data Alignment</vt:lpstr>
      <vt:lpstr>Exemple Data Alignment</vt:lpstr>
      <vt:lpstr>Présentation PowerPoint</vt:lpstr>
      <vt:lpstr>Avantages et  limites de l’alignement</vt:lpstr>
      <vt:lpstr>Le Co-learning</vt:lpstr>
      <vt:lpstr>Présentation PowerPoint</vt:lpstr>
      <vt:lpstr>Présentation PowerPoint</vt:lpstr>
      <vt:lpstr>Les applications de la Fusion</vt:lpstr>
      <vt:lpstr>Conduite autonome</vt:lpstr>
      <vt:lpstr>Analyse de sentiment</vt:lpstr>
      <vt:lpstr>Domaine Médicale</vt:lpstr>
      <vt:lpstr>LLM’s Enrichie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26</cp:revision>
  <dcterms:created xsi:type="dcterms:W3CDTF">2025-09-05T12:51:10Z</dcterms:created>
  <dcterms:modified xsi:type="dcterms:W3CDTF">2026-01-19T22:33:38Z</dcterms:modified>
</cp:coreProperties>
</file>