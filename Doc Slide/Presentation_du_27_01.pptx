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05" r:id="rId2"/>
    <p:sldId id="301" r:id="rId3"/>
    <p:sldId id="303" r:id="rId4"/>
    <p:sldId id="302" r:id="rId5"/>
    <p:sldId id="265" r:id="rId6"/>
    <p:sldId id="264" r:id="rId7"/>
    <p:sldId id="304" r:id="rId8"/>
    <p:sldId id="266" r:id="rId9"/>
    <p:sldId id="267" r:id="rId10"/>
    <p:sldId id="271" r:id="rId11"/>
    <p:sldId id="270" r:id="rId12"/>
    <p:sldId id="269" r:id="rId13"/>
    <p:sldId id="272" r:id="rId14"/>
    <p:sldId id="275" r:id="rId15"/>
    <p:sldId id="314" r:id="rId16"/>
    <p:sldId id="315" r:id="rId17"/>
    <p:sldId id="276" r:id="rId18"/>
    <p:sldId id="316" r:id="rId19"/>
    <p:sldId id="319" r:id="rId20"/>
    <p:sldId id="317" r:id="rId21"/>
    <p:sldId id="279" r:id="rId22"/>
    <p:sldId id="318" r:id="rId23"/>
    <p:sldId id="320" r:id="rId24"/>
    <p:sldId id="259" r:id="rId25"/>
    <p:sldId id="299" r:id="rId26"/>
    <p:sldId id="258" r:id="rId27"/>
    <p:sldId id="321" r:id="rId28"/>
    <p:sldId id="322" r:id="rId29"/>
    <p:sldId id="323" r:id="rId30"/>
    <p:sldId id="325" r:id="rId31"/>
    <p:sldId id="324" r:id="rId32"/>
    <p:sldId id="327" r:id="rId33"/>
    <p:sldId id="328" r:id="rId34"/>
    <p:sldId id="281" r:id="rId35"/>
    <p:sldId id="308" r:id="rId36"/>
    <p:sldId id="309" r:id="rId37"/>
    <p:sldId id="310" r:id="rId38"/>
    <p:sldId id="311" r:id="rId39"/>
    <p:sldId id="300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6562" autoAdjust="0"/>
  </p:normalViewPr>
  <p:slideViewPr>
    <p:cSldViewPr snapToGrid="0">
      <p:cViewPr varScale="1">
        <p:scale>
          <a:sx n="96" d="100"/>
          <a:sy n="96" d="100"/>
        </p:scale>
        <p:origin x="1092" y="78"/>
      </p:cViewPr>
      <p:guideLst/>
    </p:cSldViewPr>
  </p:slideViewPr>
  <p:outlineViewPr>
    <p:cViewPr>
      <p:scale>
        <a:sx n="33" d="100"/>
        <a:sy n="33" d="100"/>
      </p:scale>
      <p:origin x="0" y="-1059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527C63-637A-47B6-9930-5B1ADF83777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C5D597-481A-4C98-A575-0F05414DA7C3}">
      <dgm:prSet/>
      <dgm:spPr/>
      <dgm:t>
        <a:bodyPr/>
        <a:lstStyle/>
        <a:p>
          <a:r>
            <a:rPr lang="fr-FR" b="1" dirty="0"/>
            <a:t>Fusion</a:t>
          </a:r>
          <a:r>
            <a:rPr lang="fr-FR" dirty="0"/>
            <a:t> </a:t>
          </a:r>
          <a:endParaRPr lang="en-US" dirty="0"/>
        </a:p>
      </dgm:t>
    </dgm:pt>
    <dgm:pt modelId="{C20A4F57-6BC4-4A9D-BE4E-ADDEB8E25348}" type="parTrans" cxnId="{CF1649E2-6D7B-47EE-B1E6-276B951FC6DF}">
      <dgm:prSet/>
      <dgm:spPr/>
      <dgm:t>
        <a:bodyPr/>
        <a:lstStyle/>
        <a:p>
          <a:endParaRPr lang="en-US"/>
        </a:p>
      </dgm:t>
    </dgm:pt>
    <dgm:pt modelId="{0E7221D1-324D-4FB6-B8B1-13F60970C3AE}" type="sibTrans" cxnId="{CF1649E2-6D7B-47EE-B1E6-276B951FC6DF}">
      <dgm:prSet/>
      <dgm:spPr/>
      <dgm:t>
        <a:bodyPr/>
        <a:lstStyle/>
        <a:p>
          <a:endParaRPr lang="en-US"/>
        </a:p>
      </dgm:t>
    </dgm:pt>
    <dgm:pt modelId="{E8D4B822-EC9B-4AA8-9A41-BB029713E7EA}">
      <dgm:prSet/>
      <dgm:spPr/>
      <dgm:t>
        <a:bodyPr/>
        <a:lstStyle/>
        <a:p>
          <a:r>
            <a:rPr lang="fr-FR" b="1" i="0" baseline="0"/>
            <a:t>Représentation</a:t>
          </a:r>
          <a:r>
            <a:rPr lang="fr-FR" b="0" i="0" baseline="0"/>
            <a:t> </a:t>
          </a:r>
          <a:endParaRPr lang="en-US"/>
        </a:p>
      </dgm:t>
    </dgm:pt>
    <dgm:pt modelId="{793A2D8B-482C-483C-8C97-2052FAFD3358}" type="parTrans" cxnId="{C6DD3067-5C7B-4F32-9691-6494F58F54EC}">
      <dgm:prSet/>
      <dgm:spPr/>
      <dgm:t>
        <a:bodyPr/>
        <a:lstStyle/>
        <a:p>
          <a:endParaRPr lang="en-US"/>
        </a:p>
      </dgm:t>
    </dgm:pt>
    <dgm:pt modelId="{4076CB6E-E0FB-405A-B4D2-A87422E458D3}" type="sibTrans" cxnId="{C6DD3067-5C7B-4F32-9691-6494F58F54EC}">
      <dgm:prSet/>
      <dgm:spPr/>
      <dgm:t>
        <a:bodyPr/>
        <a:lstStyle/>
        <a:p>
          <a:endParaRPr lang="en-US"/>
        </a:p>
      </dgm:t>
    </dgm:pt>
    <dgm:pt modelId="{1366E4AC-3A3A-4200-8A36-1304F8472F76}">
      <dgm:prSet/>
      <dgm:spPr/>
      <dgm:t>
        <a:bodyPr/>
        <a:lstStyle/>
        <a:p>
          <a:r>
            <a:rPr lang="fr-FR" b="1" i="0" baseline="0"/>
            <a:t>Traduction</a:t>
          </a:r>
          <a:r>
            <a:rPr lang="fr-FR" b="0" i="0" baseline="0"/>
            <a:t> </a:t>
          </a:r>
          <a:endParaRPr lang="en-US"/>
        </a:p>
      </dgm:t>
    </dgm:pt>
    <dgm:pt modelId="{60FC05CA-CF2E-4A9A-8CB5-E43356E57D1E}" type="parTrans" cxnId="{994FA51E-F9AF-439D-8945-DE87DAA54F0D}">
      <dgm:prSet/>
      <dgm:spPr/>
      <dgm:t>
        <a:bodyPr/>
        <a:lstStyle/>
        <a:p>
          <a:endParaRPr lang="en-US"/>
        </a:p>
      </dgm:t>
    </dgm:pt>
    <dgm:pt modelId="{32714EF9-D79C-42CE-8ABC-6056F365A420}" type="sibTrans" cxnId="{994FA51E-F9AF-439D-8945-DE87DAA54F0D}">
      <dgm:prSet/>
      <dgm:spPr/>
      <dgm:t>
        <a:bodyPr/>
        <a:lstStyle/>
        <a:p>
          <a:endParaRPr lang="en-US"/>
        </a:p>
      </dgm:t>
    </dgm:pt>
    <dgm:pt modelId="{AE731D34-2FB4-4F2D-867D-ECFE465B2E2C}">
      <dgm:prSet/>
      <dgm:spPr/>
      <dgm:t>
        <a:bodyPr/>
        <a:lstStyle/>
        <a:p>
          <a:r>
            <a:rPr lang="fr-FR" b="1" i="0" baseline="0"/>
            <a:t>Alignement</a:t>
          </a:r>
          <a:r>
            <a:rPr lang="fr-FR" b="0" i="0" baseline="0"/>
            <a:t> </a:t>
          </a:r>
          <a:endParaRPr lang="en-US"/>
        </a:p>
      </dgm:t>
    </dgm:pt>
    <dgm:pt modelId="{5D6EDA61-D412-4877-B487-DC0C4E8C9989}" type="parTrans" cxnId="{3D3C3548-5F8A-4946-845C-B796EAF912A6}">
      <dgm:prSet/>
      <dgm:spPr/>
      <dgm:t>
        <a:bodyPr/>
        <a:lstStyle/>
        <a:p>
          <a:endParaRPr lang="en-US"/>
        </a:p>
      </dgm:t>
    </dgm:pt>
    <dgm:pt modelId="{903ABB12-44FB-448F-ABA0-BCF94FB3BC57}" type="sibTrans" cxnId="{3D3C3548-5F8A-4946-845C-B796EAF912A6}">
      <dgm:prSet/>
      <dgm:spPr/>
      <dgm:t>
        <a:bodyPr/>
        <a:lstStyle/>
        <a:p>
          <a:endParaRPr lang="en-US"/>
        </a:p>
      </dgm:t>
    </dgm:pt>
    <dgm:pt modelId="{BF6BD076-2E0C-42A4-B6FE-E7C7672D199B}">
      <dgm:prSet/>
      <dgm:spPr/>
      <dgm:t>
        <a:bodyPr/>
        <a:lstStyle/>
        <a:p>
          <a:r>
            <a:rPr lang="fr-FR" b="1" i="0" baseline="0" dirty="0"/>
            <a:t>Co-Learning</a:t>
          </a:r>
          <a:endParaRPr lang="en-US" dirty="0"/>
        </a:p>
      </dgm:t>
    </dgm:pt>
    <dgm:pt modelId="{6C223CB5-8594-437C-9A0E-9D83EAF07F44}" type="parTrans" cxnId="{3302CB3D-B5A6-430D-AB45-CEAE0E46ACE6}">
      <dgm:prSet/>
      <dgm:spPr/>
      <dgm:t>
        <a:bodyPr/>
        <a:lstStyle/>
        <a:p>
          <a:endParaRPr lang="en-US"/>
        </a:p>
      </dgm:t>
    </dgm:pt>
    <dgm:pt modelId="{FC1D5E44-3463-48DF-BA62-0EA2F8E5A11A}" type="sibTrans" cxnId="{3302CB3D-B5A6-430D-AB45-CEAE0E46ACE6}">
      <dgm:prSet/>
      <dgm:spPr/>
      <dgm:t>
        <a:bodyPr/>
        <a:lstStyle/>
        <a:p>
          <a:endParaRPr lang="en-US"/>
        </a:p>
      </dgm:t>
    </dgm:pt>
    <dgm:pt modelId="{FDED81C0-AD38-4337-B50C-9B43E2A72CFE}" type="pres">
      <dgm:prSet presAssocID="{90527C63-637A-47B6-9930-5B1ADF837775}" presName="root" presStyleCnt="0">
        <dgm:presLayoutVars>
          <dgm:dir/>
          <dgm:resizeHandles val="exact"/>
        </dgm:presLayoutVars>
      </dgm:prSet>
      <dgm:spPr/>
    </dgm:pt>
    <dgm:pt modelId="{D09DE903-2802-47E8-B021-68B5AB8FB992}" type="pres">
      <dgm:prSet presAssocID="{3AC5D597-481A-4C98-A575-0F05414DA7C3}" presName="compNode" presStyleCnt="0"/>
      <dgm:spPr/>
    </dgm:pt>
    <dgm:pt modelId="{C1AECE2B-2273-4143-8305-E4D351ED2994}" type="pres">
      <dgm:prSet presAssocID="{3AC5D597-481A-4C98-A575-0F05414DA7C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e"/>
        </a:ext>
      </dgm:extLst>
    </dgm:pt>
    <dgm:pt modelId="{7417F7C8-F1C9-413D-837E-C9A750559281}" type="pres">
      <dgm:prSet presAssocID="{3AC5D597-481A-4C98-A575-0F05414DA7C3}" presName="spaceRect" presStyleCnt="0"/>
      <dgm:spPr/>
    </dgm:pt>
    <dgm:pt modelId="{C709DBD9-5D6D-4237-B6C8-B66DBCEBA4AF}" type="pres">
      <dgm:prSet presAssocID="{3AC5D597-481A-4C98-A575-0F05414DA7C3}" presName="textRect" presStyleLbl="revTx" presStyleIdx="0" presStyleCnt="5">
        <dgm:presLayoutVars>
          <dgm:chMax val="1"/>
          <dgm:chPref val="1"/>
        </dgm:presLayoutVars>
      </dgm:prSet>
      <dgm:spPr/>
    </dgm:pt>
    <dgm:pt modelId="{A31DB54D-75AD-4E91-B81D-B3F2A5532A3E}" type="pres">
      <dgm:prSet presAssocID="{0E7221D1-324D-4FB6-B8B1-13F60970C3AE}" presName="sibTrans" presStyleCnt="0"/>
      <dgm:spPr/>
    </dgm:pt>
    <dgm:pt modelId="{A1918E05-B36E-45E8-9FFA-A4C8F0DD43EB}" type="pres">
      <dgm:prSet presAssocID="{E8D4B822-EC9B-4AA8-9A41-BB029713E7EA}" presName="compNode" presStyleCnt="0"/>
      <dgm:spPr/>
    </dgm:pt>
    <dgm:pt modelId="{EDD65A80-8423-4DF1-8E79-6EDF70057F8A}" type="pres">
      <dgm:prSet presAssocID="{E8D4B822-EC9B-4AA8-9A41-BB029713E7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53522F8-31EE-40F1-A4C8-538EF10DB982}" type="pres">
      <dgm:prSet presAssocID="{E8D4B822-EC9B-4AA8-9A41-BB029713E7EA}" presName="spaceRect" presStyleCnt="0"/>
      <dgm:spPr/>
    </dgm:pt>
    <dgm:pt modelId="{5C99234B-9CF4-4102-A132-90645053C218}" type="pres">
      <dgm:prSet presAssocID="{E8D4B822-EC9B-4AA8-9A41-BB029713E7EA}" presName="textRect" presStyleLbl="revTx" presStyleIdx="1" presStyleCnt="5">
        <dgm:presLayoutVars>
          <dgm:chMax val="1"/>
          <dgm:chPref val="1"/>
        </dgm:presLayoutVars>
      </dgm:prSet>
      <dgm:spPr/>
    </dgm:pt>
    <dgm:pt modelId="{6EDB8033-8BDF-4E6D-BA13-57E36D75502C}" type="pres">
      <dgm:prSet presAssocID="{4076CB6E-E0FB-405A-B4D2-A87422E458D3}" presName="sibTrans" presStyleCnt="0"/>
      <dgm:spPr/>
    </dgm:pt>
    <dgm:pt modelId="{9F57A237-0E93-4837-8EE4-9CC954C1E63F}" type="pres">
      <dgm:prSet presAssocID="{1366E4AC-3A3A-4200-8A36-1304F8472F76}" presName="compNode" presStyleCnt="0"/>
      <dgm:spPr/>
    </dgm:pt>
    <dgm:pt modelId="{3EF79444-47EA-47DA-AE09-DD57D8E9623F}" type="pres">
      <dgm:prSet presAssocID="{1366E4AC-3A3A-4200-8A36-1304F8472F7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7CF3264-7F9F-46A0-BA56-4301BBD114DE}" type="pres">
      <dgm:prSet presAssocID="{1366E4AC-3A3A-4200-8A36-1304F8472F76}" presName="spaceRect" presStyleCnt="0"/>
      <dgm:spPr/>
    </dgm:pt>
    <dgm:pt modelId="{352143A5-8353-4652-BB68-409B3B0CE23D}" type="pres">
      <dgm:prSet presAssocID="{1366E4AC-3A3A-4200-8A36-1304F8472F76}" presName="textRect" presStyleLbl="revTx" presStyleIdx="2" presStyleCnt="5">
        <dgm:presLayoutVars>
          <dgm:chMax val="1"/>
          <dgm:chPref val="1"/>
        </dgm:presLayoutVars>
      </dgm:prSet>
      <dgm:spPr/>
    </dgm:pt>
    <dgm:pt modelId="{B99319D3-FFBB-4E6B-9631-1BFADF2DCE49}" type="pres">
      <dgm:prSet presAssocID="{32714EF9-D79C-42CE-8ABC-6056F365A420}" presName="sibTrans" presStyleCnt="0"/>
      <dgm:spPr/>
    </dgm:pt>
    <dgm:pt modelId="{275CE9D9-56E7-45BB-8CB2-86DBE006AAE2}" type="pres">
      <dgm:prSet presAssocID="{AE731D34-2FB4-4F2D-867D-ECFE465B2E2C}" presName="compNode" presStyleCnt="0"/>
      <dgm:spPr/>
    </dgm:pt>
    <dgm:pt modelId="{7FA499EB-A690-47AE-877C-1F6C506686C9}" type="pres">
      <dgm:prSet presAssocID="{AE731D34-2FB4-4F2D-867D-ECFE465B2E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775E2A32-8112-4E7E-88D7-F6D4DD2CF500}" type="pres">
      <dgm:prSet presAssocID="{AE731D34-2FB4-4F2D-867D-ECFE465B2E2C}" presName="spaceRect" presStyleCnt="0"/>
      <dgm:spPr/>
    </dgm:pt>
    <dgm:pt modelId="{0CE6B2CE-5C63-42C8-AB97-2BD91D6255CF}" type="pres">
      <dgm:prSet presAssocID="{AE731D34-2FB4-4F2D-867D-ECFE465B2E2C}" presName="textRect" presStyleLbl="revTx" presStyleIdx="3" presStyleCnt="5">
        <dgm:presLayoutVars>
          <dgm:chMax val="1"/>
          <dgm:chPref val="1"/>
        </dgm:presLayoutVars>
      </dgm:prSet>
      <dgm:spPr/>
    </dgm:pt>
    <dgm:pt modelId="{ED7622D9-2EAF-4205-A1AF-70E071E2B8F4}" type="pres">
      <dgm:prSet presAssocID="{903ABB12-44FB-448F-ABA0-BCF94FB3BC57}" presName="sibTrans" presStyleCnt="0"/>
      <dgm:spPr/>
    </dgm:pt>
    <dgm:pt modelId="{50A1885E-3C13-45BE-B168-AD130D266356}" type="pres">
      <dgm:prSet presAssocID="{BF6BD076-2E0C-42A4-B6FE-E7C7672D199B}" presName="compNode" presStyleCnt="0"/>
      <dgm:spPr/>
    </dgm:pt>
    <dgm:pt modelId="{96CFD845-DAFC-4FB3-BB8D-D7DDB2659D25}" type="pres">
      <dgm:prSet presAssocID="{BF6BD076-2E0C-42A4-B6FE-E7C7672D19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BD5FEB2A-F5FE-46A0-80FF-1DDAC9F8F940}" type="pres">
      <dgm:prSet presAssocID="{BF6BD076-2E0C-42A4-B6FE-E7C7672D199B}" presName="spaceRect" presStyleCnt="0"/>
      <dgm:spPr/>
    </dgm:pt>
    <dgm:pt modelId="{9847FA4E-43E5-4878-91F1-1A5FDF3FE69D}" type="pres">
      <dgm:prSet presAssocID="{BF6BD076-2E0C-42A4-B6FE-E7C7672D199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E72CC03-E202-4E55-BC48-F2E1184646E0}" type="presOf" srcId="{BF6BD076-2E0C-42A4-B6FE-E7C7672D199B}" destId="{9847FA4E-43E5-4878-91F1-1A5FDF3FE69D}" srcOrd="0" destOrd="0" presId="urn:microsoft.com/office/officeart/2018/2/layout/IconLabelList"/>
    <dgm:cxn modelId="{994FA51E-F9AF-439D-8945-DE87DAA54F0D}" srcId="{90527C63-637A-47B6-9930-5B1ADF837775}" destId="{1366E4AC-3A3A-4200-8A36-1304F8472F76}" srcOrd="2" destOrd="0" parTransId="{60FC05CA-CF2E-4A9A-8CB5-E43356E57D1E}" sibTransId="{32714EF9-D79C-42CE-8ABC-6056F365A420}"/>
    <dgm:cxn modelId="{3302CB3D-B5A6-430D-AB45-CEAE0E46ACE6}" srcId="{90527C63-637A-47B6-9930-5B1ADF837775}" destId="{BF6BD076-2E0C-42A4-B6FE-E7C7672D199B}" srcOrd="4" destOrd="0" parTransId="{6C223CB5-8594-437C-9A0E-9D83EAF07F44}" sibTransId="{FC1D5E44-3463-48DF-BA62-0EA2F8E5A11A}"/>
    <dgm:cxn modelId="{C6DD3067-5C7B-4F32-9691-6494F58F54EC}" srcId="{90527C63-637A-47B6-9930-5B1ADF837775}" destId="{E8D4B822-EC9B-4AA8-9A41-BB029713E7EA}" srcOrd="1" destOrd="0" parTransId="{793A2D8B-482C-483C-8C97-2052FAFD3358}" sibTransId="{4076CB6E-E0FB-405A-B4D2-A87422E458D3}"/>
    <dgm:cxn modelId="{3D3C3548-5F8A-4946-845C-B796EAF912A6}" srcId="{90527C63-637A-47B6-9930-5B1ADF837775}" destId="{AE731D34-2FB4-4F2D-867D-ECFE465B2E2C}" srcOrd="3" destOrd="0" parTransId="{5D6EDA61-D412-4877-B487-DC0C4E8C9989}" sibTransId="{903ABB12-44FB-448F-ABA0-BCF94FB3BC57}"/>
    <dgm:cxn modelId="{F948D051-9399-41A8-BB4D-51C58760A0A6}" type="presOf" srcId="{3AC5D597-481A-4C98-A575-0F05414DA7C3}" destId="{C709DBD9-5D6D-4237-B6C8-B66DBCEBA4AF}" srcOrd="0" destOrd="0" presId="urn:microsoft.com/office/officeart/2018/2/layout/IconLabelList"/>
    <dgm:cxn modelId="{CA919C88-C0C1-4066-A3C3-8FE21A3C4E06}" type="presOf" srcId="{AE731D34-2FB4-4F2D-867D-ECFE465B2E2C}" destId="{0CE6B2CE-5C63-42C8-AB97-2BD91D6255CF}" srcOrd="0" destOrd="0" presId="urn:microsoft.com/office/officeart/2018/2/layout/IconLabelList"/>
    <dgm:cxn modelId="{EBCFAF88-0562-4BFF-9A01-45458BAA289B}" type="presOf" srcId="{E8D4B822-EC9B-4AA8-9A41-BB029713E7EA}" destId="{5C99234B-9CF4-4102-A132-90645053C218}" srcOrd="0" destOrd="0" presId="urn:microsoft.com/office/officeart/2018/2/layout/IconLabelList"/>
    <dgm:cxn modelId="{B6B5C3CD-A7ED-433A-9460-9BADFA174E20}" type="presOf" srcId="{90527C63-637A-47B6-9930-5B1ADF837775}" destId="{FDED81C0-AD38-4337-B50C-9B43E2A72CFE}" srcOrd="0" destOrd="0" presId="urn:microsoft.com/office/officeart/2018/2/layout/IconLabelList"/>
    <dgm:cxn modelId="{CF1649E2-6D7B-47EE-B1E6-276B951FC6DF}" srcId="{90527C63-637A-47B6-9930-5B1ADF837775}" destId="{3AC5D597-481A-4C98-A575-0F05414DA7C3}" srcOrd="0" destOrd="0" parTransId="{C20A4F57-6BC4-4A9D-BE4E-ADDEB8E25348}" sibTransId="{0E7221D1-324D-4FB6-B8B1-13F60970C3AE}"/>
    <dgm:cxn modelId="{4B83EFF6-F7DB-4F7D-BCB1-A2B03DFBE687}" type="presOf" srcId="{1366E4AC-3A3A-4200-8A36-1304F8472F76}" destId="{352143A5-8353-4652-BB68-409B3B0CE23D}" srcOrd="0" destOrd="0" presId="urn:microsoft.com/office/officeart/2018/2/layout/IconLabelList"/>
    <dgm:cxn modelId="{4E12E286-EDA6-4396-B501-092573E3095D}" type="presParOf" srcId="{FDED81C0-AD38-4337-B50C-9B43E2A72CFE}" destId="{D09DE903-2802-47E8-B021-68B5AB8FB992}" srcOrd="0" destOrd="0" presId="urn:microsoft.com/office/officeart/2018/2/layout/IconLabelList"/>
    <dgm:cxn modelId="{812C9EC2-8868-4B4B-9F69-05EE6154F9DA}" type="presParOf" srcId="{D09DE903-2802-47E8-B021-68B5AB8FB992}" destId="{C1AECE2B-2273-4143-8305-E4D351ED2994}" srcOrd="0" destOrd="0" presId="urn:microsoft.com/office/officeart/2018/2/layout/IconLabelList"/>
    <dgm:cxn modelId="{A632A178-BC92-4EDA-85E6-A288C7C19A14}" type="presParOf" srcId="{D09DE903-2802-47E8-B021-68B5AB8FB992}" destId="{7417F7C8-F1C9-413D-837E-C9A750559281}" srcOrd="1" destOrd="0" presId="urn:microsoft.com/office/officeart/2018/2/layout/IconLabelList"/>
    <dgm:cxn modelId="{D24F70A2-AB5A-481A-96DF-2DE8A1922073}" type="presParOf" srcId="{D09DE903-2802-47E8-B021-68B5AB8FB992}" destId="{C709DBD9-5D6D-4237-B6C8-B66DBCEBA4AF}" srcOrd="2" destOrd="0" presId="urn:microsoft.com/office/officeart/2018/2/layout/IconLabelList"/>
    <dgm:cxn modelId="{9E033598-BCB3-4481-9436-63A014F913C8}" type="presParOf" srcId="{FDED81C0-AD38-4337-B50C-9B43E2A72CFE}" destId="{A31DB54D-75AD-4E91-B81D-B3F2A5532A3E}" srcOrd="1" destOrd="0" presId="urn:microsoft.com/office/officeart/2018/2/layout/IconLabelList"/>
    <dgm:cxn modelId="{ED7C82A4-1F0B-4987-9D94-A16E08D956CB}" type="presParOf" srcId="{FDED81C0-AD38-4337-B50C-9B43E2A72CFE}" destId="{A1918E05-B36E-45E8-9FFA-A4C8F0DD43EB}" srcOrd="2" destOrd="0" presId="urn:microsoft.com/office/officeart/2018/2/layout/IconLabelList"/>
    <dgm:cxn modelId="{1EC3F6CC-18D9-473F-98F3-5F0F49CFADEE}" type="presParOf" srcId="{A1918E05-B36E-45E8-9FFA-A4C8F0DD43EB}" destId="{EDD65A80-8423-4DF1-8E79-6EDF70057F8A}" srcOrd="0" destOrd="0" presId="urn:microsoft.com/office/officeart/2018/2/layout/IconLabelList"/>
    <dgm:cxn modelId="{5DD63E66-638F-49CA-AA3E-7CF22FA00E7D}" type="presParOf" srcId="{A1918E05-B36E-45E8-9FFA-A4C8F0DD43EB}" destId="{953522F8-31EE-40F1-A4C8-538EF10DB982}" srcOrd="1" destOrd="0" presId="urn:microsoft.com/office/officeart/2018/2/layout/IconLabelList"/>
    <dgm:cxn modelId="{9F41194A-6B01-4B96-A969-8D718EE463DE}" type="presParOf" srcId="{A1918E05-B36E-45E8-9FFA-A4C8F0DD43EB}" destId="{5C99234B-9CF4-4102-A132-90645053C218}" srcOrd="2" destOrd="0" presId="urn:microsoft.com/office/officeart/2018/2/layout/IconLabelList"/>
    <dgm:cxn modelId="{4A5F1C5C-9EED-4896-85F2-B962698BB30B}" type="presParOf" srcId="{FDED81C0-AD38-4337-B50C-9B43E2A72CFE}" destId="{6EDB8033-8BDF-4E6D-BA13-57E36D75502C}" srcOrd="3" destOrd="0" presId="urn:microsoft.com/office/officeart/2018/2/layout/IconLabelList"/>
    <dgm:cxn modelId="{E5C34A34-3D59-4329-9347-7E5F03EDFF17}" type="presParOf" srcId="{FDED81C0-AD38-4337-B50C-9B43E2A72CFE}" destId="{9F57A237-0E93-4837-8EE4-9CC954C1E63F}" srcOrd="4" destOrd="0" presId="urn:microsoft.com/office/officeart/2018/2/layout/IconLabelList"/>
    <dgm:cxn modelId="{FD94378F-1984-4D71-A93D-964EEF6C74DF}" type="presParOf" srcId="{9F57A237-0E93-4837-8EE4-9CC954C1E63F}" destId="{3EF79444-47EA-47DA-AE09-DD57D8E9623F}" srcOrd="0" destOrd="0" presId="urn:microsoft.com/office/officeart/2018/2/layout/IconLabelList"/>
    <dgm:cxn modelId="{C99699EB-D7B8-4EDB-AFE9-3CC5964AE654}" type="presParOf" srcId="{9F57A237-0E93-4837-8EE4-9CC954C1E63F}" destId="{67CF3264-7F9F-46A0-BA56-4301BBD114DE}" srcOrd="1" destOrd="0" presId="urn:microsoft.com/office/officeart/2018/2/layout/IconLabelList"/>
    <dgm:cxn modelId="{45617A68-B053-4EEE-B274-B4E8A33857C4}" type="presParOf" srcId="{9F57A237-0E93-4837-8EE4-9CC954C1E63F}" destId="{352143A5-8353-4652-BB68-409B3B0CE23D}" srcOrd="2" destOrd="0" presId="urn:microsoft.com/office/officeart/2018/2/layout/IconLabelList"/>
    <dgm:cxn modelId="{E6250374-368C-44A5-A961-633E68CCAC4D}" type="presParOf" srcId="{FDED81C0-AD38-4337-B50C-9B43E2A72CFE}" destId="{B99319D3-FFBB-4E6B-9631-1BFADF2DCE49}" srcOrd="5" destOrd="0" presId="urn:microsoft.com/office/officeart/2018/2/layout/IconLabelList"/>
    <dgm:cxn modelId="{4877AC67-4644-4844-86F8-3FD973381A69}" type="presParOf" srcId="{FDED81C0-AD38-4337-B50C-9B43E2A72CFE}" destId="{275CE9D9-56E7-45BB-8CB2-86DBE006AAE2}" srcOrd="6" destOrd="0" presId="urn:microsoft.com/office/officeart/2018/2/layout/IconLabelList"/>
    <dgm:cxn modelId="{6393135E-1A98-4D33-B3AB-502F46F5759A}" type="presParOf" srcId="{275CE9D9-56E7-45BB-8CB2-86DBE006AAE2}" destId="{7FA499EB-A690-47AE-877C-1F6C506686C9}" srcOrd="0" destOrd="0" presId="urn:microsoft.com/office/officeart/2018/2/layout/IconLabelList"/>
    <dgm:cxn modelId="{DD59259D-DF12-4F99-9E8D-B628FBA10066}" type="presParOf" srcId="{275CE9D9-56E7-45BB-8CB2-86DBE006AAE2}" destId="{775E2A32-8112-4E7E-88D7-F6D4DD2CF500}" srcOrd="1" destOrd="0" presId="urn:microsoft.com/office/officeart/2018/2/layout/IconLabelList"/>
    <dgm:cxn modelId="{BAF1B56F-4C5E-4C99-9A96-37BD919910B3}" type="presParOf" srcId="{275CE9D9-56E7-45BB-8CB2-86DBE006AAE2}" destId="{0CE6B2CE-5C63-42C8-AB97-2BD91D6255CF}" srcOrd="2" destOrd="0" presId="urn:microsoft.com/office/officeart/2018/2/layout/IconLabelList"/>
    <dgm:cxn modelId="{B371D448-7BBC-4EA4-BA4A-1E9E54DEFA9E}" type="presParOf" srcId="{FDED81C0-AD38-4337-B50C-9B43E2A72CFE}" destId="{ED7622D9-2EAF-4205-A1AF-70E071E2B8F4}" srcOrd="7" destOrd="0" presId="urn:microsoft.com/office/officeart/2018/2/layout/IconLabelList"/>
    <dgm:cxn modelId="{6301BB57-60DE-45DE-909B-748E922FFDBB}" type="presParOf" srcId="{FDED81C0-AD38-4337-B50C-9B43E2A72CFE}" destId="{50A1885E-3C13-45BE-B168-AD130D266356}" srcOrd="8" destOrd="0" presId="urn:microsoft.com/office/officeart/2018/2/layout/IconLabelList"/>
    <dgm:cxn modelId="{617FAB38-0B16-43EE-A42A-F158995701FD}" type="presParOf" srcId="{50A1885E-3C13-45BE-B168-AD130D266356}" destId="{96CFD845-DAFC-4FB3-BB8D-D7DDB2659D25}" srcOrd="0" destOrd="0" presId="urn:microsoft.com/office/officeart/2018/2/layout/IconLabelList"/>
    <dgm:cxn modelId="{C10A5DC7-532C-4935-98FB-180B8BD40B17}" type="presParOf" srcId="{50A1885E-3C13-45BE-B168-AD130D266356}" destId="{BD5FEB2A-F5FE-46A0-80FF-1DDAC9F8F940}" srcOrd="1" destOrd="0" presId="urn:microsoft.com/office/officeart/2018/2/layout/IconLabelList"/>
    <dgm:cxn modelId="{2AA4D504-F135-4D6C-9C66-65AB0FFB2FCF}" type="presParOf" srcId="{50A1885E-3C13-45BE-B168-AD130D266356}" destId="{9847FA4E-43E5-4878-91F1-1A5FDF3FE6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51726A-FF3F-419E-9A3E-CE140793AAC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2D9FC36-07CB-46D0-BE4A-47A85B456B54}">
      <dgm:prSet/>
      <dgm:spPr/>
      <dgm:t>
        <a:bodyPr/>
        <a:lstStyle/>
        <a:p>
          <a:r>
            <a:rPr lang="fr-FR" dirty="0" err="1"/>
            <a:t>Early</a:t>
          </a:r>
          <a:r>
            <a:rPr lang="fr-FR" dirty="0"/>
            <a:t> fusion</a:t>
          </a:r>
          <a:endParaRPr lang="en-US" dirty="0"/>
        </a:p>
      </dgm:t>
    </dgm:pt>
    <dgm:pt modelId="{B8613EC4-33D8-4EE9-8174-B0FC23AED90C}" type="parTrans" cxnId="{168957A4-4E5C-49C0-9B38-2BC44BC30F92}">
      <dgm:prSet/>
      <dgm:spPr/>
      <dgm:t>
        <a:bodyPr/>
        <a:lstStyle/>
        <a:p>
          <a:endParaRPr lang="en-US"/>
        </a:p>
      </dgm:t>
    </dgm:pt>
    <dgm:pt modelId="{45554102-6225-4A5A-90EE-C76533E13D70}" type="sibTrans" cxnId="{168957A4-4E5C-49C0-9B38-2BC44BC30F92}">
      <dgm:prSet/>
      <dgm:spPr/>
      <dgm:t>
        <a:bodyPr/>
        <a:lstStyle/>
        <a:p>
          <a:endParaRPr lang="en-US"/>
        </a:p>
      </dgm:t>
    </dgm:pt>
    <dgm:pt modelId="{84969002-9A31-4375-8385-AF986C5D94C6}">
      <dgm:prSet/>
      <dgm:spPr/>
      <dgm:t>
        <a:bodyPr/>
        <a:lstStyle/>
        <a:p>
          <a:r>
            <a:rPr lang="fr-FR"/>
            <a:t>Deep fusion</a:t>
          </a:r>
          <a:endParaRPr lang="en-US"/>
        </a:p>
      </dgm:t>
    </dgm:pt>
    <dgm:pt modelId="{DFDB667E-59F4-483C-9B0E-550B2CA94D10}" type="parTrans" cxnId="{A8EA95DD-0795-4F6D-9E76-3A00A24C44D6}">
      <dgm:prSet/>
      <dgm:spPr/>
      <dgm:t>
        <a:bodyPr/>
        <a:lstStyle/>
        <a:p>
          <a:endParaRPr lang="en-US"/>
        </a:p>
      </dgm:t>
    </dgm:pt>
    <dgm:pt modelId="{159DE00C-DF93-4DB1-A9C2-40A3C73A5A56}" type="sibTrans" cxnId="{A8EA95DD-0795-4F6D-9E76-3A00A24C44D6}">
      <dgm:prSet/>
      <dgm:spPr/>
      <dgm:t>
        <a:bodyPr/>
        <a:lstStyle/>
        <a:p>
          <a:endParaRPr lang="en-US"/>
        </a:p>
      </dgm:t>
    </dgm:pt>
    <dgm:pt modelId="{68E3D228-412F-4E8B-913F-0DCFC5CB2D3F}">
      <dgm:prSet/>
      <dgm:spPr/>
      <dgm:t>
        <a:bodyPr/>
        <a:lstStyle/>
        <a:p>
          <a:r>
            <a:rPr lang="fr-FR" dirty="0" err="1"/>
            <a:t>Late</a:t>
          </a:r>
          <a:r>
            <a:rPr lang="fr-FR" dirty="0"/>
            <a:t> fusion</a:t>
          </a:r>
          <a:endParaRPr lang="en-US" dirty="0"/>
        </a:p>
      </dgm:t>
    </dgm:pt>
    <dgm:pt modelId="{156096D1-C6F4-4CDC-920D-4B9967DB5AB5}" type="parTrans" cxnId="{6BB0F3AF-D272-4C64-BE93-D07D2D61C789}">
      <dgm:prSet/>
      <dgm:spPr/>
      <dgm:t>
        <a:bodyPr/>
        <a:lstStyle/>
        <a:p>
          <a:endParaRPr lang="en-US"/>
        </a:p>
      </dgm:t>
    </dgm:pt>
    <dgm:pt modelId="{547E8BE8-337B-4D01-AFEC-02AF3AAEF94E}" type="sibTrans" cxnId="{6BB0F3AF-D272-4C64-BE93-D07D2D61C789}">
      <dgm:prSet/>
      <dgm:spPr/>
      <dgm:t>
        <a:bodyPr/>
        <a:lstStyle/>
        <a:p>
          <a:endParaRPr lang="en-US"/>
        </a:p>
      </dgm:t>
    </dgm:pt>
    <dgm:pt modelId="{A1F02760-E29F-48FC-99F8-5B9A5D8D1903}">
      <dgm:prSet/>
      <dgm:spPr/>
      <dgm:t>
        <a:bodyPr/>
        <a:lstStyle/>
        <a:p>
          <a:r>
            <a:rPr lang="fr-FR"/>
            <a:t>Hybrid fusion </a:t>
          </a:r>
          <a:endParaRPr lang="en-US"/>
        </a:p>
      </dgm:t>
    </dgm:pt>
    <dgm:pt modelId="{D9D37E8E-6657-4129-80F7-A13CA553BE5E}" type="parTrans" cxnId="{65825B8C-226E-434B-B363-A4038A5488DA}">
      <dgm:prSet/>
      <dgm:spPr/>
      <dgm:t>
        <a:bodyPr/>
        <a:lstStyle/>
        <a:p>
          <a:endParaRPr lang="en-US"/>
        </a:p>
      </dgm:t>
    </dgm:pt>
    <dgm:pt modelId="{DFE4193E-75BF-4E03-8650-65814CCEE3B0}" type="sibTrans" cxnId="{65825B8C-226E-434B-B363-A4038A5488DA}">
      <dgm:prSet/>
      <dgm:spPr/>
      <dgm:t>
        <a:bodyPr/>
        <a:lstStyle/>
        <a:p>
          <a:endParaRPr lang="en-US"/>
        </a:p>
      </dgm:t>
    </dgm:pt>
    <dgm:pt modelId="{37CC7249-069B-428A-826F-345CA149D792}" type="pres">
      <dgm:prSet presAssocID="{8951726A-FF3F-419E-9A3E-CE140793AA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5FEE07-4748-4C0A-A6AA-70B121667880}" type="pres">
      <dgm:prSet presAssocID="{82D9FC36-07CB-46D0-BE4A-47A85B456B54}" presName="hierRoot1" presStyleCnt="0"/>
      <dgm:spPr/>
    </dgm:pt>
    <dgm:pt modelId="{43F08F3E-4D65-4D4B-B9DE-6586E8C56AE5}" type="pres">
      <dgm:prSet presAssocID="{82D9FC36-07CB-46D0-BE4A-47A85B456B54}" presName="composite" presStyleCnt="0"/>
      <dgm:spPr/>
    </dgm:pt>
    <dgm:pt modelId="{804B9820-C6E7-40C3-A8A9-4077E82E1BE3}" type="pres">
      <dgm:prSet presAssocID="{82D9FC36-07CB-46D0-BE4A-47A85B456B54}" presName="background" presStyleLbl="node0" presStyleIdx="0" presStyleCnt="4"/>
      <dgm:spPr/>
    </dgm:pt>
    <dgm:pt modelId="{CF909D03-147D-4B99-A308-985C86BA825E}" type="pres">
      <dgm:prSet presAssocID="{82D9FC36-07CB-46D0-BE4A-47A85B456B54}" presName="text" presStyleLbl="fgAcc0" presStyleIdx="0" presStyleCnt="4">
        <dgm:presLayoutVars>
          <dgm:chPref val="3"/>
        </dgm:presLayoutVars>
      </dgm:prSet>
      <dgm:spPr/>
    </dgm:pt>
    <dgm:pt modelId="{02430493-D60C-44CA-BEB9-6DBBF3CAB397}" type="pres">
      <dgm:prSet presAssocID="{82D9FC36-07CB-46D0-BE4A-47A85B456B54}" presName="hierChild2" presStyleCnt="0"/>
      <dgm:spPr/>
    </dgm:pt>
    <dgm:pt modelId="{D401358E-3876-48B7-BD4D-96BECD25D888}" type="pres">
      <dgm:prSet presAssocID="{84969002-9A31-4375-8385-AF986C5D94C6}" presName="hierRoot1" presStyleCnt="0"/>
      <dgm:spPr/>
    </dgm:pt>
    <dgm:pt modelId="{0FE25ED0-5EC9-4EA8-9157-1F133C31D004}" type="pres">
      <dgm:prSet presAssocID="{84969002-9A31-4375-8385-AF986C5D94C6}" presName="composite" presStyleCnt="0"/>
      <dgm:spPr/>
    </dgm:pt>
    <dgm:pt modelId="{6E200CAE-02F4-435A-9F5F-8DF8FDD57B96}" type="pres">
      <dgm:prSet presAssocID="{84969002-9A31-4375-8385-AF986C5D94C6}" presName="background" presStyleLbl="node0" presStyleIdx="1" presStyleCnt="4"/>
      <dgm:spPr/>
    </dgm:pt>
    <dgm:pt modelId="{4E73F807-594E-445B-A3C2-798643BA863A}" type="pres">
      <dgm:prSet presAssocID="{84969002-9A31-4375-8385-AF986C5D94C6}" presName="text" presStyleLbl="fgAcc0" presStyleIdx="1" presStyleCnt="4">
        <dgm:presLayoutVars>
          <dgm:chPref val="3"/>
        </dgm:presLayoutVars>
      </dgm:prSet>
      <dgm:spPr/>
    </dgm:pt>
    <dgm:pt modelId="{5395F02F-1DFF-448D-B092-18A1E8F41156}" type="pres">
      <dgm:prSet presAssocID="{84969002-9A31-4375-8385-AF986C5D94C6}" presName="hierChild2" presStyleCnt="0"/>
      <dgm:spPr/>
    </dgm:pt>
    <dgm:pt modelId="{7500DB02-92ED-4D54-99D3-3DDD8A8D455A}" type="pres">
      <dgm:prSet presAssocID="{68E3D228-412F-4E8B-913F-0DCFC5CB2D3F}" presName="hierRoot1" presStyleCnt="0"/>
      <dgm:spPr/>
    </dgm:pt>
    <dgm:pt modelId="{1A481D06-7AD5-47E1-9C01-4E69BB071E0D}" type="pres">
      <dgm:prSet presAssocID="{68E3D228-412F-4E8B-913F-0DCFC5CB2D3F}" presName="composite" presStyleCnt="0"/>
      <dgm:spPr/>
    </dgm:pt>
    <dgm:pt modelId="{D7478AB1-966C-4088-8B4A-DB1B22BAD9AA}" type="pres">
      <dgm:prSet presAssocID="{68E3D228-412F-4E8B-913F-0DCFC5CB2D3F}" presName="background" presStyleLbl="node0" presStyleIdx="2" presStyleCnt="4"/>
      <dgm:spPr/>
    </dgm:pt>
    <dgm:pt modelId="{4401BF02-69BF-48E1-A46E-6A96A31B9220}" type="pres">
      <dgm:prSet presAssocID="{68E3D228-412F-4E8B-913F-0DCFC5CB2D3F}" presName="text" presStyleLbl="fgAcc0" presStyleIdx="2" presStyleCnt="4">
        <dgm:presLayoutVars>
          <dgm:chPref val="3"/>
        </dgm:presLayoutVars>
      </dgm:prSet>
      <dgm:spPr/>
    </dgm:pt>
    <dgm:pt modelId="{ED372F10-22DD-4A47-8B92-3E7FE41C5B63}" type="pres">
      <dgm:prSet presAssocID="{68E3D228-412F-4E8B-913F-0DCFC5CB2D3F}" presName="hierChild2" presStyleCnt="0"/>
      <dgm:spPr/>
    </dgm:pt>
    <dgm:pt modelId="{215F4B01-CE58-4182-9F3D-866AB44B7594}" type="pres">
      <dgm:prSet presAssocID="{A1F02760-E29F-48FC-99F8-5B9A5D8D1903}" presName="hierRoot1" presStyleCnt="0"/>
      <dgm:spPr/>
    </dgm:pt>
    <dgm:pt modelId="{E4A31AA2-1C74-424E-B98E-81C89EF3BDAE}" type="pres">
      <dgm:prSet presAssocID="{A1F02760-E29F-48FC-99F8-5B9A5D8D1903}" presName="composite" presStyleCnt="0"/>
      <dgm:spPr/>
    </dgm:pt>
    <dgm:pt modelId="{33D76180-5F3B-41E8-83B5-CC336F994BA3}" type="pres">
      <dgm:prSet presAssocID="{A1F02760-E29F-48FC-99F8-5B9A5D8D1903}" presName="background" presStyleLbl="node0" presStyleIdx="3" presStyleCnt="4"/>
      <dgm:spPr/>
    </dgm:pt>
    <dgm:pt modelId="{63FE338A-937A-4BAD-8783-FA5A337BD25A}" type="pres">
      <dgm:prSet presAssocID="{A1F02760-E29F-48FC-99F8-5B9A5D8D1903}" presName="text" presStyleLbl="fgAcc0" presStyleIdx="3" presStyleCnt="4">
        <dgm:presLayoutVars>
          <dgm:chPref val="3"/>
        </dgm:presLayoutVars>
      </dgm:prSet>
      <dgm:spPr/>
    </dgm:pt>
    <dgm:pt modelId="{E114AF18-A972-4534-97EA-7D3C05BB1ACF}" type="pres">
      <dgm:prSet presAssocID="{A1F02760-E29F-48FC-99F8-5B9A5D8D1903}" presName="hierChild2" presStyleCnt="0"/>
      <dgm:spPr/>
    </dgm:pt>
  </dgm:ptLst>
  <dgm:cxnLst>
    <dgm:cxn modelId="{65825B8C-226E-434B-B363-A4038A5488DA}" srcId="{8951726A-FF3F-419E-9A3E-CE140793AAC0}" destId="{A1F02760-E29F-48FC-99F8-5B9A5D8D1903}" srcOrd="3" destOrd="0" parTransId="{D9D37E8E-6657-4129-80F7-A13CA553BE5E}" sibTransId="{DFE4193E-75BF-4E03-8650-65814CCEE3B0}"/>
    <dgm:cxn modelId="{168957A4-4E5C-49C0-9B38-2BC44BC30F92}" srcId="{8951726A-FF3F-419E-9A3E-CE140793AAC0}" destId="{82D9FC36-07CB-46D0-BE4A-47A85B456B54}" srcOrd="0" destOrd="0" parTransId="{B8613EC4-33D8-4EE9-8174-B0FC23AED90C}" sibTransId="{45554102-6225-4A5A-90EE-C76533E13D70}"/>
    <dgm:cxn modelId="{6BB0F3AF-D272-4C64-BE93-D07D2D61C789}" srcId="{8951726A-FF3F-419E-9A3E-CE140793AAC0}" destId="{68E3D228-412F-4E8B-913F-0DCFC5CB2D3F}" srcOrd="2" destOrd="0" parTransId="{156096D1-C6F4-4CDC-920D-4B9967DB5AB5}" sibTransId="{547E8BE8-337B-4D01-AFEC-02AF3AAEF94E}"/>
    <dgm:cxn modelId="{10AD35BE-4C0F-4B5C-B157-DFD6C5467775}" type="presOf" srcId="{8951726A-FF3F-419E-9A3E-CE140793AAC0}" destId="{37CC7249-069B-428A-826F-345CA149D792}" srcOrd="0" destOrd="0" presId="urn:microsoft.com/office/officeart/2005/8/layout/hierarchy1"/>
    <dgm:cxn modelId="{5B37F6C4-4F9D-4AC1-BED4-A51D8BE7F081}" type="presOf" srcId="{84969002-9A31-4375-8385-AF986C5D94C6}" destId="{4E73F807-594E-445B-A3C2-798643BA863A}" srcOrd="0" destOrd="0" presId="urn:microsoft.com/office/officeart/2005/8/layout/hierarchy1"/>
    <dgm:cxn modelId="{A8EA95DD-0795-4F6D-9E76-3A00A24C44D6}" srcId="{8951726A-FF3F-419E-9A3E-CE140793AAC0}" destId="{84969002-9A31-4375-8385-AF986C5D94C6}" srcOrd="1" destOrd="0" parTransId="{DFDB667E-59F4-483C-9B0E-550B2CA94D10}" sibTransId="{159DE00C-DF93-4DB1-A9C2-40A3C73A5A56}"/>
    <dgm:cxn modelId="{C8B0D5E4-D7B6-43E3-A082-4C99057BAA89}" type="presOf" srcId="{A1F02760-E29F-48FC-99F8-5B9A5D8D1903}" destId="{63FE338A-937A-4BAD-8783-FA5A337BD25A}" srcOrd="0" destOrd="0" presId="urn:microsoft.com/office/officeart/2005/8/layout/hierarchy1"/>
    <dgm:cxn modelId="{E77BBDE9-A838-4393-BFB9-6B0B7AB38161}" type="presOf" srcId="{68E3D228-412F-4E8B-913F-0DCFC5CB2D3F}" destId="{4401BF02-69BF-48E1-A46E-6A96A31B9220}" srcOrd="0" destOrd="0" presId="urn:microsoft.com/office/officeart/2005/8/layout/hierarchy1"/>
    <dgm:cxn modelId="{CDB41FF3-2573-4B92-B2EE-6739DCB3C029}" type="presOf" srcId="{82D9FC36-07CB-46D0-BE4A-47A85B456B54}" destId="{CF909D03-147D-4B99-A308-985C86BA825E}" srcOrd="0" destOrd="0" presId="urn:microsoft.com/office/officeart/2005/8/layout/hierarchy1"/>
    <dgm:cxn modelId="{AFFC4C48-E384-418B-B0AB-02EEE41F9194}" type="presParOf" srcId="{37CC7249-069B-428A-826F-345CA149D792}" destId="{9F5FEE07-4748-4C0A-A6AA-70B121667880}" srcOrd="0" destOrd="0" presId="urn:microsoft.com/office/officeart/2005/8/layout/hierarchy1"/>
    <dgm:cxn modelId="{579CBB1D-81A4-4A5B-9F75-C6BB48103846}" type="presParOf" srcId="{9F5FEE07-4748-4C0A-A6AA-70B121667880}" destId="{43F08F3E-4D65-4D4B-B9DE-6586E8C56AE5}" srcOrd="0" destOrd="0" presId="urn:microsoft.com/office/officeart/2005/8/layout/hierarchy1"/>
    <dgm:cxn modelId="{A37A948C-5F18-48D7-90FC-47510A48BA87}" type="presParOf" srcId="{43F08F3E-4D65-4D4B-B9DE-6586E8C56AE5}" destId="{804B9820-C6E7-40C3-A8A9-4077E82E1BE3}" srcOrd="0" destOrd="0" presId="urn:microsoft.com/office/officeart/2005/8/layout/hierarchy1"/>
    <dgm:cxn modelId="{D6AF6F74-BF6E-4289-8550-2A3007A84A89}" type="presParOf" srcId="{43F08F3E-4D65-4D4B-B9DE-6586E8C56AE5}" destId="{CF909D03-147D-4B99-A308-985C86BA825E}" srcOrd="1" destOrd="0" presId="urn:microsoft.com/office/officeart/2005/8/layout/hierarchy1"/>
    <dgm:cxn modelId="{422122D5-EC0C-4676-AC84-2F8E37761AA7}" type="presParOf" srcId="{9F5FEE07-4748-4C0A-A6AA-70B121667880}" destId="{02430493-D60C-44CA-BEB9-6DBBF3CAB397}" srcOrd="1" destOrd="0" presId="urn:microsoft.com/office/officeart/2005/8/layout/hierarchy1"/>
    <dgm:cxn modelId="{BE7C6D43-843F-4687-AC0F-D5E06C9F2205}" type="presParOf" srcId="{37CC7249-069B-428A-826F-345CA149D792}" destId="{D401358E-3876-48B7-BD4D-96BECD25D888}" srcOrd="1" destOrd="0" presId="urn:microsoft.com/office/officeart/2005/8/layout/hierarchy1"/>
    <dgm:cxn modelId="{25F0A421-4503-4850-851A-80FE714C16D9}" type="presParOf" srcId="{D401358E-3876-48B7-BD4D-96BECD25D888}" destId="{0FE25ED0-5EC9-4EA8-9157-1F133C31D004}" srcOrd="0" destOrd="0" presId="urn:microsoft.com/office/officeart/2005/8/layout/hierarchy1"/>
    <dgm:cxn modelId="{F1A7C9D9-5F11-4D2B-B3F7-81955E75EEC1}" type="presParOf" srcId="{0FE25ED0-5EC9-4EA8-9157-1F133C31D004}" destId="{6E200CAE-02F4-435A-9F5F-8DF8FDD57B96}" srcOrd="0" destOrd="0" presId="urn:microsoft.com/office/officeart/2005/8/layout/hierarchy1"/>
    <dgm:cxn modelId="{5A571135-4B50-4B3A-A40D-AD5660E8D559}" type="presParOf" srcId="{0FE25ED0-5EC9-4EA8-9157-1F133C31D004}" destId="{4E73F807-594E-445B-A3C2-798643BA863A}" srcOrd="1" destOrd="0" presId="urn:microsoft.com/office/officeart/2005/8/layout/hierarchy1"/>
    <dgm:cxn modelId="{CA35A68F-9FD7-462D-8426-65BBDA1DB925}" type="presParOf" srcId="{D401358E-3876-48B7-BD4D-96BECD25D888}" destId="{5395F02F-1DFF-448D-B092-18A1E8F41156}" srcOrd="1" destOrd="0" presId="urn:microsoft.com/office/officeart/2005/8/layout/hierarchy1"/>
    <dgm:cxn modelId="{9721E189-050F-4CF1-97CB-865713DA5C69}" type="presParOf" srcId="{37CC7249-069B-428A-826F-345CA149D792}" destId="{7500DB02-92ED-4D54-99D3-3DDD8A8D455A}" srcOrd="2" destOrd="0" presId="urn:microsoft.com/office/officeart/2005/8/layout/hierarchy1"/>
    <dgm:cxn modelId="{F4BDBFCB-663E-4A34-81F9-DF5C4605DED0}" type="presParOf" srcId="{7500DB02-92ED-4D54-99D3-3DDD8A8D455A}" destId="{1A481D06-7AD5-47E1-9C01-4E69BB071E0D}" srcOrd="0" destOrd="0" presId="urn:microsoft.com/office/officeart/2005/8/layout/hierarchy1"/>
    <dgm:cxn modelId="{DB54408E-063F-4F10-A98B-0BA1AFF8FADA}" type="presParOf" srcId="{1A481D06-7AD5-47E1-9C01-4E69BB071E0D}" destId="{D7478AB1-966C-4088-8B4A-DB1B22BAD9AA}" srcOrd="0" destOrd="0" presId="urn:microsoft.com/office/officeart/2005/8/layout/hierarchy1"/>
    <dgm:cxn modelId="{6B5EC75B-719D-467B-898B-8EABAF8BC85B}" type="presParOf" srcId="{1A481D06-7AD5-47E1-9C01-4E69BB071E0D}" destId="{4401BF02-69BF-48E1-A46E-6A96A31B9220}" srcOrd="1" destOrd="0" presId="urn:microsoft.com/office/officeart/2005/8/layout/hierarchy1"/>
    <dgm:cxn modelId="{BD19CCB9-CCC4-45DE-BA90-06CFFD1F86BC}" type="presParOf" srcId="{7500DB02-92ED-4D54-99D3-3DDD8A8D455A}" destId="{ED372F10-22DD-4A47-8B92-3E7FE41C5B63}" srcOrd="1" destOrd="0" presId="urn:microsoft.com/office/officeart/2005/8/layout/hierarchy1"/>
    <dgm:cxn modelId="{C208EA98-2B0B-4CD2-B3A3-CAD439CD298C}" type="presParOf" srcId="{37CC7249-069B-428A-826F-345CA149D792}" destId="{215F4B01-CE58-4182-9F3D-866AB44B7594}" srcOrd="3" destOrd="0" presId="urn:microsoft.com/office/officeart/2005/8/layout/hierarchy1"/>
    <dgm:cxn modelId="{E2F26EC5-9D0C-413B-9D40-224B098FCF58}" type="presParOf" srcId="{215F4B01-CE58-4182-9F3D-866AB44B7594}" destId="{E4A31AA2-1C74-424E-B98E-81C89EF3BDAE}" srcOrd="0" destOrd="0" presId="urn:microsoft.com/office/officeart/2005/8/layout/hierarchy1"/>
    <dgm:cxn modelId="{B4574E7E-D96A-4CFA-B0FD-998D25D23A24}" type="presParOf" srcId="{E4A31AA2-1C74-424E-B98E-81C89EF3BDAE}" destId="{33D76180-5F3B-41E8-83B5-CC336F994BA3}" srcOrd="0" destOrd="0" presId="urn:microsoft.com/office/officeart/2005/8/layout/hierarchy1"/>
    <dgm:cxn modelId="{14DAFF4A-9F76-4BB9-8088-CC224B4D9A68}" type="presParOf" srcId="{E4A31AA2-1C74-424E-B98E-81C89EF3BDAE}" destId="{63FE338A-937A-4BAD-8783-FA5A337BD25A}" srcOrd="1" destOrd="0" presId="urn:microsoft.com/office/officeart/2005/8/layout/hierarchy1"/>
    <dgm:cxn modelId="{4B767AAC-199E-42BE-AEC5-466B0D0E1894}" type="presParOf" srcId="{215F4B01-CE58-4182-9F3D-866AB44B7594}" destId="{E114AF18-A972-4534-97EA-7D3C05BB1A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F4AE40-3F90-4F8D-8D11-00CA108039E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C33D17-86EB-4EC3-93C1-D0AA042FDFFF}">
      <dgm:prSet/>
      <dgm:spPr/>
      <dgm:t>
        <a:bodyPr/>
        <a:lstStyle/>
        <a:p>
          <a:r>
            <a:rPr lang="fr-FR" dirty="0"/>
            <a:t>Data représentation</a:t>
          </a:r>
          <a:endParaRPr lang="en-US" dirty="0"/>
        </a:p>
      </dgm:t>
    </dgm:pt>
    <dgm:pt modelId="{A910E5E0-CD8B-4827-9145-31C487EB93ED}" type="parTrans" cxnId="{4E00CC07-D55D-4D8F-8365-BD49793A4001}">
      <dgm:prSet/>
      <dgm:spPr/>
      <dgm:t>
        <a:bodyPr/>
        <a:lstStyle/>
        <a:p>
          <a:endParaRPr lang="en-US"/>
        </a:p>
      </dgm:t>
    </dgm:pt>
    <dgm:pt modelId="{6A537D4D-D99E-4DF8-8FE8-28795F802728}" type="sibTrans" cxnId="{4E00CC07-D55D-4D8F-8365-BD49793A4001}">
      <dgm:prSet/>
      <dgm:spPr/>
      <dgm:t>
        <a:bodyPr/>
        <a:lstStyle/>
        <a:p>
          <a:endParaRPr lang="en-US"/>
        </a:p>
      </dgm:t>
    </dgm:pt>
    <dgm:pt modelId="{C8358AFC-3E02-4C33-A361-AC9F554C40D2}">
      <dgm:prSet/>
      <dgm:spPr/>
      <dgm:t>
        <a:bodyPr/>
        <a:lstStyle/>
        <a:p>
          <a:r>
            <a:rPr lang="fr-FR"/>
            <a:t>Data translation</a:t>
          </a:r>
          <a:endParaRPr lang="en-US"/>
        </a:p>
      </dgm:t>
    </dgm:pt>
    <dgm:pt modelId="{F23B8FC8-2B48-46C6-AC47-DE503E8D9F98}" type="parTrans" cxnId="{924C9F50-B48D-4C98-B48C-4B164A68568B}">
      <dgm:prSet/>
      <dgm:spPr/>
      <dgm:t>
        <a:bodyPr/>
        <a:lstStyle/>
        <a:p>
          <a:endParaRPr lang="en-US"/>
        </a:p>
      </dgm:t>
    </dgm:pt>
    <dgm:pt modelId="{D269BFDB-D7C1-4F3A-A74B-89CDE354786C}" type="sibTrans" cxnId="{924C9F50-B48D-4C98-B48C-4B164A68568B}">
      <dgm:prSet/>
      <dgm:spPr/>
      <dgm:t>
        <a:bodyPr/>
        <a:lstStyle/>
        <a:p>
          <a:endParaRPr lang="en-US"/>
        </a:p>
      </dgm:t>
    </dgm:pt>
    <dgm:pt modelId="{1A798C19-9E88-47C9-8665-74333A327F61}">
      <dgm:prSet/>
      <dgm:spPr/>
      <dgm:t>
        <a:bodyPr/>
        <a:lstStyle/>
        <a:p>
          <a:r>
            <a:rPr lang="fr-FR" dirty="0"/>
            <a:t>Data </a:t>
          </a:r>
          <a:r>
            <a:rPr lang="fr-FR" dirty="0" err="1"/>
            <a:t>Alignment</a:t>
          </a:r>
          <a:endParaRPr lang="en-US" dirty="0"/>
        </a:p>
      </dgm:t>
    </dgm:pt>
    <dgm:pt modelId="{B4AC42FC-7065-4EBD-94F6-73BD5F903F90}" type="parTrans" cxnId="{69F9CB29-D138-45C0-B2D4-A97E22CCC6A6}">
      <dgm:prSet/>
      <dgm:spPr/>
      <dgm:t>
        <a:bodyPr/>
        <a:lstStyle/>
        <a:p>
          <a:endParaRPr lang="en-US"/>
        </a:p>
      </dgm:t>
    </dgm:pt>
    <dgm:pt modelId="{17A99CA1-4AFE-4886-873E-4B7042128C5F}" type="sibTrans" cxnId="{69F9CB29-D138-45C0-B2D4-A97E22CCC6A6}">
      <dgm:prSet/>
      <dgm:spPr/>
      <dgm:t>
        <a:bodyPr/>
        <a:lstStyle/>
        <a:p>
          <a:endParaRPr lang="en-US"/>
        </a:p>
      </dgm:t>
    </dgm:pt>
    <dgm:pt modelId="{33526A63-4989-42CF-B779-D00B71A7EF59}" type="pres">
      <dgm:prSet presAssocID="{E3F4AE40-3F90-4F8D-8D11-00CA108039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8153BD-25FD-471B-8267-1BE5ADDF187A}" type="pres">
      <dgm:prSet presAssocID="{1CC33D17-86EB-4EC3-93C1-D0AA042FDFFF}" presName="hierRoot1" presStyleCnt="0"/>
      <dgm:spPr/>
    </dgm:pt>
    <dgm:pt modelId="{3AB75ADC-51B3-4351-B3D4-68AB2EE58288}" type="pres">
      <dgm:prSet presAssocID="{1CC33D17-86EB-4EC3-93C1-D0AA042FDFFF}" presName="composite" presStyleCnt="0"/>
      <dgm:spPr/>
    </dgm:pt>
    <dgm:pt modelId="{FAFC9E05-6EA5-460D-AC12-599AC99C6018}" type="pres">
      <dgm:prSet presAssocID="{1CC33D17-86EB-4EC3-93C1-D0AA042FDFFF}" presName="background" presStyleLbl="node0" presStyleIdx="0" presStyleCnt="3"/>
      <dgm:spPr/>
    </dgm:pt>
    <dgm:pt modelId="{E75C9F96-14F9-4935-A54F-70E53C7DF36C}" type="pres">
      <dgm:prSet presAssocID="{1CC33D17-86EB-4EC3-93C1-D0AA042FDFFF}" presName="text" presStyleLbl="fgAcc0" presStyleIdx="0" presStyleCnt="3">
        <dgm:presLayoutVars>
          <dgm:chPref val="3"/>
        </dgm:presLayoutVars>
      </dgm:prSet>
      <dgm:spPr/>
    </dgm:pt>
    <dgm:pt modelId="{D426E975-9151-45E1-9683-4FB786883C02}" type="pres">
      <dgm:prSet presAssocID="{1CC33D17-86EB-4EC3-93C1-D0AA042FDFFF}" presName="hierChild2" presStyleCnt="0"/>
      <dgm:spPr/>
    </dgm:pt>
    <dgm:pt modelId="{5408F4CC-5166-4D59-A996-D477A69829D6}" type="pres">
      <dgm:prSet presAssocID="{C8358AFC-3E02-4C33-A361-AC9F554C40D2}" presName="hierRoot1" presStyleCnt="0"/>
      <dgm:spPr/>
    </dgm:pt>
    <dgm:pt modelId="{FD6447F1-BBA9-4944-8B04-7E08CDB4C2FA}" type="pres">
      <dgm:prSet presAssocID="{C8358AFC-3E02-4C33-A361-AC9F554C40D2}" presName="composite" presStyleCnt="0"/>
      <dgm:spPr/>
    </dgm:pt>
    <dgm:pt modelId="{ED2A4AAE-5A1C-462D-8878-09B11FC049CE}" type="pres">
      <dgm:prSet presAssocID="{C8358AFC-3E02-4C33-A361-AC9F554C40D2}" presName="background" presStyleLbl="node0" presStyleIdx="1" presStyleCnt="3"/>
      <dgm:spPr/>
    </dgm:pt>
    <dgm:pt modelId="{50A09759-FE6E-4769-AC9B-D52EFFBAF83C}" type="pres">
      <dgm:prSet presAssocID="{C8358AFC-3E02-4C33-A361-AC9F554C40D2}" presName="text" presStyleLbl="fgAcc0" presStyleIdx="1" presStyleCnt="3">
        <dgm:presLayoutVars>
          <dgm:chPref val="3"/>
        </dgm:presLayoutVars>
      </dgm:prSet>
      <dgm:spPr/>
    </dgm:pt>
    <dgm:pt modelId="{55380F03-8ACF-4F8A-A341-2E90E3022ABE}" type="pres">
      <dgm:prSet presAssocID="{C8358AFC-3E02-4C33-A361-AC9F554C40D2}" presName="hierChild2" presStyleCnt="0"/>
      <dgm:spPr/>
    </dgm:pt>
    <dgm:pt modelId="{BE9B4DC0-6C20-44A8-9C53-A2C72093C211}" type="pres">
      <dgm:prSet presAssocID="{1A798C19-9E88-47C9-8665-74333A327F61}" presName="hierRoot1" presStyleCnt="0"/>
      <dgm:spPr/>
    </dgm:pt>
    <dgm:pt modelId="{CDDAC1A1-4410-4B5A-BD8E-F02361A4C75D}" type="pres">
      <dgm:prSet presAssocID="{1A798C19-9E88-47C9-8665-74333A327F61}" presName="composite" presStyleCnt="0"/>
      <dgm:spPr/>
    </dgm:pt>
    <dgm:pt modelId="{3F40AA91-2C8C-45CE-A85F-BAC8DB16CC4D}" type="pres">
      <dgm:prSet presAssocID="{1A798C19-9E88-47C9-8665-74333A327F61}" presName="background" presStyleLbl="node0" presStyleIdx="2" presStyleCnt="3"/>
      <dgm:spPr/>
    </dgm:pt>
    <dgm:pt modelId="{A078F5CD-AED8-4A06-AB3D-A9B3055275D2}" type="pres">
      <dgm:prSet presAssocID="{1A798C19-9E88-47C9-8665-74333A327F61}" presName="text" presStyleLbl="fgAcc0" presStyleIdx="2" presStyleCnt="3">
        <dgm:presLayoutVars>
          <dgm:chPref val="3"/>
        </dgm:presLayoutVars>
      </dgm:prSet>
      <dgm:spPr/>
    </dgm:pt>
    <dgm:pt modelId="{1BACDE39-0585-4DE1-8CBC-527D4FCB3D17}" type="pres">
      <dgm:prSet presAssocID="{1A798C19-9E88-47C9-8665-74333A327F61}" presName="hierChild2" presStyleCnt="0"/>
      <dgm:spPr/>
    </dgm:pt>
  </dgm:ptLst>
  <dgm:cxnLst>
    <dgm:cxn modelId="{4E00CC07-D55D-4D8F-8365-BD49793A4001}" srcId="{E3F4AE40-3F90-4F8D-8D11-00CA108039E5}" destId="{1CC33D17-86EB-4EC3-93C1-D0AA042FDFFF}" srcOrd="0" destOrd="0" parTransId="{A910E5E0-CD8B-4827-9145-31C487EB93ED}" sibTransId="{6A537D4D-D99E-4DF8-8FE8-28795F802728}"/>
    <dgm:cxn modelId="{69F9CB29-D138-45C0-B2D4-A97E22CCC6A6}" srcId="{E3F4AE40-3F90-4F8D-8D11-00CA108039E5}" destId="{1A798C19-9E88-47C9-8665-74333A327F61}" srcOrd="2" destOrd="0" parTransId="{B4AC42FC-7065-4EBD-94F6-73BD5F903F90}" sibTransId="{17A99CA1-4AFE-4886-873E-4B7042128C5F}"/>
    <dgm:cxn modelId="{4A20762A-C797-41CA-A0C9-4F4B6FF18915}" type="presOf" srcId="{1A798C19-9E88-47C9-8665-74333A327F61}" destId="{A078F5CD-AED8-4A06-AB3D-A9B3055275D2}" srcOrd="0" destOrd="0" presId="urn:microsoft.com/office/officeart/2005/8/layout/hierarchy1"/>
    <dgm:cxn modelId="{FD201C2F-E9A6-4C9C-A96A-D76D5AA42E1F}" type="presOf" srcId="{E3F4AE40-3F90-4F8D-8D11-00CA108039E5}" destId="{33526A63-4989-42CF-B779-D00B71A7EF59}" srcOrd="0" destOrd="0" presId="urn:microsoft.com/office/officeart/2005/8/layout/hierarchy1"/>
    <dgm:cxn modelId="{23549C3A-038D-41A4-9DFD-E8AC7A8D154C}" type="presOf" srcId="{1CC33D17-86EB-4EC3-93C1-D0AA042FDFFF}" destId="{E75C9F96-14F9-4935-A54F-70E53C7DF36C}" srcOrd="0" destOrd="0" presId="urn:microsoft.com/office/officeart/2005/8/layout/hierarchy1"/>
    <dgm:cxn modelId="{924C9F50-B48D-4C98-B48C-4B164A68568B}" srcId="{E3F4AE40-3F90-4F8D-8D11-00CA108039E5}" destId="{C8358AFC-3E02-4C33-A361-AC9F554C40D2}" srcOrd="1" destOrd="0" parTransId="{F23B8FC8-2B48-46C6-AC47-DE503E8D9F98}" sibTransId="{D269BFDB-D7C1-4F3A-A74B-89CDE354786C}"/>
    <dgm:cxn modelId="{DA52DBD6-A251-4FDE-8C21-5424BFFE25BE}" type="presOf" srcId="{C8358AFC-3E02-4C33-A361-AC9F554C40D2}" destId="{50A09759-FE6E-4769-AC9B-D52EFFBAF83C}" srcOrd="0" destOrd="0" presId="urn:microsoft.com/office/officeart/2005/8/layout/hierarchy1"/>
    <dgm:cxn modelId="{D9F8E4D5-04C4-4C64-83D4-C37BA24021A6}" type="presParOf" srcId="{33526A63-4989-42CF-B779-D00B71A7EF59}" destId="{3F8153BD-25FD-471B-8267-1BE5ADDF187A}" srcOrd="0" destOrd="0" presId="urn:microsoft.com/office/officeart/2005/8/layout/hierarchy1"/>
    <dgm:cxn modelId="{A36C0123-D153-4344-9288-89984B539794}" type="presParOf" srcId="{3F8153BD-25FD-471B-8267-1BE5ADDF187A}" destId="{3AB75ADC-51B3-4351-B3D4-68AB2EE58288}" srcOrd="0" destOrd="0" presId="urn:microsoft.com/office/officeart/2005/8/layout/hierarchy1"/>
    <dgm:cxn modelId="{4AD5BE13-6A85-4231-9249-0BB287D3D140}" type="presParOf" srcId="{3AB75ADC-51B3-4351-B3D4-68AB2EE58288}" destId="{FAFC9E05-6EA5-460D-AC12-599AC99C6018}" srcOrd="0" destOrd="0" presId="urn:microsoft.com/office/officeart/2005/8/layout/hierarchy1"/>
    <dgm:cxn modelId="{A4147A99-3760-4744-B887-88ADF66DDDE4}" type="presParOf" srcId="{3AB75ADC-51B3-4351-B3D4-68AB2EE58288}" destId="{E75C9F96-14F9-4935-A54F-70E53C7DF36C}" srcOrd="1" destOrd="0" presId="urn:microsoft.com/office/officeart/2005/8/layout/hierarchy1"/>
    <dgm:cxn modelId="{061E0C0D-1F9F-4CDD-8611-B5C23CFD4C47}" type="presParOf" srcId="{3F8153BD-25FD-471B-8267-1BE5ADDF187A}" destId="{D426E975-9151-45E1-9683-4FB786883C02}" srcOrd="1" destOrd="0" presId="urn:microsoft.com/office/officeart/2005/8/layout/hierarchy1"/>
    <dgm:cxn modelId="{2563AEF3-3746-4F57-AFF1-8444B39D5880}" type="presParOf" srcId="{33526A63-4989-42CF-B779-D00B71A7EF59}" destId="{5408F4CC-5166-4D59-A996-D477A69829D6}" srcOrd="1" destOrd="0" presId="urn:microsoft.com/office/officeart/2005/8/layout/hierarchy1"/>
    <dgm:cxn modelId="{43C72610-E498-4001-B816-3846C6ED0BA2}" type="presParOf" srcId="{5408F4CC-5166-4D59-A996-D477A69829D6}" destId="{FD6447F1-BBA9-4944-8B04-7E08CDB4C2FA}" srcOrd="0" destOrd="0" presId="urn:microsoft.com/office/officeart/2005/8/layout/hierarchy1"/>
    <dgm:cxn modelId="{41DD93BE-F1E9-4512-83DD-B7735F52DA52}" type="presParOf" srcId="{FD6447F1-BBA9-4944-8B04-7E08CDB4C2FA}" destId="{ED2A4AAE-5A1C-462D-8878-09B11FC049CE}" srcOrd="0" destOrd="0" presId="urn:microsoft.com/office/officeart/2005/8/layout/hierarchy1"/>
    <dgm:cxn modelId="{667E2FA1-C933-498D-AAB0-23F9A301F228}" type="presParOf" srcId="{FD6447F1-BBA9-4944-8B04-7E08CDB4C2FA}" destId="{50A09759-FE6E-4769-AC9B-D52EFFBAF83C}" srcOrd="1" destOrd="0" presId="urn:microsoft.com/office/officeart/2005/8/layout/hierarchy1"/>
    <dgm:cxn modelId="{0A80EE8A-C47A-4149-8606-8A35F9D4AED9}" type="presParOf" srcId="{5408F4CC-5166-4D59-A996-D477A69829D6}" destId="{55380F03-8ACF-4F8A-A341-2E90E3022ABE}" srcOrd="1" destOrd="0" presId="urn:microsoft.com/office/officeart/2005/8/layout/hierarchy1"/>
    <dgm:cxn modelId="{ED2B9B44-03C1-4CCB-BE4D-175552EC8CC6}" type="presParOf" srcId="{33526A63-4989-42CF-B779-D00B71A7EF59}" destId="{BE9B4DC0-6C20-44A8-9C53-A2C72093C211}" srcOrd="2" destOrd="0" presId="urn:microsoft.com/office/officeart/2005/8/layout/hierarchy1"/>
    <dgm:cxn modelId="{C0919EE8-B513-47D5-9666-0EDAEF91FCB6}" type="presParOf" srcId="{BE9B4DC0-6C20-44A8-9C53-A2C72093C211}" destId="{CDDAC1A1-4410-4B5A-BD8E-F02361A4C75D}" srcOrd="0" destOrd="0" presId="urn:microsoft.com/office/officeart/2005/8/layout/hierarchy1"/>
    <dgm:cxn modelId="{C8302FA4-7800-4B3B-A4F0-CDF4D62E008C}" type="presParOf" srcId="{CDDAC1A1-4410-4B5A-BD8E-F02361A4C75D}" destId="{3F40AA91-2C8C-45CE-A85F-BAC8DB16CC4D}" srcOrd="0" destOrd="0" presId="urn:microsoft.com/office/officeart/2005/8/layout/hierarchy1"/>
    <dgm:cxn modelId="{DD3AAC8F-FB7B-41D5-AB61-8F75B7168FC9}" type="presParOf" srcId="{CDDAC1A1-4410-4B5A-BD8E-F02361A4C75D}" destId="{A078F5CD-AED8-4A06-AB3D-A9B3055275D2}" srcOrd="1" destOrd="0" presId="urn:microsoft.com/office/officeart/2005/8/layout/hierarchy1"/>
    <dgm:cxn modelId="{937104C1-77AF-467E-B2AB-A6BFC1CF3FCC}" type="presParOf" srcId="{BE9B4DC0-6C20-44A8-9C53-A2C72093C211}" destId="{1BACDE39-0585-4DE1-8CBC-527D4FCB3D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ECE2B-2273-4143-8305-E4D351ED2994}">
      <dsp:nvSpPr>
        <dsp:cNvPr id="0" name=""/>
        <dsp:cNvSpPr/>
      </dsp:nvSpPr>
      <dsp:spPr>
        <a:xfrm>
          <a:off x="828914" y="96947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9DBD9-5D6D-4237-B6C8-B66DBCEBA4AF}">
      <dsp:nvSpPr>
        <dsp:cNvPr id="0" name=""/>
        <dsp:cNvSpPr/>
      </dsp:nvSpPr>
      <dsp:spPr>
        <a:xfrm>
          <a:off x="333914" y="2049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Fusion</a:t>
          </a:r>
          <a:r>
            <a:rPr lang="fr-FR" sz="2000" kern="1200" dirty="0"/>
            <a:t> </a:t>
          </a:r>
          <a:endParaRPr lang="en-US" sz="2000" kern="1200" dirty="0"/>
        </a:p>
      </dsp:txBody>
      <dsp:txXfrm>
        <a:off x="333914" y="2049612"/>
        <a:ext cx="1800000" cy="720000"/>
      </dsp:txXfrm>
    </dsp:sp>
    <dsp:sp modelId="{EDD65A80-8423-4DF1-8E79-6EDF70057F8A}">
      <dsp:nvSpPr>
        <dsp:cNvPr id="0" name=""/>
        <dsp:cNvSpPr/>
      </dsp:nvSpPr>
      <dsp:spPr>
        <a:xfrm>
          <a:off x="2943914" y="96947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9234B-9CF4-4102-A132-90645053C218}">
      <dsp:nvSpPr>
        <dsp:cNvPr id="0" name=""/>
        <dsp:cNvSpPr/>
      </dsp:nvSpPr>
      <dsp:spPr>
        <a:xfrm>
          <a:off x="2448914" y="2049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Représentation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2448914" y="2049612"/>
        <a:ext cx="1800000" cy="720000"/>
      </dsp:txXfrm>
    </dsp:sp>
    <dsp:sp modelId="{3EF79444-47EA-47DA-AE09-DD57D8E9623F}">
      <dsp:nvSpPr>
        <dsp:cNvPr id="0" name=""/>
        <dsp:cNvSpPr/>
      </dsp:nvSpPr>
      <dsp:spPr>
        <a:xfrm>
          <a:off x="5058914" y="96947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143A5-8353-4652-BB68-409B3B0CE23D}">
      <dsp:nvSpPr>
        <dsp:cNvPr id="0" name=""/>
        <dsp:cNvSpPr/>
      </dsp:nvSpPr>
      <dsp:spPr>
        <a:xfrm>
          <a:off x="4563914" y="2049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Traduction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4563914" y="2049612"/>
        <a:ext cx="1800000" cy="720000"/>
      </dsp:txXfrm>
    </dsp:sp>
    <dsp:sp modelId="{7FA499EB-A690-47AE-877C-1F6C506686C9}">
      <dsp:nvSpPr>
        <dsp:cNvPr id="0" name=""/>
        <dsp:cNvSpPr/>
      </dsp:nvSpPr>
      <dsp:spPr>
        <a:xfrm>
          <a:off x="7173914" y="96947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6B2CE-5C63-42C8-AB97-2BD91D6255CF}">
      <dsp:nvSpPr>
        <dsp:cNvPr id="0" name=""/>
        <dsp:cNvSpPr/>
      </dsp:nvSpPr>
      <dsp:spPr>
        <a:xfrm>
          <a:off x="6678914" y="2049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Alignement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6678914" y="2049612"/>
        <a:ext cx="1800000" cy="720000"/>
      </dsp:txXfrm>
    </dsp:sp>
    <dsp:sp modelId="{96CFD845-DAFC-4FB3-BB8D-D7DDB2659D25}">
      <dsp:nvSpPr>
        <dsp:cNvPr id="0" name=""/>
        <dsp:cNvSpPr/>
      </dsp:nvSpPr>
      <dsp:spPr>
        <a:xfrm>
          <a:off x="9288914" y="96947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7FA4E-43E5-4878-91F1-1A5FDF3FE69D}">
      <dsp:nvSpPr>
        <dsp:cNvPr id="0" name=""/>
        <dsp:cNvSpPr/>
      </dsp:nvSpPr>
      <dsp:spPr>
        <a:xfrm>
          <a:off x="8793914" y="2049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 dirty="0"/>
            <a:t>Co-Learning</a:t>
          </a:r>
          <a:endParaRPr lang="en-US" sz="2000" kern="1200" dirty="0"/>
        </a:p>
      </dsp:txBody>
      <dsp:txXfrm>
        <a:off x="8793914" y="204961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B9820-C6E7-40C3-A8A9-4077E82E1BE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09D03-147D-4B99-A308-985C86BA825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 err="1"/>
            <a:t>Early</a:t>
          </a:r>
          <a:r>
            <a:rPr lang="fr-FR" sz="3800" kern="1200" dirty="0"/>
            <a:t> fusion</a:t>
          </a:r>
          <a:endParaRPr lang="en-US" sz="3800" kern="1200" dirty="0"/>
        </a:p>
      </dsp:txBody>
      <dsp:txXfrm>
        <a:off x="299702" y="1282093"/>
        <a:ext cx="2200851" cy="1366505"/>
      </dsp:txXfrm>
    </dsp:sp>
    <dsp:sp modelId="{6E200CAE-02F4-435A-9F5F-8DF8FDD57B9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3F807-594E-445B-A3C2-798643BA863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Deep fusion</a:t>
          </a:r>
          <a:endParaRPr lang="en-US" sz="3800" kern="1200"/>
        </a:p>
      </dsp:txBody>
      <dsp:txXfrm>
        <a:off x="3093555" y="1282093"/>
        <a:ext cx="2200851" cy="1366505"/>
      </dsp:txXfrm>
    </dsp:sp>
    <dsp:sp modelId="{D7478AB1-966C-4088-8B4A-DB1B22BAD9AA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1BF02-69BF-48E1-A46E-6A96A31B9220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 err="1"/>
            <a:t>Late</a:t>
          </a:r>
          <a:r>
            <a:rPr lang="fr-FR" sz="3800" kern="1200" dirty="0"/>
            <a:t> fusion</a:t>
          </a:r>
          <a:endParaRPr lang="en-US" sz="3800" kern="1200" dirty="0"/>
        </a:p>
      </dsp:txBody>
      <dsp:txXfrm>
        <a:off x="5887408" y="1282093"/>
        <a:ext cx="2200851" cy="1366505"/>
      </dsp:txXfrm>
    </dsp:sp>
    <dsp:sp modelId="{33D76180-5F3B-41E8-83B5-CC336F994BA3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E338A-937A-4BAD-8783-FA5A337BD25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Hybrid fusion </a:t>
          </a:r>
          <a:endParaRPr lang="en-US" sz="38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C9E05-6EA5-460D-AC12-599AC99C601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C9F96-14F9-4935-A54F-70E53C7DF36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Data représentation</a:t>
          </a:r>
          <a:endParaRPr lang="en-US" sz="3300" kern="1200" dirty="0"/>
        </a:p>
      </dsp:txBody>
      <dsp:txXfrm>
        <a:off x="398656" y="1088253"/>
        <a:ext cx="2959127" cy="1837317"/>
      </dsp:txXfrm>
    </dsp:sp>
    <dsp:sp modelId="{ED2A4AAE-5A1C-462D-8878-09B11FC049C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09759-FE6E-4769-AC9B-D52EFFBAF83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Data translation</a:t>
          </a:r>
          <a:endParaRPr lang="en-US" sz="3300" kern="1200"/>
        </a:p>
      </dsp:txBody>
      <dsp:txXfrm>
        <a:off x="4155097" y="1088253"/>
        <a:ext cx="2959127" cy="1837317"/>
      </dsp:txXfrm>
    </dsp:sp>
    <dsp:sp modelId="{3F40AA91-2C8C-45CE-A85F-BAC8DB16CC4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8F5CD-AED8-4A06-AB3D-A9B3055275D2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Data </a:t>
          </a:r>
          <a:r>
            <a:rPr lang="fr-FR" sz="3300" kern="1200" dirty="0" err="1"/>
            <a:t>Alignment</a:t>
          </a:r>
          <a:endParaRPr lang="en-US" sz="3300" kern="1200" dirty="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1E85C-B242-45CA-A591-1CB75F4C12E8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39CAE-AB21-4710-80C8-BF7B7344CF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40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204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5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combinaison de différents supports d'information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dirty="0"/>
          </a:p>
          <a:p>
            <a:r>
              <a:rPr lang="fr-FR" dirty="0"/>
              <a:t>Exemple:</a:t>
            </a:r>
          </a:p>
          <a:p>
            <a:r>
              <a:rPr lang="fr-FR" dirty="0"/>
              <a:t>Chat-GPT de la génération d’image avec des modalité textes et image </a:t>
            </a:r>
          </a:p>
          <a:p>
            <a:r>
              <a:rPr lang="fr-FR" dirty="0"/>
              <a:t>Spécifier une question à  l’aide d’une image et  d’un texte -&gt; de quel  couleurs /où se trouve ? </a:t>
            </a:r>
          </a:p>
          <a:p>
            <a:endParaRPr lang="fr-FR" dirty="0"/>
          </a:p>
          <a:p>
            <a:r>
              <a:rPr lang="fr-FR" dirty="0"/>
              <a:t>Pour de l’identification d’une plante  fournir une photo + l’</a:t>
            </a:r>
            <a:r>
              <a:rPr lang="fr-FR" dirty="0" err="1"/>
              <a:t>endroie</a:t>
            </a:r>
            <a:r>
              <a:rPr lang="fr-FR" dirty="0"/>
              <a:t> et la date de la photo  en textuel  possibilité d’enlevé des ambiguïté :</a:t>
            </a:r>
          </a:p>
          <a:p>
            <a:r>
              <a:rPr lang="fr-FR" b="1" dirty="0"/>
              <a:t>Aloe </a:t>
            </a:r>
            <a:r>
              <a:rPr lang="fr-FR" b="1" dirty="0" err="1"/>
              <a:t>vera</a:t>
            </a:r>
            <a:r>
              <a:rPr lang="fr-FR" dirty="0"/>
              <a:t> : Afrique et péninsule arabique</a:t>
            </a:r>
          </a:p>
          <a:p>
            <a:r>
              <a:rPr lang="fr-FR" b="1" dirty="0"/>
              <a:t>Agave</a:t>
            </a:r>
            <a:r>
              <a:rPr lang="fr-FR" dirty="0"/>
              <a:t> : Amérique centrale et Mexique</a:t>
            </a:r>
          </a:p>
          <a:p>
            <a:endParaRPr lang="fr-FR" dirty="0"/>
          </a:p>
          <a:p>
            <a:r>
              <a:rPr lang="fr-FR" dirty="0"/>
              <a:t>Donne l’exemple des IA </a:t>
            </a:r>
            <a:r>
              <a:rPr lang="fr-FR" dirty="0" err="1"/>
              <a:t>generatives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70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une transition pour la multimodalité </a:t>
            </a:r>
          </a:p>
          <a:p>
            <a:r>
              <a:rPr lang="fr-FR" dirty="0"/>
              <a:t>Les données multi modal </a:t>
            </a:r>
          </a:p>
          <a:p>
            <a:r>
              <a:rPr lang="fr-FR" dirty="0"/>
              <a:t>Solution Travailler </a:t>
            </a:r>
          </a:p>
          <a:p>
            <a:r>
              <a:rPr lang="fr-FR" dirty="0"/>
              <a:t>problèmes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971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 il y a plusieurs modalités il est nécessaire de les fusionnées, </a:t>
            </a:r>
          </a:p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036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BB98-C514-87F7-4A61-4F586157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5595E7-5E40-EB12-F51A-113C991E8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BCF12F-4FE4-6EED-FE4B-B29944FE9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Chargement</a:t>
            </a:r>
            <a:endParaRPr lang="fr-FR" dirty="0"/>
          </a:p>
          <a:p>
            <a:r>
              <a:rPr lang="fr-FR" dirty="0"/>
              <a:t>Lecture du fichier (JPEG/PNG) → image en mémoire.</a:t>
            </a:r>
          </a:p>
          <a:p>
            <a:r>
              <a:rPr lang="fr-FR" b="1" dirty="0" err="1"/>
              <a:t>Préprocessing</a:t>
            </a:r>
            <a:endParaRPr lang="fr-FR" dirty="0"/>
          </a:p>
          <a:p>
            <a:r>
              <a:rPr lang="fr-FR" b="1" dirty="0"/>
              <a:t>Redimensionnement</a:t>
            </a:r>
            <a:r>
              <a:rPr lang="fr-FR" dirty="0"/>
              <a:t> vers une taille fixe (ex. 224×224).</a:t>
            </a:r>
          </a:p>
          <a:p>
            <a:r>
              <a:rPr lang="fr-FR" b="1" dirty="0"/>
              <a:t>Conversion en tenseur</a:t>
            </a:r>
            <a:r>
              <a:rPr lang="fr-FR" dirty="0"/>
              <a:t> (souvent H×W×C → C×H×W).</a:t>
            </a:r>
          </a:p>
          <a:p>
            <a:r>
              <a:rPr lang="fr-FR" b="1" dirty="0"/>
              <a:t>Mise à l’échelle / normalisation</a:t>
            </a:r>
            <a:r>
              <a:rPr lang="fr-FR" dirty="0"/>
              <a:t> des pixels (ex. [0,255] → [0,1], puis éventuellement (x−mean)/std).</a:t>
            </a:r>
          </a:p>
          <a:p>
            <a:r>
              <a:rPr lang="fr-FR" dirty="0"/>
              <a:t>(En entraînement) </a:t>
            </a:r>
            <a:r>
              <a:rPr lang="fr-FR" b="1" dirty="0"/>
              <a:t>augmentations</a:t>
            </a:r>
            <a:r>
              <a:rPr lang="fr-FR" dirty="0"/>
              <a:t> : flip, </a:t>
            </a:r>
            <a:r>
              <a:rPr lang="fr-FR" dirty="0" err="1"/>
              <a:t>crop</a:t>
            </a:r>
            <a:r>
              <a:rPr lang="fr-FR" dirty="0"/>
              <a:t>, rotation légère, </a:t>
            </a:r>
            <a:r>
              <a:rPr lang="fr-FR" dirty="0" err="1"/>
              <a:t>jitter</a:t>
            </a:r>
            <a:r>
              <a:rPr lang="fr-FR" dirty="0"/>
              <a:t> couleur, etc.</a:t>
            </a:r>
          </a:p>
          <a:p>
            <a:r>
              <a:rPr lang="fr-FR" b="1" dirty="0"/>
              <a:t>Backbone CNN (extraction de features)</a:t>
            </a:r>
            <a:endParaRPr lang="fr-FR" dirty="0"/>
          </a:p>
          <a:p>
            <a:r>
              <a:rPr lang="fr-FR" dirty="0"/>
              <a:t>Suites de </a:t>
            </a:r>
            <a:r>
              <a:rPr lang="fr-FR" b="1" dirty="0"/>
              <a:t>convolutions + activation (</a:t>
            </a:r>
            <a:r>
              <a:rPr lang="fr-FR" b="1" dirty="0" err="1"/>
              <a:t>ReLU</a:t>
            </a:r>
            <a:r>
              <a:rPr lang="fr-FR" b="1" dirty="0"/>
              <a:t>) + (</a:t>
            </a:r>
            <a:r>
              <a:rPr lang="fr-FR" b="1" dirty="0" err="1"/>
              <a:t>BatchNorm</a:t>
            </a:r>
            <a:r>
              <a:rPr lang="fr-FR" b="1" dirty="0"/>
              <a:t>) + </a:t>
            </a:r>
            <a:r>
              <a:rPr lang="fr-FR" b="1" dirty="0" err="1"/>
              <a:t>pooling</a:t>
            </a:r>
            <a:r>
              <a:rPr lang="fr-FR" dirty="0"/>
              <a:t>.</a:t>
            </a:r>
          </a:p>
          <a:p>
            <a:r>
              <a:rPr lang="fr-FR" dirty="0"/>
              <a:t>L’image devient des </a:t>
            </a:r>
            <a:r>
              <a:rPr lang="fr-FR" b="1" dirty="0"/>
              <a:t>cartes de caractéristiques</a:t>
            </a:r>
            <a:r>
              <a:rPr lang="fr-FR" dirty="0"/>
              <a:t> de plus en plus abstraites, avec une résolution qui diminue et un nombre de canaux qui augmente.</a:t>
            </a:r>
          </a:p>
          <a:p>
            <a:r>
              <a:rPr lang="fr-FR" b="1" dirty="0"/>
              <a:t>Agrégation</a:t>
            </a:r>
            <a:endParaRPr lang="fr-FR" dirty="0"/>
          </a:p>
          <a:p>
            <a:r>
              <a:rPr lang="fr-FR" dirty="0"/>
              <a:t>Souvent </a:t>
            </a:r>
            <a:r>
              <a:rPr lang="fr-FR" b="1" dirty="0"/>
              <a:t>Global </a:t>
            </a:r>
            <a:r>
              <a:rPr lang="fr-FR" b="1" dirty="0" err="1"/>
              <a:t>Average</a:t>
            </a:r>
            <a:r>
              <a:rPr lang="fr-FR" b="1" dirty="0"/>
              <a:t> </a:t>
            </a:r>
            <a:r>
              <a:rPr lang="fr-FR" b="1" dirty="0" err="1"/>
              <a:t>Pooling</a:t>
            </a:r>
            <a:r>
              <a:rPr lang="fr-FR" dirty="0"/>
              <a:t> (ou </a:t>
            </a:r>
            <a:r>
              <a:rPr lang="fr-FR" dirty="0" err="1"/>
              <a:t>flatten</a:t>
            </a:r>
            <a:r>
              <a:rPr lang="fr-FR" dirty="0"/>
              <a:t>) pour passer des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maps</a:t>
            </a:r>
            <a:r>
              <a:rPr lang="fr-FR" dirty="0"/>
              <a:t> à un vecteur.</a:t>
            </a:r>
          </a:p>
          <a:p>
            <a:r>
              <a:rPr lang="fr-FR" b="1" dirty="0"/>
              <a:t>Head (prédiction)</a:t>
            </a:r>
            <a:endParaRPr lang="fr-FR" dirty="0"/>
          </a:p>
          <a:p>
            <a:r>
              <a:rPr lang="fr-FR" dirty="0"/>
              <a:t>Une ou quelques couches </a:t>
            </a:r>
            <a:r>
              <a:rPr lang="fr-FR" b="1" dirty="0" err="1"/>
              <a:t>fully-connected</a:t>
            </a:r>
            <a:r>
              <a:rPr lang="fr-FR" dirty="0"/>
              <a:t> (MLP) → sortie.</a:t>
            </a:r>
          </a:p>
          <a:p>
            <a:r>
              <a:rPr lang="fr-FR" b="1" dirty="0" err="1"/>
              <a:t>Softmax</a:t>
            </a:r>
            <a:r>
              <a:rPr lang="fr-FR" dirty="0"/>
              <a:t> (multi-classe) ou </a:t>
            </a:r>
            <a:r>
              <a:rPr lang="fr-FR" b="1" dirty="0" err="1"/>
              <a:t>sigmoid</a:t>
            </a:r>
            <a:r>
              <a:rPr lang="fr-FR" dirty="0"/>
              <a:t> (multi-label).</a:t>
            </a:r>
          </a:p>
          <a:p>
            <a:r>
              <a:rPr lang="fr-FR" b="1" dirty="0"/>
              <a:t>Post-traitement (selon la tâche)</a:t>
            </a:r>
            <a:endParaRPr lang="fr-FR" dirty="0"/>
          </a:p>
          <a:p>
            <a:r>
              <a:rPr lang="fr-FR" dirty="0"/>
              <a:t>Prendre la classe top-1/top-k, appliquer un seuil, etc.</a:t>
            </a:r>
          </a:p>
          <a:p>
            <a:r>
              <a:rPr lang="fr-FR" dirty="0"/>
              <a:t>En une ligne : </a:t>
            </a:r>
            <a:r>
              <a:rPr lang="fr-FR" b="1" dirty="0"/>
              <a:t>image → </a:t>
            </a:r>
            <a:r>
              <a:rPr lang="fr-FR" b="1" dirty="0" err="1"/>
              <a:t>preprocessing</a:t>
            </a:r>
            <a:r>
              <a:rPr lang="fr-FR" b="1" dirty="0"/>
              <a:t> → backbone (</a:t>
            </a:r>
            <a:r>
              <a:rPr lang="fr-FR" b="1" dirty="0" err="1"/>
              <a:t>conv</a:t>
            </a:r>
            <a:r>
              <a:rPr lang="fr-FR" b="1" dirty="0"/>
              <a:t>) → </a:t>
            </a:r>
            <a:r>
              <a:rPr lang="fr-FR" b="1" dirty="0" err="1"/>
              <a:t>pooling</a:t>
            </a:r>
            <a:r>
              <a:rPr lang="fr-FR" b="1" dirty="0"/>
              <a:t> → </a:t>
            </a:r>
            <a:r>
              <a:rPr lang="fr-FR" b="1" dirty="0" err="1"/>
              <a:t>head</a:t>
            </a:r>
            <a:r>
              <a:rPr lang="fr-FR" b="1" dirty="0"/>
              <a:t> (dense) → prédiction</a:t>
            </a:r>
            <a:r>
              <a:rPr lang="fr-FR" dirty="0"/>
              <a:t>.</a:t>
            </a:r>
          </a:p>
          <a:p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EDF5C2-335C-2295-9B98-9289FABD7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249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015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sont les outils de la Fusion 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13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 réduire d’hétérogénéité entres les modalités et crée un espace latent qui encode au mieux les différentes modalités </a:t>
            </a:r>
            <a:endParaRPr lang="es-A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  <a:p>
            <a:r>
              <a:rPr lang="fr-FR" dirty="0"/>
              <a:t>se concentre sur l’intégration et l’interprétation d’informations provenant de différentes modalités, telles que le texte, les images, l’audio ou la vidéo, en les projetant dans un espace latent partagé.</a:t>
            </a:r>
          </a:p>
          <a:p>
            <a:endParaRPr lang="fr-FR" dirty="0"/>
          </a:p>
          <a:p>
            <a:r>
              <a:rPr lang="fr-FR" dirty="0"/>
              <a:t>Joint AV</a:t>
            </a:r>
          </a:p>
          <a:p>
            <a:r>
              <a:rPr lang="fr-FR" dirty="0"/>
              <a:t>Joint DV</a:t>
            </a:r>
          </a:p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688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B5E6-3029-5328-9A79-4C124B48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DA0EEB-B5E2-FDC8-D918-A09603DA9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8F7D171-6F96-ACCA-9A3B-358E0B50B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A70840-1309-9423-CBE4-A3B4F9729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443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7869-A6FC-E5C1-961C-88F0F5CD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F30968-2588-F639-78A6-3981A2093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CB7A3D-EFFD-D4B4-D1D7-6B22FFD2A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3B981-5FEB-66BA-4A24-07658D130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664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Prendre l’image des </a:t>
            </a:r>
            <a:r>
              <a:rPr lang="fr-FR" dirty="0" err="1"/>
              <a:t>embeding</a:t>
            </a:r>
            <a:r>
              <a:rPr lang="fr-FR" dirty="0"/>
              <a:t> pour donner l’exemple</a:t>
            </a:r>
          </a:p>
          <a:p>
            <a:endParaRPr lang="fr-FR" dirty="0"/>
          </a:p>
          <a:p>
            <a:r>
              <a:rPr lang="fr-FR" dirty="0"/>
              <a:t>C’est de passé d’une modalité à une autre de la traduire 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685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076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031E-F60B-1EFA-FA16-35B30711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DAD2D7-C134-81E9-9AA6-3C89DEE4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1A943E-418E-DFB1-9484-41DDDBC9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27BF71-3659-98F9-7300-49F2A8C84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00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81D9-F3FD-59F9-BDE5-E8016B97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C0367E-0D68-0C04-A573-C2A9FCEEE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D386E3-52D1-9757-4A31-FE04DA03F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F91C89-0907-EA4F-321A-787A44373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842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623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ADBF-B65A-4786-AFAD-19BFABC4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9BFCBF-FCB3-1743-FDA7-E47E6C52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D3D4E5-167B-10C5-243B-BCF513696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3A7E69-B277-CA20-D357-66801CF3E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033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6CEE7-9F7A-4B3E-A564-087E0D78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443288-EBCC-DC5B-5950-C102EAF88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4A1EF7-BD7C-6429-DD51-F1DFDEA03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E4977C-C3B6-B988-C803-D61E68FF3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9501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3DF8-0B1C-4DDB-1868-482F36853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3414340-C79B-5E0E-9072-DD4EF0144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E5D84F-6420-B9EF-4F14-8149707C0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DB9CDC-2E3C-0977-8B7C-F63B04810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314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5570-68FD-D24D-0769-40F560BE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16A099-C455-3357-FDED-B0F18D955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FAD433-D0FE-8E21-9462-828CE26AD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608A15-630D-557B-28D2-C95CC1E80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435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8D91F-4EBE-94E5-5177-DA3223237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604C07-C911-2591-B4B0-43531FDE1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A5BC62-20A6-0BAC-35C3-144387945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4867FE-3C16-C280-E272-8126DE2F4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838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7B72-7690-9CF3-BADA-5CF6B87B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004DD0-1A3E-6D11-EDFB-4BF7D27A5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28A72F-A3A1-6DA8-457F-D1259552D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E2A1FF-3F2B-6909-F1B9-F081CE24D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977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BA0B-E8E5-7E47-9332-B6964F36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5225F2-1A75-BADF-BBDC-FEE22571C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AAD303-7C01-A4E8-F428-D78ADEF9C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Ajouter les sources des articles</a:t>
            </a:r>
            <a:endParaRPr lang="es-A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D0D767-62FA-C26F-24A9-E520C3FB2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727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Multimodal mettre slide à  la fin ou  possiblement au  début dans l’introduction </a:t>
            </a:r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2299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39CAE-AB21-4710-80C8-BF7B7344CF3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1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FEF21-BE07-C767-6D06-CA7AC7F61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6A65D8-4228-BBC1-C68B-B7438AA50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81885A-1A2C-3C19-7326-77E968DF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49EC7-1E45-4B92-8CEE-34A27939E1F4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7D759-0697-C512-8DB1-6F74DB5F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6B875-45CF-958A-E98F-D899BE5D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25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731ED-D666-E47F-6968-876ED868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7484E6-C068-F46C-C254-EE9DEA616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8AE677-3ADC-2392-6A8A-9291FD11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E50F-571E-494B-B4CE-77E83D7E47E8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39F935-51D3-7B5E-860F-FE0FD0DE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56D72D-B83D-8F15-0917-19DF133B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15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495BD6-4F5A-47DF-00A5-BCFE842B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33194D-A5A5-7F53-E6BB-10ABC19FC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285A67-7AE2-096A-5849-0B2C8DDF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2C4-77CF-4A86-AC51-B5CE7F512F29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D2372D-4AB3-7667-452B-2AE5087D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9139E3-1049-FA9B-1312-C56D5D1D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5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EE8B1-49F8-B7C7-D323-150DCDCD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31B1F-AC0F-7891-4034-0A6558370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F2C907-CD58-FFD9-B1CF-A5A67B7D6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2277E3-BC90-29E6-8592-24A5098A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399-D4F4-4D78-94F2-63AE8CDE9AF3}" type="datetime1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47F5B8-788B-26CD-F07F-B5D32270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26BD32-5FFD-C238-F0E0-E0CB1580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09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55028-61BB-4707-4BF2-DB1C33DF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381BCD-72BE-027A-B773-747AC020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79EBCB-D800-8B45-9515-D356BCB3C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26BCCF-1628-A962-4A05-F4E794F19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91449E-A6EA-42E9-1133-ECAA092C3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BC8F80D-B5B7-5163-C849-C07CAA28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4F939-6709-4AA3-BC18-6BB6E2CF0272}" type="datetime1">
              <a:rPr lang="fr-FR" smtClean="0"/>
              <a:t>21/01/2026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575822-4A04-C0C2-44DE-22C30D84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6E4F87-6DDC-93D7-A2B3-3CA8A664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28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0798F-34EA-C7AF-C7E8-2ACE5115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3AEEC2-CDC1-942E-AE90-35C53830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31BA1-3673-4B26-9F59-09009FF66F55}" type="datetime1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A28256-6E06-B150-0AE9-3E664B4B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F77DEC-5C15-A48B-F1B9-B1956FE6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76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7E66B2-7B3A-B9F5-80DA-A1B3989AE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A87D5-1206-4907-A63D-5F9C97305022}" type="datetime1">
              <a:rPr lang="fr-FR" smtClean="0"/>
              <a:t>21/01/2026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890969-6C25-7E22-D1D2-C0885045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E38297-A3C8-FB90-D231-95F2E0DD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37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F2BF0-E471-2BF8-795E-87D6AFD0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810BBD-9A55-AD92-1453-C33D9916E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2DDD96-CF79-65BA-1588-C8B405C27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D88BF7-2719-FCAD-13B7-4B5492A1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32FC-3487-4626-B0AB-758077298DBB}" type="datetime1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550B3B-6EED-4C5A-11BF-A10057F0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65A815-A939-069E-9B43-2271821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73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2DE17-34A0-0FAA-C27F-9ACB8296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79FB5BC-2203-BE1A-83F2-AC126DE4B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2EDC98-2130-1FD8-5624-C090E1963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47D0A9-F84A-00B4-7130-4D8BF5C0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56D5-C346-4BE7-B8CE-EA7342E4326A}" type="datetime1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ADC480-639E-252B-C8C5-AE86E77F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E4955-EEE0-04A6-0E28-9EABCCC7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99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5A681-4CA9-BB0C-4BFC-542EB03B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771ADB-7713-8915-9C2B-8CB7EC089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85611-0EC6-1147-0D66-131556F4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827-085E-48B2-91AC-397A7F54E45C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864813-959F-EF55-E4A4-F78010EB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E24510-22FB-000E-E129-9DE2E8EA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11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C24598-E7BA-754B-486F-BEB67379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E47A81-FC0C-D5A1-5C5A-E069BAE66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977DE5-ACC5-43E7-3EA3-1D9A3EEF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49E57-B78F-4632-8401-CF28C47E5D38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618474-730F-7697-0270-51726F23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F35F53-8A2B-16A4-DF94-5CC89088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1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188544-5627-BEB8-E1A9-9F258A77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D1928C-0617-D19F-6634-73737EF6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54FEFD-22C9-B210-98A1-EBB5ABFC8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D4BC0-C5B1-42D8-9BF7-7E77750D523E}" type="datetime1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CB006-5F5C-3788-892E-0936FBD52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1FDBCB-0611-9C7D-2E28-A6D54D7C5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62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ixc1mh55y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D03FA7-3D73-F860-D803-F3FD4CEA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 Multimodalité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0DD1E2-9457-87AC-C4AE-42768AAB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32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rrière-plan de carte de circuit imprimé">
            <a:extLst>
              <a:ext uri="{FF2B5EF4-FFF2-40B4-BE49-F238E27FC236}">
                <a16:creationId xmlns:a16="http://schemas.microsoft.com/office/drawing/2014/main" id="{40DA87CF-CC19-9877-2794-4F5A3A05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3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2B5EC8-D024-B2A3-AE7B-C5A7DCB34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2000" dirty="0"/>
              <a:t>La multimodalité</a:t>
            </a:r>
          </a:p>
          <a:p>
            <a:r>
              <a:rPr lang="fr-FR" sz="2000" dirty="0"/>
              <a:t>La fusion</a:t>
            </a:r>
          </a:p>
          <a:p>
            <a:r>
              <a:rPr lang="fr-FR" sz="2000" dirty="0"/>
              <a:t>Data </a:t>
            </a:r>
            <a:r>
              <a:rPr lang="fr-FR" sz="2000" dirty="0" err="1"/>
              <a:t>Representation</a:t>
            </a:r>
            <a:endParaRPr lang="fr-FR" sz="2000" dirty="0"/>
          </a:p>
          <a:p>
            <a:r>
              <a:rPr lang="fr-FR" sz="2000" dirty="0"/>
              <a:t>Data Translation</a:t>
            </a:r>
          </a:p>
          <a:p>
            <a:r>
              <a:rPr lang="fr-FR" sz="2000" dirty="0"/>
              <a:t>Data </a:t>
            </a:r>
            <a:r>
              <a:rPr lang="fr-FR" sz="2000" dirty="0" err="1"/>
              <a:t>Alignment</a:t>
            </a:r>
            <a:endParaRPr lang="fr-FR" sz="2000" dirty="0"/>
          </a:p>
          <a:p>
            <a:r>
              <a:rPr lang="fr-FR" sz="2000" dirty="0"/>
              <a:t>Le </a:t>
            </a:r>
            <a:r>
              <a:rPr lang="fr-FR" sz="2000" dirty="0" err="1"/>
              <a:t>co-learning</a:t>
            </a:r>
            <a:endParaRPr lang="fr-FR" sz="2000" dirty="0"/>
          </a:p>
          <a:p>
            <a:r>
              <a:rPr lang="fr-FR" sz="2000" dirty="0"/>
              <a:t>Domaines d’applications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D2A657-B0EB-5916-15EB-E333F724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97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FB3C81-96AF-73E6-EE64-FCCBD7DD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Modalité</a:t>
            </a:r>
            <a:endParaRPr lang="es-AR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F4045D-A3E7-7974-A8E0-3EF85881D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000" dirty="0"/>
              <a:t>Une modalité est un type de donnée utilisé pour représenter une information.</a:t>
            </a:r>
          </a:p>
          <a:p>
            <a:r>
              <a:rPr lang="fr-FR" sz="2000" dirty="0"/>
              <a:t>Les type de formats :</a:t>
            </a:r>
          </a:p>
          <a:p>
            <a:pPr lvl="1"/>
            <a:r>
              <a:rPr lang="fr-FR" sz="2000" dirty="0"/>
              <a:t>Image</a:t>
            </a:r>
          </a:p>
          <a:p>
            <a:pPr lvl="1"/>
            <a:r>
              <a:rPr lang="fr-FR" sz="2000" dirty="0"/>
              <a:t>Textuel</a:t>
            </a:r>
          </a:p>
          <a:p>
            <a:pPr lvl="1"/>
            <a:r>
              <a:rPr lang="fr-FR" sz="2000" dirty="0"/>
              <a:t>Audio</a:t>
            </a:r>
          </a:p>
          <a:p>
            <a:pPr lvl="1"/>
            <a:r>
              <a:rPr lang="fr-FR" sz="2000" dirty="0"/>
              <a:t>Vidéo</a:t>
            </a:r>
          </a:p>
          <a:p>
            <a:pPr lvl="1"/>
            <a:r>
              <a:rPr lang="fr-FR" sz="2000" dirty="0"/>
              <a:t>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6C1FF8-E2CC-C7BD-9A78-D6520AF6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3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5" descr="Une image contenant cercle,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9C1425A-61FE-9953-C009-595773A3B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0" b="8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53D618-21D5-B52D-6309-A7835837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La multimodalité: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D760F-65A3-B682-D2A8-D583AA6D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BBC07E23-5D66-4BDA-857C-D8615BC30D33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9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259912-2B72-B1D7-8A2E-C593972E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Les 5 clefs de la multimodalité</a:t>
            </a: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B0752E3E-493A-A3E9-E38E-46AEC92DA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252703"/>
              </p:ext>
            </p:extLst>
          </p:nvPr>
        </p:nvGraphicFramePr>
        <p:xfrm>
          <a:off x="644056" y="2615979"/>
          <a:ext cx="10927829" cy="3739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C41CF1-5808-22FC-DA02-ED4AA381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16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DA5FD2-2F28-9B11-54FF-5A2FEAC2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 fusion</a:t>
            </a:r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C426D4D-4EF8-38AC-8A00-672CE547F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2428" y="1396759"/>
            <a:ext cx="7225748" cy="4064482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8B7B88-95CE-3785-7A81-E58EEA8F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64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CA16D-5769-48EF-CA4C-73F741AD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8E2EEF1-A01C-8EFD-9DE0-E73F8FFB4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49E5A1-38A3-B04D-4025-5A2DB0135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384252-5B83-F3BB-179D-53E730578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ED89E3-27EC-288E-7990-4131F037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A4C64-AB5F-42F9-2A44-7A5FD99E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unimodal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4B20A7-78C2-4A32-9AC5-27E03B20C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 descr="Une image contenant texte, chie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D7EC4CA-3865-B300-1EC3-969ECE0A2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91" y="3108783"/>
            <a:ext cx="9231013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0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2AF66E-B9AA-06A7-9A7D-EA6E5CC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Les méthodes de fusion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90679FC-A84E-3CDA-DCFD-B7F6B4E2C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5326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199317-AFC1-78B7-9E3E-933D8F30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82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ED729F-41EA-8387-A66D-AD9D5E5D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Early  Fusion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76BBDB-7C7F-A1A1-C862-90EE7BE4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9</a:t>
            </a:fld>
            <a:endParaRPr lang="fr-FR"/>
          </a:p>
        </p:txBody>
      </p:sp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A6D3E72-A02D-0855-21D5-47361B67D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0" y="1905908"/>
            <a:ext cx="10288436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2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F12F2-5CD7-B8F4-91DB-A78DB2DE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A296A9-3C03-C0D4-9712-0FB73BB8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 Fusion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AD0C1F-D5AB-3659-605B-20788BFA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10</a:t>
            </a:fld>
            <a:endParaRPr lang="fr-FR"/>
          </a:p>
        </p:txBody>
      </p:sp>
      <p:pic>
        <p:nvPicPr>
          <p:cNvPr id="4" name="Image 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1829686-D7AD-BFFD-CEA6-367446A3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07" y="1907554"/>
            <a:ext cx="9726382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8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D2A36-0FDB-AD4C-283E-66EFC3BC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9CA998-3388-00F8-6082-DC640591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Late  Fusion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DF3D5D-7F76-B069-32E8-D2E19570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11</a:t>
            </a:fld>
            <a:endParaRPr lang="fr-FR"/>
          </a:p>
        </p:txBody>
      </p:sp>
      <p:pic>
        <p:nvPicPr>
          <p:cNvPr id="4" name="Image 3" descr="Une image contenant texte, capture d’écran, chien&#10;&#10;Le contenu généré par l’IA peut être incorrect.">
            <a:extLst>
              <a:ext uri="{FF2B5EF4-FFF2-40B4-BE49-F238E27FC236}">
                <a16:creationId xmlns:a16="http://schemas.microsoft.com/office/drawing/2014/main" id="{4AF1D286-4F87-3E48-4462-AFDDD9E94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1" y="1822348"/>
            <a:ext cx="923101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0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DB575-138F-05A5-1719-D03AD3D0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DD3ADE-A832-94C0-CD21-41C726C3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96" y="257977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Hybrid  Fusion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A99F0-374E-0D09-BF80-1BE333CA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 descr="Une image contenant texte, capture d’écran, chien&#10;&#10;Le contenu généré par l’IA peut être incorrect.">
            <a:extLst>
              <a:ext uri="{FF2B5EF4-FFF2-40B4-BE49-F238E27FC236}">
                <a16:creationId xmlns:a16="http://schemas.microsoft.com/office/drawing/2014/main" id="{18BF3DFB-6C59-F2D6-B1DC-9001D6C9F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23" y="1822348"/>
            <a:ext cx="913575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81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F3DD86-2D5A-9894-9452-C530E639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Technologies de Fusion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FC0724E-F78B-1599-0BE3-7BFA9B85D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99672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1B5C15-A131-E598-A156-3BA90FE0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08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D6DD8F-A0FA-BAE5-E36D-E2E238B0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Representation: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DC4E616-B944-E50B-DE25-D9491B703713}"/>
              </a:ext>
            </a:extLst>
          </p:cNvPr>
          <p:cNvSpPr txBox="1">
            <a:spLocks/>
          </p:cNvSpPr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100" dirty="0"/>
              <a:t>A pour but de réduire l’hétérogénéité entres les modalités.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en-US" sz="2000" b="1" dirty="0"/>
              <a:t>Joint Representation:</a:t>
            </a:r>
          </a:p>
          <a:p>
            <a:pPr lvl="1"/>
            <a:r>
              <a:rPr lang="fr-FR" sz="2000" dirty="0"/>
              <a:t>Les modalités sont fusionnées pour produire une représentation unique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Coordinated Representation:</a:t>
            </a:r>
          </a:p>
          <a:p>
            <a:pPr lvl="1"/>
            <a:r>
              <a:rPr lang="fr-FR" sz="2100" dirty="0"/>
              <a:t>Chaque modalité conserve sa propre représentation</a:t>
            </a:r>
            <a:r>
              <a:rPr lang="fr-FR" dirty="0"/>
              <a:t>, </a:t>
            </a:r>
            <a:r>
              <a:rPr lang="fr-FR" sz="2100" dirty="0"/>
              <a:t>mais ces représentations sont alignées grâce à des contraintes d’apprentissage.</a:t>
            </a:r>
            <a:endParaRPr lang="en-US" sz="2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B5B405-90BD-C2B1-9A65-BC8B3610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14</a:t>
            </a:fld>
            <a:endParaRPr lang="fr-FR"/>
          </a:p>
        </p:txBody>
      </p:sp>
      <p:pic>
        <p:nvPicPr>
          <p:cNvPr id="9" name="Image 8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F5AC5A39-8449-AFC0-DC3C-F0FBB16DC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239" y="2241055"/>
            <a:ext cx="5703902" cy="2375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6592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DC746-F57F-1224-B208-A785154F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9F3952C-2089-82FC-DBAD-49FA3A50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C838D-FC72-6A58-4B73-21832A954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2A7E06-CABB-8D9C-5788-D6D220BCD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4266A6-2818-1791-89D2-301AE38A0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8F1DC40-E215-3969-98BB-75EE44D8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96" y="257977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Coordinated Representation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B51000-AB07-24B5-BE77-4B3A1C2A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15</a:t>
            </a:fld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8C759CA9-CA37-603D-BD57-546CA534CE70}"/>
              </a:ext>
            </a:extLst>
          </p:cNvPr>
          <p:cNvSpPr txBox="1">
            <a:spLocks/>
          </p:cNvSpPr>
          <p:nvPr/>
        </p:nvSpPr>
        <p:spPr>
          <a:xfrm>
            <a:off x="836612" y="1681163"/>
            <a:ext cx="5157787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err="1"/>
              <a:t>Avantages</a:t>
            </a:r>
            <a:r>
              <a:rPr lang="en-US" dirty="0"/>
              <a:t>:</a:t>
            </a:r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3707EE75-31F9-D0C1-7F26-B36DA132C751}"/>
              </a:ext>
            </a:extLst>
          </p:cNvPr>
          <p:cNvSpPr txBox="1">
            <a:spLocks/>
          </p:cNvSpPr>
          <p:nvPr/>
        </p:nvSpPr>
        <p:spPr>
          <a:xfrm>
            <a:off x="836612" y="2505075"/>
            <a:ext cx="5157787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Garde une représentation par modalité, chaque modalité conserve ses informations propres.</a:t>
            </a:r>
          </a:p>
          <a:p>
            <a:r>
              <a:rPr lang="fr-FR" dirty="0"/>
              <a:t>Permet d’aligner les modalités via des contraintes</a:t>
            </a:r>
          </a:p>
          <a:p>
            <a:r>
              <a:rPr lang="fr-FR" dirty="0"/>
              <a:t>Très utile quand une seule modalité est disponible au test.</a:t>
            </a:r>
          </a:p>
          <a:p>
            <a:r>
              <a:rPr lang="fr-FR" dirty="0"/>
              <a:t>Favorise le transfert cross-modal.</a:t>
            </a:r>
          </a:p>
          <a:p>
            <a:endParaRPr lang="fr-FR" dirty="0"/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CB5BD66-2660-0195-AF46-E68337738AC9}"/>
              </a:ext>
            </a:extLst>
          </p:cNvPr>
          <p:cNvSpPr txBox="1">
            <a:spLocks/>
          </p:cNvSpPr>
          <p:nvPr/>
        </p:nvSpPr>
        <p:spPr>
          <a:xfrm>
            <a:off x="6169024" y="1681163"/>
            <a:ext cx="5183188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u="sng" dirty="0"/>
              <a:t>Désavantages</a:t>
            </a:r>
            <a:r>
              <a:rPr lang="fr-FR" dirty="0"/>
              <a:t>: 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B0A33E5A-8F75-AFA7-92D0-975FE7CFB8D3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L’alignement peut être difficile à apprendre si les modalités sont très différentes ou bruitées.</a:t>
            </a:r>
          </a:p>
          <a:p>
            <a:r>
              <a:rPr lang="fr-FR"/>
              <a:t>La qualité dépend fortement de la contrainte choisie.</a:t>
            </a:r>
          </a:p>
          <a:p>
            <a:r>
              <a:rPr lang="fr-FR"/>
              <a:t>Peut-être moins efficace si l’objectif est une décision finale unique.</a:t>
            </a:r>
          </a:p>
          <a:p>
            <a:r>
              <a:rPr lang="fr-FR"/>
              <a:t>Devient plus complexe quand tu as beaucoup de modalités.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2387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E0936-7215-EDDB-04F9-F4A6D459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506E464-EE80-3B19-C248-BA137623B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F159EF-43B3-7B82-A469-12E93385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7E5336-A503-72FE-1A4F-0EF526202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63BB5-E562-AFD7-A2E0-E706D2313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CB27C2-5EFF-B9D0-34AB-E46AF1AB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96" y="257977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Joint Representation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533C1F-36E0-734E-E861-7F589986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16</a:t>
            </a:fld>
            <a:endParaRPr lang="fr-FR"/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5DC18EE-AE51-4143-8E26-7E49E60060B4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err="1"/>
              <a:t>Avantages</a:t>
            </a:r>
            <a:r>
              <a:rPr lang="en-US" dirty="0"/>
              <a:t>: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161EC5B2-756A-E2D0-0E49-C485453614D4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Produit un embedding unique, plus facile à exploiter pour une tâche finale.</a:t>
            </a:r>
          </a:p>
          <a:p>
            <a:r>
              <a:rPr lang="fr-FR"/>
              <a:t>Permet de capturer directement les interactions et la complémentarité entre modalités.</a:t>
            </a:r>
          </a:p>
          <a:p>
            <a:r>
              <a:rPr lang="fr-FR"/>
              <a:t>Souvent efficace quand toutes les modalités sont disponibles à l’entraînement et au test.</a:t>
            </a:r>
          </a:p>
          <a:p>
            <a:endParaRPr lang="fr-FR" dirty="0"/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06A5DD05-E232-B61E-98C3-B26DBC51BE88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u="sng" dirty="0"/>
              <a:t>Désavantages</a:t>
            </a:r>
            <a:r>
              <a:rPr lang="fr-FR" dirty="0"/>
              <a:t>: </a:t>
            </a:r>
          </a:p>
        </p:txBody>
      </p:sp>
      <p:sp>
        <p:nvSpPr>
          <p:cNvPr id="15" name="Espace réservé du contenu 5">
            <a:extLst>
              <a:ext uri="{FF2B5EF4-FFF2-40B4-BE49-F238E27FC236}">
                <a16:creationId xmlns:a16="http://schemas.microsoft.com/office/drawing/2014/main" id="{AE321B69-3DDE-7FA3-83C2-E2A4C98C039A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Risque de perdre la spécificité de chaque modalité.</a:t>
            </a:r>
          </a:p>
          <a:p>
            <a:r>
              <a:rPr lang="fr-FR"/>
              <a:t>Plus sensible aux modalités manquantes.</a:t>
            </a:r>
          </a:p>
          <a:p>
            <a:r>
              <a:rPr lang="fr-FR"/>
              <a:t>La fusion peut introduire du bruit ou de la redondance si elle est mal contrôlée.</a:t>
            </a:r>
          </a:p>
          <a:p>
            <a:r>
              <a:rPr lang="fr-FR"/>
              <a:t>Peut nécessiter beaucoup de données pour apprendre une représentation commune stable.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2227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6D9FA-C277-77E7-D65A-B17143F4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Translation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F56C88-046F-D9E7-8BD4-4BA82279F704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</a:rPr>
              <a:t>En multimodal, la data translation </a:t>
            </a:r>
            <a:r>
              <a:rPr lang="en-US" sz="2000" dirty="0" err="1">
                <a:effectLst/>
              </a:rPr>
              <a:t>désigne</a:t>
            </a:r>
            <a:r>
              <a:rPr lang="en-US" sz="2000" dirty="0">
                <a:effectLst/>
              </a:rPr>
              <a:t> le fait de </a:t>
            </a:r>
            <a:r>
              <a:rPr lang="en-US" sz="2000" dirty="0" err="1">
                <a:effectLst/>
              </a:rPr>
              <a:t>convertire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une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modalité</a:t>
            </a:r>
            <a:r>
              <a:rPr lang="en-US" sz="2000" dirty="0">
                <a:effectLst/>
              </a:rPr>
              <a:t> vers </a:t>
            </a:r>
            <a:r>
              <a:rPr lang="en-US" sz="2000" dirty="0" err="1">
                <a:effectLst/>
              </a:rPr>
              <a:t>une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autre</a:t>
            </a:r>
            <a:r>
              <a:rPr lang="en-US" sz="2000" dirty="0"/>
              <a:t>, </a:t>
            </a:r>
            <a:r>
              <a:rPr lang="en-US" sz="2000" dirty="0" err="1">
                <a:effectLst/>
              </a:rPr>
              <a:t>ou</a:t>
            </a:r>
            <a:r>
              <a:rPr lang="en-US" sz="2000" dirty="0">
                <a:effectLst/>
              </a:rPr>
              <a:t> vers </a:t>
            </a:r>
            <a:r>
              <a:rPr lang="en-US" sz="2000" dirty="0" err="1">
                <a:effectLst/>
              </a:rPr>
              <a:t>une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représentation</a:t>
            </a:r>
            <a:r>
              <a:rPr lang="en-US" sz="2000" dirty="0">
                <a:effectLst/>
              </a:rPr>
              <a:t> commune, tout </a:t>
            </a:r>
            <a:r>
              <a:rPr lang="en-US" sz="2000" dirty="0" err="1">
                <a:effectLst/>
              </a:rPr>
              <a:t>en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conservant</a:t>
            </a:r>
            <a:r>
              <a:rPr lang="en-US" sz="2000" dirty="0">
                <a:effectLst/>
              </a:rPr>
              <a:t> au </a:t>
            </a:r>
            <a:r>
              <a:rPr lang="en-US" sz="2000" dirty="0" err="1">
                <a:effectLst/>
              </a:rPr>
              <a:t>mieux</a:t>
            </a:r>
            <a:r>
              <a:rPr lang="en-US" sz="2000" dirty="0">
                <a:effectLst/>
              </a:rPr>
              <a:t> le </a:t>
            </a:r>
            <a:r>
              <a:rPr lang="en-US" sz="2000" dirty="0" err="1">
                <a:effectLst/>
              </a:rPr>
              <a:t>sens</a:t>
            </a:r>
            <a:r>
              <a:rPr lang="en-US" sz="2000" dirty="0">
                <a:effectLst/>
              </a:rPr>
              <a:t>, la structure et les </a:t>
            </a:r>
            <a:r>
              <a:rPr lang="en-US" sz="2000" dirty="0" err="1">
                <a:effectLst/>
              </a:rPr>
              <a:t>contraintes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utiles</a:t>
            </a:r>
            <a:r>
              <a:rPr lang="en-US" sz="2000" dirty="0">
                <a:effectLst/>
              </a:rPr>
              <a:t> pour </a:t>
            </a:r>
            <a:r>
              <a:rPr lang="en-US" sz="2000" dirty="0"/>
              <a:t>le </a:t>
            </a:r>
            <a:r>
              <a:rPr lang="en-US" sz="2000" dirty="0" err="1"/>
              <a:t>modéle</a:t>
            </a:r>
            <a:r>
              <a:rPr lang="en-US" sz="2000" dirty="0">
                <a:effectLst/>
              </a:rPr>
              <a:t>. </a:t>
            </a:r>
            <a:endParaRPr lang="en-US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04715F-64A9-2798-4B43-0A182CEE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35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14078D-1DDF-AB97-041B-1AA6E3B1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78535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Exemple de Translation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EB4FA1-5664-3F22-2B3F-2710D9993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dirty="0"/>
              <a:t>Exemples typiques :</a:t>
            </a:r>
          </a:p>
          <a:p>
            <a:pPr lvl="1"/>
            <a:r>
              <a:rPr lang="fr-FR" i="1" dirty="0"/>
              <a:t>Image → texte</a:t>
            </a:r>
            <a:r>
              <a:rPr lang="fr-FR" dirty="0"/>
              <a:t> : OCR + restructuration, </a:t>
            </a:r>
          </a:p>
          <a:p>
            <a:pPr lvl="1"/>
            <a:r>
              <a:rPr lang="fr-FR" i="1" dirty="0"/>
              <a:t>Audio → texte</a:t>
            </a:r>
            <a:r>
              <a:rPr lang="fr-FR" dirty="0"/>
              <a:t> : transcription</a:t>
            </a:r>
          </a:p>
          <a:p>
            <a:pPr lvl="1"/>
            <a:r>
              <a:rPr lang="fr-FR" i="1" dirty="0"/>
              <a:t>Vidéo → texte</a:t>
            </a:r>
            <a:r>
              <a:rPr lang="fr-FR" dirty="0"/>
              <a:t> : résumé / description d’actions</a:t>
            </a:r>
          </a:p>
          <a:p>
            <a:pPr lvl="1"/>
            <a:r>
              <a:rPr lang="fr-FR" i="1" dirty="0"/>
              <a:t>Texte → image</a:t>
            </a:r>
            <a:r>
              <a:rPr lang="fr-FR" dirty="0"/>
              <a:t> : génération</a:t>
            </a:r>
          </a:p>
          <a:p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FBD95A-5712-330E-7A4B-44A7E998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690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1B6286-E419-B031-5735-4630D84B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Ajouter les forces et  les limites?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98A8DA-E65F-1C77-4B78-5F6F02BC5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358792-C021-C34D-E399-BBFDDA9D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7640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1E377C-B493-3EAC-F9A5-9B44BBB3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Data Alignment</a:t>
            </a:r>
            <a:endParaRPr lang="fr-F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2B3776-4373-575D-E746-1882F87E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AR" sz="2000" dirty="0"/>
              <a:t>Le </a:t>
            </a:r>
            <a:r>
              <a:rPr lang="es-AR" sz="2000" i="1" dirty="0"/>
              <a:t>data </a:t>
            </a:r>
            <a:r>
              <a:rPr lang="es-AR" sz="2000" i="1"/>
              <a:t>alignment</a:t>
            </a:r>
            <a:r>
              <a:rPr lang="es-AR" sz="2000" dirty="0"/>
              <a:t> consiste à </a:t>
            </a:r>
            <a:r>
              <a:rPr lang="es-AR" sz="2000"/>
              <a:t>identifier</a:t>
            </a:r>
            <a:r>
              <a:rPr lang="es-AR" sz="2000" dirty="0"/>
              <a:t> et </a:t>
            </a:r>
            <a:r>
              <a:rPr lang="es-AR" sz="2000"/>
              <a:t>établir</a:t>
            </a:r>
            <a:r>
              <a:rPr lang="es-AR" sz="2000" dirty="0"/>
              <a:t> des </a:t>
            </a:r>
            <a:r>
              <a:rPr lang="es-AR" sz="2000"/>
              <a:t>correspondances</a:t>
            </a:r>
            <a:r>
              <a:rPr lang="es-AR" sz="2000" dirty="0"/>
              <a:t> entre des </a:t>
            </a:r>
            <a:r>
              <a:rPr lang="es-AR" sz="2000"/>
              <a:t>éléments</a:t>
            </a:r>
            <a:r>
              <a:rPr lang="es-AR" sz="2000" dirty="0"/>
              <a:t> </a:t>
            </a:r>
            <a:r>
              <a:rPr lang="es-AR" sz="2000"/>
              <a:t>issus</a:t>
            </a:r>
            <a:r>
              <a:rPr lang="es-AR" sz="2000" dirty="0"/>
              <a:t> de </a:t>
            </a:r>
            <a:r>
              <a:rPr lang="es-AR" sz="2000"/>
              <a:t>différentes</a:t>
            </a:r>
            <a:r>
              <a:rPr lang="es-AR" sz="2000" dirty="0"/>
              <a:t> </a:t>
            </a:r>
            <a:r>
              <a:rPr lang="es-AR" sz="2000"/>
              <a:t>modalités</a:t>
            </a:r>
            <a:r>
              <a:rPr lang="es-AR" sz="2000" dirty="0"/>
              <a:t>. </a:t>
            </a:r>
            <a:r>
              <a:rPr lang="es-AR" sz="2000"/>
              <a:t>Il</a:t>
            </a:r>
            <a:r>
              <a:rPr lang="es-AR" sz="2000" dirty="0"/>
              <a:t> vise à </a:t>
            </a:r>
            <a:r>
              <a:rPr lang="es-AR" sz="2000"/>
              <a:t>aligner</a:t>
            </a:r>
            <a:r>
              <a:rPr lang="es-AR" sz="2000" dirty="0"/>
              <a:t> ces </a:t>
            </a:r>
            <a:r>
              <a:rPr lang="es-AR" sz="2000"/>
              <a:t>informations</a:t>
            </a:r>
            <a:r>
              <a:rPr lang="es-AR" sz="2000" dirty="0"/>
              <a:t> </a:t>
            </a:r>
            <a:r>
              <a:rPr lang="es-AR" sz="2000"/>
              <a:t>dans</a:t>
            </a:r>
            <a:r>
              <a:rPr lang="es-AR" sz="2000" dirty="0"/>
              <a:t> le </a:t>
            </a:r>
            <a:r>
              <a:rPr lang="es-AR" sz="2000"/>
              <a:t>temps</a:t>
            </a:r>
            <a:r>
              <a:rPr lang="es-AR" sz="2000" dirty="0"/>
              <a:t> et </a:t>
            </a:r>
            <a:r>
              <a:rPr lang="es-AR" sz="2000"/>
              <a:t>ou</a:t>
            </a:r>
            <a:r>
              <a:rPr lang="es-AR" sz="2000" dirty="0"/>
              <a:t> </a:t>
            </a:r>
            <a:r>
              <a:rPr lang="es-AR" sz="2000"/>
              <a:t>dans</a:t>
            </a:r>
            <a:r>
              <a:rPr lang="es-AR" sz="2000" dirty="0"/>
              <a:t> </a:t>
            </a:r>
            <a:r>
              <a:rPr lang="es-AR" sz="2000"/>
              <a:t>l’espace</a:t>
            </a:r>
            <a:r>
              <a:rPr lang="es-AR" sz="2000" dirty="0"/>
              <a:t>, </a:t>
            </a:r>
            <a:r>
              <a:rPr lang="es-AR" sz="2000"/>
              <a:t>afin</a:t>
            </a:r>
            <a:r>
              <a:rPr lang="es-AR" sz="2000" dirty="0"/>
              <a:t> de garantir une mise en </a:t>
            </a:r>
            <a:r>
              <a:rPr lang="es-AR" sz="2000"/>
              <a:t>relation</a:t>
            </a:r>
            <a:r>
              <a:rPr lang="es-AR" sz="2000" dirty="0"/>
              <a:t> </a:t>
            </a:r>
            <a:r>
              <a:rPr lang="es-AR" sz="2000"/>
              <a:t>cohérente</a:t>
            </a:r>
            <a:r>
              <a:rPr lang="es-AR" sz="2000" dirty="0"/>
              <a:t> et un </a:t>
            </a:r>
            <a:r>
              <a:rPr lang="es-AR" sz="2000"/>
              <a:t>partage</a:t>
            </a:r>
            <a:r>
              <a:rPr lang="es-AR" sz="2000" dirty="0"/>
              <a:t> </a:t>
            </a:r>
            <a:r>
              <a:rPr lang="es-AR" sz="2000"/>
              <a:t>pertinent</a:t>
            </a:r>
            <a:r>
              <a:rPr lang="es-AR" sz="2000" dirty="0"/>
              <a:t> de </a:t>
            </a:r>
            <a:r>
              <a:rPr lang="es-AR" sz="2000"/>
              <a:t>l’information</a:t>
            </a:r>
            <a:r>
              <a:rPr lang="es-AR" sz="2000" dirty="0"/>
              <a:t> entre les </a:t>
            </a:r>
            <a:r>
              <a:rPr lang="es-AR" sz="2000"/>
              <a:t>modalités</a:t>
            </a:r>
            <a:r>
              <a:rPr lang="es-AR" sz="2000" dirty="0"/>
              <a:t>.</a:t>
            </a:r>
            <a:endParaRPr lang="fr-FR" sz="2000" dirty="0"/>
          </a:p>
          <a:p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25C1BF-4B4E-ED0A-977F-799D8CD0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158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7C34E3-CD91-9843-1D01-C64A0D5D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567" y="20755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>
                <a:solidFill>
                  <a:srgbClr val="FFFFFF"/>
                </a:solidFill>
              </a:rPr>
              <a:t>Data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Alignment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FA059D-FB77-D0B2-4827-BEBAFCB3E0DF}"/>
              </a:ext>
            </a:extLst>
          </p:cNvPr>
          <p:cNvSpPr txBox="1"/>
          <p:nvPr/>
        </p:nvSpPr>
        <p:spPr>
          <a:xfrm>
            <a:off x="7182676" y="3792778"/>
            <a:ext cx="4184373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latin typeface="+mn-lt"/>
                <a:ea typeface="+mn-ea"/>
                <a:cs typeface="+mn-cs"/>
              </a:rPr>
              <a:t>“</a:t>
            </a:r>
            <a:r>
              <a:rPr lang="en-US" sz="2000" kern="1200" dirty="0">
                <a:highlight>
                  <a:srgbClr val="FF0000"/>
                </a:highlight>
                <a:latin typeface="+mn-lt"/>
                <a:ea typeface="+mn-ea"/>
                <a:cs typeface="+mn-cs"/>
              </a:rPr>
              <a:t>Le Chien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court dans </a:t>
            </a:r>
            <a:r>
              <a:rPr lang="en-US" sz="2000" kern="1200" dirty="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l’ </a:t>
            </a:r>
            <a:r>
              <a:rPr lang="en-US" sz="2000" kern="1200" dirty="0" err="1">
                <a:highlight>
                  <a:srgbClr val="FFFF00"/>
                </a:highlight>
                <a:latin typeface="+mn-lt"/>
                <a:ea typeface="+mn-ea"/>
                <a:cs typeface="+mn-cs"/>
              </a:rPr>
              <a:t>herbe</a:t>
            </a:r>
            <a:r>
              <a:rPr lang="en-US" sz="2000" kern="1200" dirty="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 verte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”</a:t>
            </a:r>
          </a:p>
        </p:txBody>
      </p:sp>
      <p:pic>
        <p:nvPicPr>
          <p:cNvPr id="4" name="Espace réservé du contenu 3" descr="Une image contenant herbe, plein air, chien, animal domestique&#10;&#10;Le contenu généré par l’IA peut être incorrect.">
            <a:extLst>
              <a:ext uri="{FF2B5EF4-FFF2-40B4-BE49-F238E27FC236}">
                <a16:creationId xmlns:a16="http://schemas.microsoft.com/office/drawing/2014/main" id="{A68393B6-EC87-BBFE-9552-61E4BA647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8" t="9091"/>
          <a:stretch>
            <a:fillRect/>
          </a:stretch>
        </p:blipFill>
        <p:spPr bwMode="auto">
          <a:xfrm>
            <a:off x="777564" y="2003504"/>
            <a:ext cx="5627548" cy="4452160"/>
          </a:xfrm>
          <a:prstGeom prst="rect">
            <a:avLst/>
          </a:prstGeom>
          <a:noFill/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439D9F-E4F2-0F35-4538-A86106EA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08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E8311-813D-5C3C-A6D7-CCD9E7AC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767897-FD45-0631-108A-0A9D03944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6F2375-7097-BCD2-BA71-754E007E3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B93499-DB0F-2B33-7481-F0FCC27C6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79EA06-0667-9710-C63F-512E4F21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2CCAA3-A426-6EDB-DF10-5EB9788F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CB761CC0-1A63-1068-FE69-8E449A88AD14}"/>
              </a:ext>
            </a:extLst>
          </p:cNvPr>
          <p:cNvSpPr txBox="1">
            <a:spLocks/>
          </p:cNvSpPr>
          <p:nvPr/>
        </p:nvSpPr>
        <p:spPr>
          <a:xfrm>
            <a:off x="440692" y="125656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</a:rPr>
              <a:t>Structure d’</a:t>
            </a:r>
            <a:r>
              <a:rPr lang="en-US" dirty="0">
                <a:solidFill>
                  <a:schemeClr val="bg1"/>
                </a:solidFill>
              </a:rPr>
              <a:t> Alignment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8B4FCAD3-933B-02F1-B22C-B30C83210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Il existe deux principales structures, l’alignement Discret et l’alignement continue:</a:t>
            </a:r>
          </a:p>
          <a:p>
            <a:r>
              <a:rPr lang="fr-FR" sz="2000" dirty="0"/>
              <a:t>L’alignement discret et principalement utiliser pour les données qui ne nécessite pas de temporalité et sont par définitions des Éléments discrets, comme des photos du texte. </a:t>
            </a:r>
          </a:p>
          <a:p>
            <a:r>
              <a:rPr lang="fr-FR" sz="2000" dirty="0"/>
              <a:t>L’alignement continue est utiliser pour les signaux qui sont indivisible par nature comme les audio ou encore les vidéos </a:t>
            </a:r>
          </a:p>
          <a:p>
            <a:endParaRPr lang="fr-FR" sz="2000" dirty="0"/>
          </a:p>
        </p:txBody>
      </p:sp>
      <p:pic>
        <p:nvPicPr>
          <p:cNvPr id="12" name="Image 11" descr="Une image contenant texte, lign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ED8A8EF-330D-2BF1-6769-FE73EA254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761" y="3186010"/>
            <a:ext cx="5462478" cy="194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32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71733-3A46-483C-A722-052BE6A9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5808C39-2F74-7D77-DF0A-6BAEEAEF4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6574A0-3ACC-57B6-DE3A-E47833A67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518CFF-1C33-6DD8-78A4-6636BBCA7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908B5E-5EA6-B7F6-2C9D-50ABD01FE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310BBD-6ED5-C74C-13FD-6DF0DCB7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96" y="257977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Avantages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et 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limites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l’alignement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D1256F-D1F4-9BFB-49FE-ABE35C3C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23</a:t>
            </a:fld>
            <a:endParaRPr lang="fr-FR"/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25F22F00-9FD0-E86A-3E8E-5C4C7976DC0B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err="1"/>
              <a:t>Avantages</a:t>
            </a:r>
            <a:r>
              <a:rPr lang="en-US" dirty="0"/>
              <a:t>: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D453D0DD-A1EA-4848-9B62-EFFC0E3C0A19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L’alignement permet de relier directement des sous-éléments de deux modalités 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D98CA4E1-4571-304F-F7BB-F04B20FA15FE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u="sng" dirty="0"/>
              <a:t>Limites</a:t>
            </a:r>
            <a:r>
              <a:rPr lang="fr-FR" dirty="0"/>
              <a:t>: </a:t>
            </a:r>
          </a:p>
        </p:txBody>
      </p:sp>
      <p:sp>
        <p:nvSpPr>
          <p:cNvPr id="15" name="Espace réservé du contenu 5">
            <a:extLst>
              <a:ext uri="{FF2B5EF4-FFF2-40B4-BE49-F238E27FC236}">
                <a16:creationId xmlns:a16="http://schemas.microsoft.com/office/drawing/2014/main" id="{06C7FABF-6B20-6AFE-7A1B-2D84EBAA4791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Risque de perdre la spécificité de chaque modalité.</a:t>
            </a:r>
          </a:p>
          <a:p>
            <a:r>
              <a:rPr lang="fr-FR"/>
              <a:t>Plus sensible aux modalités manquantes.</a:t>
            </a:r>
          </a:p>
          <a:p>
            <a:r>
              <a:rPr lang="fr-FR"/>
              <a:t>La fusion peut introduire du bruit ou de la redondance si elle est mal contrôlée.</a:t>
            </a:r>
          </a:p>
          <a:p>
            <a:r>
              <a:rPr lang="fr-FR"/>
              <a:t>Peut nécessiter beaucoup de données pour apprendre une représentation commune stable.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8220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D33EF-C029-9B2C-C2EC-CAED1E7D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 Co-learning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96D38D-8A35-E72B-B2FE-5F6DCCA9E3C4}"/>
              </a:ext>
            </a:extLst>
          </p:cNvPr>
          <p:cNvSpPr txBox="1"/>
          <p:nvPr/>
        </p:nvSpPr>
        <p:spPr>
          <a:xfrm>
            <a:off x="5297557" y="3003756"/>
            <a:ext cx="5817895" cy="3339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co-learning</a:t>
            </a:r>
            <a:r>
              <a:rPr lang="fr-FR" dirty="0"/>
              <a:t> multimodal est l’approche qui permet de transférer l’information d’une modalité vers une autre afin d’obtenir des modèles capables de fonctionner même avec des modalités manquantes, bruitées ou peu annotées.</a:t>
            </a:r>
          </a:p>
        </p:txBody>
      </p:sp>
      <p:pic>
        <p:nvPicPr>
          <p:cNvPr id="4" name="Espace réservé du contenu 3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F401D835-4EA5-E9DA-3880-AEEAC28DD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5400000">
            <a:off x="7049210" y="-1459407"/>
            <a:ext cx="2209913" cy="5922571"/>
          </a:xfrm>
          <a:prstGeom prst="rect">
            <a:avLst/>
          </a:prstGeom>
          <a:noFill/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652423-A3F4-01DA-D14D-7FAF6972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024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901FC-675F-4C8A-C468-E16141D3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400C95E-A6CA-702D-297E-C5A67719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B508D6-BD60-184C-7F76-9EFF1C6B1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E2DCDD-B252-4BF1-CA30-9107836C1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0F36F-5F54-E5D5-BCD7-1FF16F8E2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E2E3770-2FE0-64B5-6322-F78B3AD13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0FDBEB-6074-77AE-F7ED-C8DEB7078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Espace réservé du contenu 3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F5A474C5-D771-6929-585A-F21784E39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9010" y="457200"/>
            <a:ext cx="2217760" cy="5943600"/>
          </a:xfrm>
          <a:prstGeom prst="rect">
            <a:avLst/>
          </a:prstGeom>
          <a:noFill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8223776-0720-7498-5463-5C6C00DBF877}"/>
              </a:ext>
            </a:extLst>
          </p:cNvPr>
          <p:cNvSpPr txBox="1"/>
          <p:nvPr/>
        </p:nvSpPr>
        <p:spPr>
          <a:xfrm>
            <a:off x="777835" y="2176862"/>
            <a:ext cx="67808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Le </a:t>
            </a:r>
            <a:r>
              <a:rPr lang="fr-FR" dirty="0">
                <a:solidFill>
                  <a:schemeClr val="bg1"/>
                </a:solidFill>
              </a:rPr>
              <a:t>co-learning permet de transférer les connaissances d’une modalité vers une modalité plus limitée ou bruitée.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Il exploite la complémentarité des modalités pour améliorer les performances, même lorsque certaines informations manquent.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Approche est particulièrement adaptée aux contextes réels où les données sont souvent incomplètes ou imparfaites comme dans la santé, systèmes autonomes …</a:t>
            </a:r>
            <a:endParaRPr lang="es-A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D18DD9-2199-D765-DFC5-022416D3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125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7EA4B7-0DBF-872B-1E7B-50471FB77089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 grands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défis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du co-learning multimodal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A86A2A0-472C-48CF-7C71-1A5A7C1A1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228345"/>
              </p:ext>
            </p:extLst>
          </p:nvPr>
        </p:nvGraphicFramePr>
        <p:xfrm>
          <a:off x="432225" y="1981866"/>
          <a:ext cx="11327549" cy="44210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85352">
                  <a:extLst>
                    <a:ext uri="{9D8B030D-6E8A-4147-A177-3AD203B41FA5}">
                      <a16:colId xmlns:a16="http://schemas.microsoft.com/office/drawing/2014/main" val="1658389980"/>
                    </a:ext>
                  </a:extLst>
                </a:gridCol>
                <a:gridCol w="8542197">
                  <a:extLst>
                    <a:ext uri="{9D8B030D-6E8A-4147-A177-3AD203B41FA5}">
                      <a16:colId xmlns:a16="http://schemas.microsoft.com/office/drawing/2014/main" val="426916927"/>
                    </a:ext>
                  </a:extLst>
                </a:gridCol>
              </a:tblGrid>
              <a:tr h="4179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200" b="1" i="0" u="none" strike="noStrike" cap="all" spc="6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Objectif</a:t>
                      </a:r>
                      <a:endParaRPr lang="es-AR" sz="1200" b="1" i="0" u="none" strike="noStrike" cap="all" spc="6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94983" marB="94983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2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But</a:t>
                      </a:r>
                    </a:p>
                  </a:txBody>
                  <a:tcPr marL="96715" marR="28014" marT="94983" marB="9498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917810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Présence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de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modalité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prédire lorsqu’une ou plusieurs modalités sont totalement ou partiellement absentes à l’entraînement ou au test.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68713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Parallélisme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données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dirty="0"/>
                        <a:t>Doit gérer des données qui peuvent être soit fortement liées, soit faiblement mises en correspondance, ou reliées par une modalité commune</a:t>
                      </a: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7663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Modalité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bruitée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fonctionner dans des conditions bruitées, que ce soit au niveau des données ou des annotations.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30378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Annotations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des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modalités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gérer les modalités annotées, partiellement annotées ou non annotées pendant l’entraînement.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78210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Adaptation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de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domaine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être performant même lorsqu’il y a un changement de jeu de données / domaine / modalité entre l’entraînement et le test.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16478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Interprétabilité</a:t>
                      </a:r>
                      <a:r>
                        <a:rPr lang="es-A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et </a:t>
                      </a:r>
                      <a:r>
                        <a:rPr lang="es-AR" sz="1700" b="0" i="0" u="none" strike="noStrike" cap="none" spc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équité</a:t>
                      </a:r>
                      <a:endParaRPr lang="es-AR" sz="17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fournir des prédictions interprétables et non biaisées, accompagnées d’explications et respectant l’équité.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482671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D372D8-6FC8-FF8B-4132-75B9D17B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052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4ACF0-BEE7-9776-296F-E5FD2B55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A8254C-4A28-2E6A-DFEC-DF12A6B0C935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Défis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ouverts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et solutions possibles :</a:t>
            </a:r>
          </a:p>
        </p:txBody>
      </p:sp>
      <p:pic>
        <p:nvPicPr>
          <p:cNvPr id="48" name="Graphic 47" descr="Ampoule">
            <a:extLst>
              <a:ext uri="{FF2B5EF4-FFF2-40B4-BE49-F238E27FC236}">
                <a16:creationId xmlns:a16="http://schemas.microsoft.com/office/drawing/2014/main" id="{85324288-9544-26DB-290D-F606B3A8B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BC51B5-7B7A-00B6-AE14-32A3548B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535EC-3D36-3C1B-5E8D-94956D81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92C2BA-6A82-7941-09A0-3B873A35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Qualité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 données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4C3EDE-840F-25C0-4FCC-3C04444E36F7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Comme dans </a:t>
            </a:r>
            <a:r>
              <a:rPr lang="en-US" sz="2000" dirty="0" err="1"/>
              <a:t>tous</a:t>
            </a:r>
            <a:r>
              <a:rPr lang="en-US" sz="2000" dirty="0"/>
              <a:t> model </a:t>
            </a:r>
            <a:r>
              <a:rPr lang="en-US" sz="2000" dirty="0" err="1"/>
              <a:t>d’intelligence</a:t>
            </a:r>
            <a:r>
              <a:rPr lang="en-US" sz="2000" dirty="0"/>
              <a:t> </a:t>
            </a:r>
            <a:r>
              <a:rPr lang="en-US" sz="2000" dirty="0" err="1"/>
              <a:t>Artificiel</a:t>
            </a:r>
            <a:r>
              <a:rPr lang="en-US" sz="2000" dirty="0"/>
              <a:t> les données </a:t>
            </a:r>
            <a:r>
              <a:rPr lang="en-US" sz="2000" dirty="0" err="1"/>
              <a:t>sont</a:t>
            </a:r>
            <a:r>
              <a:rPr lang="en-US" sz="2000" dirty="0"/>
              <a:t> le nerf de la guerre il </a:t>
            </a:r>
            <a:r>
              <a:rPr lang="en-US" sz="2000" dirty="0" err="1"/>
              <a:t>existe</a:t>
            </a:r>
            <a:r>
              <a:rPr lang="en-US" sz="2000" dirty="0"/>
              <a:t> la </a:t>
            </a:r>
            <a:r>
              <a:rPr lang="en-US" sz="2000" dirty="0" err="1"/>
              <a:t>méme</a:t>
            </a:r>
            <a:r>
              <a:rPr lang="en-US" sz="2000" dirty="0"/>
              <a:t> </a:t>
            </a:r>
            <a:r>
              <a:rPr lang="en-US" sz="2000" dirty="0" err="1"/>
              <a:t>problématique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pour les model  </a:t>
            </a:r>
            <a:r>
              <a:rPr lang="en-US" sz="2000" dirty="0" err="1"/>
              <a:t>unimodaux</a:t>
            </a:r>
            <a:r>
              <a:rPr lang="en-US" sz="2000" dirty="0"/>
              <a:t> :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Petite taille du dataset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Catégories </a:t>
            </a:r>
            <a:r>
              <a:rPr lang="en-US" sz="2000" dirty="0" err="1"/>
              <a:t>déséquilibrées</a:t>
            </a:r>
            <a:r>
              <a:rPr lang="en-US" sz="2000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Erreurs</a:t>
            </a:r>
            <a:r>
              <a:rPr lang="en-US" sz="2000" dirty="0"/>
              <a:t> </a:t>
            </a:r>
            <a:r>
              <a:rPr lang="en-US" sz="2000" dirty="0" err="1"/>
              <a:t>d’annotation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Solutions possibles 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Utilisation</a:t>
            </a:r>
            <a:r>
              <a:rPr lang="en-US" sz="2000" dirty="0"/>
              <a:t> de dataset augmenter par des données </a:t>
            </a:r>
            <a:r>
              <a:rPr lang="en-US" sz="2000" dirty="0" err="1"/>
              <a:t>synthétique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les </a:t>
            </a:r>
            <a:r>
              <a:rPr lang="en-US" sz="2000" dirty="0" err="1"/>
              <a:t>résultat</a:t>
            </a:r>
            <a:r>
              <a:rPr lang="en-US" sz="2000" dirty="0"/>
              <a:t> </a:t>
            </a:r>
            <a:r>
              <a:rPr lang="en-US" sz="2000" dirty="0" err="1"/>
              <a:t>reste</a:t>
            </a:r>
            <a:r>
              <a:rPr lang="en-US" sz="2000" dirty="0"/>
              <a:t> </a:t>
            </a:r>
            <a:r>
              <a:rPr lang="en-US" sz="2000" dirty="0" err="1"/>
              <a:t>limité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GAN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Augmenter le </a:t>
            </a:r>
            <a:r>
              <a:rPr lang="en-US" sz="2000" dirty="0" err="1"/>
              <a:t>nombre</a:t>
            </a:r>
            <a:r>
              <a:rPr lang="en-US" sz="2000" dirty="0"/>
              <a:t> de </a:t>
            </a:r>
            <a:r>
              <a:rPr lang="en-US" sz="2000" dirty="0" err="1"/>
              <a:t>capteurs</a:t>
            </a:r>
            <a:r>
              <a:rPr lang="en-US" sz="2000" dirty="0"/>
              <a:t> pour </a:t>
            </a:r>
            <a:r>
              <a:rPr lang="en-US" sz="2000" dirty="0" err="1"/>
              <a:t>réduire</a:t>
            </a:r>
            <a:r>
              <a:rPr lang="en-US" sz="2000" dirty="0"/>
              <a:t> les variations </a:t>
            </a:r>
            <a:r>
              <a:rPr lang="en-US" sz="2000" dirty="0" err="1"/>
              <a:t>intrinsec</a:t>
            </a:r>
            <a:r>
              <a:rPr lang="en-US" sz="2000" dirty="0"/>
              <a:t> au  </a:t>
            </a:r>
            <a:r>
              <a:rPr lang="en-US" sz="2000" dirty="0" err="1"/>
              <a:t>capteur</a:t>
            </a:r>
            <a:r>
              <a:rPr lang="en-US" sz="2000" dirty="0"/>
              <a:t>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Porter </a:t>
            </a:r>
            <a:r>
              <a:rPr lang="en-US" sz="2000" dirty="0" err="1"/>
              <a:t>une</a:t>
            </a:r>
            <a:r>
              <a:rPr lang="en-US" sz="2000" dirty="0"/>
              <a:t> attention </a:t>
            </a:r>
            <a:r>
              <a:rPr lang="en-US" sz="2000" dirty="0" err="1"/>
              <a:t>particuliére</a:t>
            </a:r>
            <a:r>
              <a:rPr lang="en-US" sz="2000" dirty="0"/>
              <a:t> à  </a:t>
            </a:r>
            <a:r>
              <a:rPr lang="en-US" sz="2000" dirty="0" err="1"/>
              <a:t>l’équilibres</a:t>
            </a:r>
            <a:r>
              <a:rPr lang="en-US" sz="2000" dirty="0"/>
              <a:t> des données,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CCEE14-FA7D-C8F6-2B28-F84F4CE6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663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9084C-8296-34FA-BA65-E4FE210B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7169BE-AB4D-733E-CE83-AF0BE93E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Perte d’information </a:t>
            </a: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1137E7-8003-ABE0-A758-C52792C603EB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 fusion </a:t>
            </a:r>
            <a:r>
              <a:rPr lang="en-US" sz="2000" dirty="0" err="1"/>
              <a:t>entraine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perte</a:t>
            </a:r>
            <a:r>
              <a:rPr lang="en-US" sz="2000" dirty="0"/>
              <a:t> </a:t>
            </a:r>
            <a:r>
              <a:rPr lang="en-US" sz="2000" dirty="0" err="1"/>
              <a:t>d’informations</a:t>
            </a:r>
            <a:r>
              <a:rPr lang="en-US" sz="2000" dirty="0"/>
              <a:t> </a:t>
            </a:r>
            <a:r>
              <a:rPr lang="en-US" sz="2000" dirty="0" err="1"/>
              <a:t>lors</a:t>
            </a:r>
            <a:r>
              <a:rPr lang="en-US" sz="2000" dirty="0"/>
              <a:t> de la translation des données </a:t>
            </a:r>
            <a:r>
              <a:rPr lang="en-US" sz="2000" dirty="0" err="1"/>
              <a:t>d’une</a:t>
            </a:r>
            <a:r>
              <a:rPr lang="en-US" sz="2000" dirty="0"/>
              <a:t> </a:t>
            </a:r>
            <a:r>
              <a:rPr lang="en-US" sz="2000" dirty="0" err="1"/>
              <a:t>modalité</a:t>
            </a:r>
            <a:r>
              <a:rPr lang="en-US" sz="2000" dirty="0"/>
              <a:t> vers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autre</a:t>
            </a:r>
            <a:r>
              <a:rPr lang="en-US" sz="2000" dirty="0"/>
              <a:t>. Par </a:t>
            </a:r>
            <a:r>
              <a:rPr lang="en-US" sz="2000" dirty="0" err="1"/>
              <a:t>exemple</a:t>
            </a:r>
            <a:r>
              <a:rPr lang="en-US" sz="2000" dirty="0"/>
              <a:t> </a:t>
            </a:r>
            <a:r>
              <a:rPr lang="en-US" sz="2000" dirty="0" err="1"/>
              <a:t>quand</a:t>
            </a:r>
            <a:r>
              <a:rPr lang="en-US" sz="2000" dirty="0"/>
              <a:t> on passe </a:t>
            </a:r>
            <a:r>
              <a:rPr lang="en-US" sz="2000" dirty="0" err="1"/>
              <a:t>d’une</a:t>
            </a:r>
            <a:r>
              <a:rPr lang="en-US" sz="2000" dirty="0"/>
              <a:t> </a:t>
            </a:r>
            <a:r>
              <a:rPr lang="en-US" sz="2000" dirty="0" err="1"/>
              <a:t>modalité</a:t>
            </a:r>
            <a:r>
              <a:rPr lang="en-US" sz="2000" dirty="0"/>
              <a:t> 3D </a:t>
            </a:r>
            <a:r>
              <a:rPr lang="en-US" sz="2000" dirty="0" err="1"/>
              <a:t>en</a:t>
            </a:r>
            <a:r>
              <a:rPr lang="en-US" sz="2000" dirty="0"/>
              <a:t> 2D il y a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dirty="0" err="1"/>
              <a:t>perte</a:t>
            </a:r>
            <a:r>
              <a:rPr lang="en-US" sz="2000" dirty="0"/>
              <a:t> </a:t>
            </a:r>
            <a:r>
              <a:rPr lang="en-US" sz="2000" dirty="0" err="1"/>
              <a:t>d’informations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 </a:t>
            </a:r>
            <a:r>
              <a:rPr lang="en-US" sz="2000" dirty="0" err="1"/>
              <a:t>lors</a:t>
            </a:r>
            <a:r>
              <a:rPr lang="en-US" sz="2000" dirty="0"/>
              <a:t> </a:t>
            </a:r>
            <a:r>
              <a:rPr lang="en-US" sz="2000" dirty="0" err="1"/>
              <a:t>d’une</a:t>
            </a:r>
            <a:r>
              <a:rPr lang="en-US" sz="2000" dirty="0"/>
              <a:t> translation </a:t>
            </a:r>
            <a:r>
              <a:rPr lang="en-US" sz="2000" dirty="0" err="1"/>
              <a:t>d’images</a:t>
            </a:r>
            <a:r>
              <a:rPr lang="en-US" sz="2000" dirty="0"/>
              <a:t> vers </a:t>
            </a:r>
            <a:r>
              <a:rPr lang="en-US" sz="2000" dirty="0" err="1"/>
              <a:t>une</a:t>
            </a:r>
            <a:r>
              <a:rPr lang="en-US" sz="2000" dirty="0"/>
              <a:t> description.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Solutions possibles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 convolution continue </a:t>
            </a:r>
            <a:r>
              <a:rPr lang="en-US" sz="2000" dirty="0" err="1"/>
              <a:t>reste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solution </a:t>
            </a:r>
            <a:r>
              <a:rPr lang="en-US" sz="2000" dirty="0" err="1"/>
              <a:t>potentiel</a:t>
            </a:r>
            <a:r>
              <a:rPr lang="en-US" sz="2000" dirty="0"/>
              <a:t>, </a:t>
            </a:r>
            <a:r>
              <a:rPr lang="fr-FR" sz="2000" dirty="0"/>
              <a:t>elle permet de réduire la perte d’information géométrique en capturant des informations locales.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D93120-1070-07DE-38AA-60EC49C7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88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65869-182C-0AD0-A4D8-34AB5377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8662677-2987-83B9-FD1A-E6F0E2307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3A56EC-A386-15BC-C4E0-FC6763B68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9709FE-A78E-A6BE-DA78-8222DA37B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CDC970-1033-520F-C0C8-BA2BDD957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22B140-637E-C299-E830-F6A275B9D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953D0E-538C-E65F-8715-0B1F0258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Accumulation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 err="1">
                <a:solidFill>
                  <a:schemeClr val="bg1"/>
                </a:solidFill>
              </a:rPr>
              <a:t>d’erreurs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10B7C0-48FB-2B2E-295E-D7798BA132E4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 fusion de </a:t>
            </a:r>
            <a:r>
              <a:rPr lang="en-US" sz="2000" dirty="0" err="1"/>
              <a:t>modalité</a:t>
            </a:r>
            <a:r>
              <a:rPr lang="en-US" sz="2000" dirty="0"/>
              <a:t> </a:t>
            </a:r>
            <a:r>
              <a:rPr lang="en-US" sz="2000" dirty="0" err="1"/>
              <a:t>peut</a:t>
            </a:r>
            <a:r>
              <a:rPr lang="en-US" sz="2000" dirty="0"/>
              <a:t> </a:t>
            </a:r>
            <a:r>
              <a:rPr lang="en-US" sz="2000" dirty="0" err="1"/>
              <a:t>introduit</a:t>
            </a:r>
            <a:r>
              <a:rPr lang="en-US" sz="2000" dirty="0"/>
              <a:t> du bruit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Deux type de bruit inter et  externe interne </a:t>
            </a:r>
            <a:r>
              <a:rPr lang="en-US" sz="2000" dirty="0" err="1"/>
              <a:t>viens</a:t>
            </a:r>
            <a:r>
              <a:rPr lang="en-US" sz="2000" dirty="0"/>
              <a:t> des données </a:t>
            </a:r>
            <a:r>
              <a:rPr lang="en-US" sz="2000" dirty="0" err="1"/>
              <a:t>elles</a:t>
            </a:r>
            <a:r>
              <a:rPr lang="en-US" sz="2000" dirty="0"/>
              <a:t> </a:t>
            </a:r>
            <a:r>
              <a:rPr lang="en-US" sz="2000" dirty="0" err="1"/>
              <a:t>méme</a:t>
            </a:r>
            <a:r>
              <a:rPr lang="en-US" sz="2000" dirty="0"/>
              <a:t> et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Le </a:t>
            </a:r>
            <a:r>
              <a:rPr lang="fr-FR" sz="2000" b="1" dirty="0"/>
              <a:t>bruit interne</a:t>
            </a:r>
            <a:r>
              <a:rPr lang="fr-FR" sz="2000" dirty="0"/>
              <a:t> désigne le bruit intrinsèque aux données elles-mêmes, également appelé </a:t>
            </a:r>
            <a:r>
              <a:rPr lang="fr-FR" sz="2000" b="1" dirty="0"/>
              <a:t>bruit caractéristique.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Le </a:t>
            </a:r>
            <a:r>
              <a:rPr lang="fr-FR" sz="2000" b="1" dirty="0"/>
              <a:t>bruit externe</a:t>
            </a:r>
            <a:r>
              <a:rPr lang="fr-FR" sz="2000" dirty="0"/>
              <a:t> correspond au bruit généré lors de l’étape de fusion des données multimodales.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Solutions possibles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Certaines études utilisent des techniques de </a:t>
            </a:r>
            <a:r>
              <a:rPr lang="fr-FR" sz="2000" b="1" dirty="0"/>
              <a:t>traduction des données</a:t>
            </a:r>
            <a:r>
              <a:rPr lang="fr-FR" sz="2000" dirty="0"/>
              <a:t> pour convertir les données multimodales entre elles et unifier les données provenant de différentes modalités. Il est possible d’optimiser davantage ces approches sur cette base.</a:t>
            </a:r>
            <a:endParaRPr lang="en-US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B018E5-5FE0-67F5-F871-6859B93E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209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0CD2A-8E6D-2DBB-6389-51011E91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CF7D8CD-41B6-44ED-DB0B-200027560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B649D1-F5A6-A58D-54E5-DE7B09F43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F123C3-9D97-9176-723A-81EBFA0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1EB907-CB4D-0490-8444-DD281BD92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FD5B13-5DFE-E687-D310-D7C041063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2B2AF8-27E9-4D0C-2086-9FEE61CC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Quantité</a:t>
            </a:r>
            <a:r>
              <a:rPr lang="es-AR" sz="4000" dirty="0">
                <a:solidFill>
                  <a:schemeClr val="bg1"/>
                </a:solidFill>
              </a:rPr>
              <a:t> de </a:t>
            </a:r>
            <a:r>
              <a:rPr lang="es-AR" sz="4000" dirty="0" err="1">
                <a:solidFill>
                  <a:schemeClr val="bg1"/>
                </a:solidFill>
              </a:rPr>
              <a:t>modalités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C6DEFA-50C4-CE09-0628-526BB66E9012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Plus de </a:t>
            </a:r>
            <a:r>
              <a:rPr lang="en-US" sz="2000" dirty="0" err="1"/>
              <a:t>modalité</a:t>
            </a:r>
            <a:r>
              <a:rPr lang="en-US" sz="2000" dirty="0"/>
              <a:t>  = </a:t>
            </a:r>
            <a:r>
              <a:rPr lang="en-US" sz="2000" dirty="0" err="1"/>
              <a:t>crée</a:t>
            </a:r>
            <a:r>
              <a:rPr lang="en-US" sz="2000" dirty="0"/>
              <a:t> plus de bruit et  trop de dimensions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Mais </a:t>
            </a:r>
            <a:r>
              <a:rPr lang="en-US" sz="2000" dirty="0" err="1"/>
              <a:t>certains</a:t>
            </a:r>
            <a:r>
              <a:rPr lang="en-US" sz="2000" dirty="0"/>
              <a:t> </a:t>
            </a:r>
            <a:r>
              <a:rPr lang="en-US" sz="2000" dirty="0" err="1"/>
              <a:t>domaiùe</a:t>
            </a:r>
            <a:r>
              <a:rPr lang="en-US" sz="2000" dirty="0"/>
              <a:t> </a:t>
            </a:r>
            <a:r>
              <a:rPr lang="en-US" sz="2000" dirty="0" err="1"/>
              <a:t>demande</a:t>
            </a:r>
            <a:r>
              <a:rPr lang="en-US" sz="2000" dirty="0"/>
              <a:t> plus </a:t>
            </a:r>
            <a:r>
              <a:rPr lang="en-US" sz="2000" dirty="0" err="1"/>
              <a:t>dimention</a:t>
            </a:r>
            <a:r>
              <a:rPr lang="en-US" sz="2000" dirty="0"/>
              <a:t> </a:t>
            </a:r>
            <a:r>
              <a:rPr lang="en-US" sz="2000" dirty="0" err="1"/>
              <a:t>comme</a:t>
            </a:r>
            <a:r>
              <a:rPr lang="en-US" sz="2000" dirty="0"/>
              <a:t> la conduit </a:t>
            </a:r>
            <a:r>
              <a:rPr lang="en-US" sz="2000" dirty="0" err="1"/>
              <a:t>autonome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Solutions possibles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Gestions des </a:t>
            </a:r>
            <a:r>
              <a:rPr lang="en-US" sz="2000" dirty="0" err="1"/>
              <a:t>dimention</a:t>
            </a:r>
            <a:r>
              <a:rPr lang="en-US" sz="2000" dirty="0"/>
              <a:t> = </a:t>
            </a:r>
            <a:r>
              <a:rPr lang="en-US" sz="2000" dirty="0" err="1"/>
              <a:t>utilisation</a:t>
            </a:r>
            <a:r>
              <a:rPr lang="en-US" sz="2000" dirty="0"/>
              <a:t> </a:t>
            </a:r>
            <a:r>
              <a:rPr lang="en-US" sz="2000" dirty="0" err="1"/>
              <a:t>d’algo</a:t>
            </a:r>
            <a:r>
              <a:rPr lang="en-US" sz="2000" dirty="0"/>
              <a:t> de reduction de </a:t>
            </a:r>
            <a:r>
              <a:rPr lang="en-US" sz="2000" dirty="0" err="1"/>
              <a:t>dimention</a:t>
            </a:r>
            <a:r>
              <a:rPr lang="en-US" sz="2000" dirty="0"/>
              <a:t> </a:t>
            </a:r>
            <a:r>
              <a:rPr lang="en-US" sz="2000" dirty="0" err="1"/>
              <a:t>comme</a:t>
            </a:r>
            <a:r>
              <a:rPr lang="en-US" sz="2000" dirty="0"/>
              <a:t> le PCA </a:t>
            </a:r>
            <a:r>
              <a:rPr lang="en-US" sz="2000" dirty="0" err="1"/>
              <a:t>ou</a:t>
            </a:r>
            <a:r>
              <a:rPr lang="en-US" sz="2000" dirty="0"/>
              <a:t>  </a:t>
            </a:r>
            <a:r>
              <a:rPr lang="en-US" sz="2000" dirty="0" err="1"/>
              <a:t>l’approche</a:t>
            </a:r>
            <a:r>
              <a:rPr lang="en-US" sz="2000" dirty="0"/>
              <a:t> </a:t>
            </a:r>
            <a:r>
              <a:rPr lang="en-US" sz="2000" dirty="0" err="1"/>
              <a:t>gausienne</a:t>
            </a:r>
            <a:r>
              <a:rPr lang="en-US" sz="2000" dirty="0"/>
              <a:t> toute </a:t>
            </a:r>
            <a:r>
              <a:rPr lang="en-US" sz="2000" dirty="0" err="1"/>
              <a:t>fois</a:t>
            </a:r>
            <a:r>
              <a:rPr lang="en-US" sz="2000" dirty="0"/>
              <a:t>, applicable </a:t>
            </a:r>
            <a:r>
              <a:rPr lang="en-US" sz="2000" dirty="0" err="1"/>
              <a:t>suelemltn</a:t>
            </a:r>
            <a:r>
              <a:rPr lang="en-US" sz="2000" dirty="0"/>
              <a:t> sur les </a:t>
            </a:r>
            <a:r>
              <a:rPr lang="fr-FR" sz="2000" dirty="0"/>
              <a:t>tâches multimodales comportant un nombre limité de modalités.</a:t>
            </a:r>
            <a:r>
              <a:rPr lang="en-US" sz="2000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7FC217-BB39-28B0-08FA-FD5D3BFF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397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56481-9C05-C2EE-4200-B0B1877D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490D6A23-E5B7-28C5-4D99-C98CAAAA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A95082-9737-2E22-E612-9D8A27B39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11EB1D-644F-0A20-5605-D3866F908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913725-AD89-0A77-BC77-B357BA23A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40E08C-EC2E-13C2-DC8F-EB7CABF85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401567-F394-572A-CCC9-BEC421F6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Garantie</a:t>
            </a:r>
            <a:r>
              <a:rPr lang="es-AR" sz="4000" dirty="0">
                <a:solidFill>
                  <a:schemeClr val="bg1"/>
                </a:solidFill>
              </a:rPr>
              <a:t> en </a:t>
            </a:r>
            <a:r>
              <a:rPr lang="es-AR" sz="4000" dirty="0" err="1">
                <a:solidFill>
                  <a:schemeClr val="bg1"/>
                </a:solidFill>
              </a:rPr>
              <a:t>temps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 err="1">
                <a:solidFill>
                  <a:schemeClr val="bg1"/>
                </a:solidFill>
              </a:rPr>
              <a:t>réel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E67FC27-51B8-7818-777F-D2E28AD5329F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Dans certain </a:t>
            </a:r>
            <a:r>
              <a:rPr lang="en-US" sz="2000" dirty="0" err="1"/>
              <a:t>systéme</a:t>
            </a:r>
            <a:r>
              <a:rPr lang="en-US" sz="2000" dirty="0"/>
              <a:t> les données MM </a:t>
            </a:r>
            <a:r>
              <a:rPr lang="en-US" sz="2000" dirty="0" err="1"/>
              <a:t>sont</a:t>
            </a:r>
            <a:r>
              <a:rPr lang="en-US" sz="2000" dirty="0"/>
              <a:t> </a:t>
            </a:r>
            <a:r>
              <a:rPr lang="en-US" sz="2000" dirty="0" err="1"/>
              <a:t>collecter</a:t>
            </a:r>
            <a:r>
              <a:rPr lang="en-US" sz="2000" dirty="0"/>
              <a:t> de manière </a:t>
            </a:r>
            <a:r>
              <a:rPr lang="en-US" sz="2000" dirty="0" err="1"/>
              <a:t>dynamique</a:t>
            </a:r>
            <a:r>
              <a:rPr lang="en-US" sz="2000" dirty="0"/>
              <a:t> </a:t>
            </a:r>
            <a:r>
              <a:rPr lang="en-US" sz="2000" dirty="0" err="1"/>
              <a:t>comme</a:t>
            </a:r>
            <a:r>
              <a:rPr lang="en-US" sz="2000" dirty="0"/>
              <a:t> pour la conduit </a:t>
            </a:r>
            <a:r>
              <a:rPr lang="en-US" sz="2000" dirty="0" err="1"/>
              <a:t>automatique</a:t>
            </a:r>
            <a:r>
              <a:rPr lang="en-US" sz="2000" dirty="0"/>
              <a:t>. Il est  </a:t>
            </a:r>
            <a:r>
              <a:rPr lang="en-US" sz="2000" dirty="0" err="1"/>
              <a:t>donc</a:t>
            </a:r>
            <a:r>
              <a:rPr lang="en-US" sz="2000" dirty="0"/>
              <a:t> indispensable </a:t>
            </a:r>
            <a:r>
              <a:rPr lang="en-US" sz="2000" dirty="0" err="1"/>
              <a:t>d’avoir</a:t>
            </a:r>
            <a:r>
              <a:rPr lang="en-US" sz="2000" dirty="0"/>
              <a:t> des model performant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Solutions possibles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19E10F-12DE-2BC4-91C9-7886FA76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640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6F20B-B41C-7872-9D06-CA6D052A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F70798C-740B-6008-ED3B-C80A3DB38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67D5EA-1F6B-1BB7-3383-0D98C24BC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333281-8043-6C86-1DAC-1F85DD2B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A497E5-A508-96AE-BEA3-A80015E0F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87398F-CB4E-F98C-E12E-3231CAC15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92EAF7-0D0A-5152-42F4-6353CF14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Environnement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 err="1">
                <a:solidFill>
                  <a:schemeClr val="bg1"/>
                </a:solidFill>
              </a:rPr>
              <a:t>dynamique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15165D-A46F-6604-6BF6-5693A7789E6E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Défis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 fusion de </a:t>
            </a:r>
            <a:r>
              <a:rPr lang="en-US" sz="2000" dirty="0" err="1"/>
              <a:t>modalité</a:t>
            </a:r>
            <a:r>
              <a:rPr lang="en-US" sz="2000" dirty="0"/>
              <a:t> </a:t>
            </a:r>
            <a:r>
              <a:rPr lang="en-US" sz="2000" dirty="0" err="1"/>
              <a:t>peut</a:t>
            </a:r>
            <a:r>
              <a:rPr lang="en-US" sz="2000" dirty="0"/>
              <a:t> </a:t>
            </a:r>
            <a:r>
              <a:rPr lang="en-US" sz="2000" dirty="0" err="1"/>
              <a:t>introduit</a:t>
            </a:r>
            <a:r>
              <a:rPr lang="en-US" sz="2000" dirty="0"/>
              <a:t> du bruit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Solutions possibles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6E3619-C238-D6AA-3494-5D83B004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10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437BB8-0764-4822-10D7-96F79362C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Les applications de la Fusion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74CC0-436E-C023-33AC-209F5E424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22" y="3097433"/>
            <a:ext cx="4958966" cy="1930876"/>
          </a:xfrm>
        </p:spPr>
        <p:txBody>
          <a:bodyPr>
            <a:normAutofit/>
          </a:bodyPr>
          <a:lstStyle/>
          <a:p>
            <a:endParaRPr lang="fr-FR" sz="2000" dirty="0"/>
          </a:p>
          <a:p>
            <a:pPr lvl="1"/>
            <a:r>
              <a:rPr lang="fr-FR" sz="2000" dirty="0" err="1"/>
              <a:t>Autonomous</a:t>
            </a:r>
            <a:r>
              <a:rPr lang="fr-FR" sz="2000" dirty="0"/>
              <a:t> Driving</a:t>
            </a:r>
          </a:p>
          <a:p>
            <a:pPr lvl="1"/>
            <a:r>
              <a:rPr lang="fr-FR" sz="2000" dirty="0"/>
              <a:t>Smart </a:t>
            </a:r>
            <a:r>
              <a:rPr lang="fr-FR" sz="2000" dirty="0" err="1"/>
              <a:t>Helthcare</a:t>
            </a:r>
            <a:endParaRPr lang="fr-FR" sz="2000" dirty="0"/>
          </a:p>
          <a:p>
            <a:pPr lvl="1"/>
            <a:r>
              <a:rPr lang="fr-FR" sz="2000" dirty="0"/>
              <a:t>Sentimental </a:t>
            </a:r>
            <a:r>
              <a:rPr lang="fr-FR" sz="2000" dirty="0" err="1"/>
              <a:t>analysis</a:t>
            </a:r>
            <a:endParaRPr lang="fr-FR" sz="2000" dirty="0"/>
          </a:p>
          <a:p>
            <a:pPr lvl="1"/>
            <a:r>
              <a:rPr lang="fr-FR" sz="2000" dirty="0" err="1"/>
              <a:t>LLM’s</a:t>
            </a:r>
            <a:r>
              <a:rPr lang="fr-FR" sz="2000" dirty="0"/>
              <a:t> Enrichie</a:t>
            </a:r>
          </a:p>
        </p:txBody>
      </p:sp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763F5075-F5FA-41CD-21A4-AF24038AB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63" y="2495191"/>
            <a:ext cx="4788505" cy="31604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E55CAA-0CED-6858-93F5-A0544756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960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EEBFD7-A76E-255A-BEA0-7B36E6B2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Conduite autonome</a:t>
            </a:r>
            <a:endParaRPr lang="es-AR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8E448-BC78-618F-0D96-A565DDCC1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fr-FR" sz="2000" dirty="0"/>
              <a:t>Voiture Autonome </a:t>
            </a:r>
          </a:p>
          <a:p>
            <a:pPr lvl="1"/>
            <a:r>
              <a:rPr lang="fr-FR" sz="1600" dirty="0" err="1"/>
              <a:t>Lidar+Video</a:t>
            </a:r>
            <a:r>
              <a:rPr lang="fr-FR" sz="1600" dirty="0"/>
              <a:t>/Images pour la </a:t>
            </a:r>
            <a:r>
              <a:rPr lang="fr-FR" sz="1600" dirty="0" err="1"/>
              <a:t>detections</a:t>
            </a:r>
            <a:r>
              <a:rPr lang="fr-FR" sz="1600" dirty="0"/>
              <a:t> d’objet</a:t>
            </a:r>
          </a:p>
          <a:p>
            <a:pPr marL="457200" lvl="1" indent="0">
              <a:buNone/>
            </a:pPr>
            <a:endParaRPr lang="es-AR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3A36BC-DF62-35A2-6C36-3DF67D58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35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780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8824BB-26F5-8A3A-927B-B6C4B0C3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Analyse de sentiment</a:t>
            </a:r>
            <a:endParaRPr lang="es-AR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D1E74-878B-7D04-5DF9-CC2F9A00F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s-AR" sz="200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1B337-2DE3-CEBE-D649-C7971094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36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751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24517A-2DD6-AD3C-8D57-147E0E84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Domaine Médicale</a:t>
            </a:r>
            <a:endParaRPr lang="es-AR" sz="4000">
              <a:solidFill>
                <a:srgbClr val="FFFFFF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BC0D00-9E40-451F-771C-1158ACC6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37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Espace réservé du contenu 9" descr="Une image contenant texte, lign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C545ADAC-4055-8C61-842D-66573F23B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1626" y="2129370"/>
            <a:ext cx="786874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9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8DC2C-9315-309A-51B5-C5433D89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7BC347A-0B4B-CA05-10FF-9E003C665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979EBD-F3ED-43B4-E592-7F9DE954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4BF458-E54C-4377-71F5-EC6596A7C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988094-6EE5-15A0-8595-E770070BE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ACDBCE-0801-4714-F232-501F73B02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89ACA2-29AB-5155-B737-81592DFD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rgbClr val="FFFFFF"/>
                </a:solidFill>
              </a:rPr>
              <a:t>LLM’s</a:t>
            </a:r>
            <a:r>
              <a:rPr lang="fr-FR" sz="4000" dirty="0">
                <a:solidFill>
                  <a:srgbClr val="FFFFFF"/>
                </a:solidFill>
              </a:rPr>
              <a:t> Enrichie</a:t>
            </a:r>
            <a:endParaRPr lang="es-A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4A5BEE-2761-72F7-A68B-196F02E6F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s-AR" sz="200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51EB6D-02F5-5384-6FA6-AAA75158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C07E23-5D66-4BDA-857C-D8615BC30D33}" type="slidenum">
              <a:rPr lang="fr-F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38</a:t>
            </a:fld>
            <a:endParaRPr lang="fr-F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5882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3FCB4D-5791-BDAD-9D64-F3CE4D60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Sources:</a:t>
            </a:r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FF6EA4-8A67-DB1D-5EB1-7E17095F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Comprehensive Survey on Deep Learning Multi-Modal Fusion: Methods, Technologies and Applications </a:t>
            </a:r>
            <a:r>
              <a:rPr lang="es-AR" sz="1600" dirty="0" err="1"/>
              <a:t>Tianzhe</a:t>
            </a:r>
            <a:r>
              <a:rPr lang="es-AR" sz="1600" dirty="0"/>
              <a:t> </a:t>
            </a:r>
            <a:r>
              <a:rPr lang="es-AR" sz="1600" dirty="0" err="1"/>
              <a:t>Jiao</a:t>
            </a:r>
            <a:r>
              <a:rPr lang="es-AR" sz="1600" dirty="0"/>
              <a:t>, </a:t>
            </a:r>
            <a:r>
              <a:rPr lang="es-AR" sz="1600" dirty="0" err="1"/>
              <a:t>Chaopeng</a:t>
            </a:r>
            <a:r>
              <a:rPr lang="es-AR" sz="1600" dirty="0"/>
              <a:t> </a:t>
            </a:r>
            <a:r>
              <a:rPr lang="es-AR" sz="1600" dirty="0" err="1"/>
              <a:t>Guo</a:t>
            </a:r>
            <a:r>
              <a:rPr lang="es-AR" sz="1600" dirty="0"/>
              <a:t>, </a:t>
            </a:r>
            <a:r>
              <a:rPr lang="es-AR" sz="1600" dirty="0" err="1"/>
              <a:t>Xiaoyue</a:t>
            </a:r>
            <a:r>
              <a:rPr lang="es-AR" sz="1600" dirty="0"/>
              <a:t> Feng, </a:t>
            </a:r>
            <a:r>
              <a:rPr lang="es-AR" sz="1600" dirty="0" err="1"/>
              <a:t>Yuming</a:t>
            </a:r>
            <a:r>
              <a:rPr lang="es-AR" sz="1600" dirty="0"/>
              <a:t> Chen and Jie </a:t>
            </a:r>
            <a:r>
              <a:rPr lang="es-AR" sz="1600" dirty="0" err="1"/>
              <a:t>Song</a:t>
            </a:r>
            <a:r>
              <a:rPr lang="es-AR" sz="1600" dirty="0"/>
              <a:t> 2024</a:t>
            </a:r>
          </a:p>
          <a:p>
            <a:r>
              <a:rPr lang="en-US" sz="1600" dirty="0"/>
              <a:t>Multimodal Machine Learning: A Survey and Taxonomy Tadas Baltrusaitis, Chaitanya Ahuja, and Louis-Philippe Morency 2017</a:t>
            </a:r>
          </a:p>
          <a:p>
            <a:r>
              <a:rPr lang="es-AR" sz="1600" dirty="0"/>
              <a:t>Multimodal </a:t>
            </a:r>
            <a:r>
              <a:rPr lang="es-AR" sz="1600" dirty="0" err="1"/>
              <a:t>Co-learning</a:t>
            </a:r>
            <a:r>
              <a:rPr lang="es-AR" sz="1600" dirty="0"/>
              <a:t>: </a:t>
            </a:r>
            <a:r>
              <a:rPr lang="es-AR" sz="1600" dirty="0" err="1"/>
              <a:t>Challenges</a:t>
            </a:r>
            <a:r>
              <a:rPr lang="es-AR" sz="1600" dirty="0"/>
              <a:t>, </a:t>
            </a:r>
            <a:r>
              <a:rPr lang="es-AR" sz="1600" dirty="0" err="1"/>
              <a:t>Applications</a:t>
            </a:r>
            <a:r>
              <a:rPr lang="es-AR" sz="1600" dirty="0"/>
              <a:t> </a:t>
            </a:r>
            <a:r>
              <a:rPr lang="es-AR" sz="1600" dirty="0" err="1"/>
              <a:t>with</a:t>
            </a:r>
            <a:r>
              <a:rPr lang="es-AR" sz="1600" dirty="0"/>
              <a:t> </a:t>
            </a:r>
            <a:r>
              <a:rPr lang="es-AR" sz="1600" dirty="0" err="1"/>
              <a:t>Datasets</a:t>
            </a:r>
            <a:r>
              <a:rPr lang="es-AR" sz="1600" dirty="0"/>
              <a:t>, </a:t>
            </a:r>
            <a:r>
              <a:rPr lang="es-AR" sz="1600" dirty="0" err="1"/>
              <a:t>Recent</a:t>
            </a:r>
            <a:r>
              <a:rPr lang="es-AR" sz="1600" dirty="0"/>
              <a:t> </a:t>
            </a:r>
            <a:r>
              <a:rPr lang="es-AR" sz="1600" dirty="0" err="1"/>
              <a:t>Advances</a:t>
            </a:r>
            <a:r>
              <a:rPr lang="es-AR" sz="1600" dirty="0"/>
              <a:t> and Future </a:t>
            </a:r>
            <a:r>
              <a:rPr lang="es-AR" sz="1600" dirty="0" err="1"/>
              <a:t>Directions</a:t>
            </a:r>
            <a:r>
              <a:rPr lang="es-AR" sz="1600" dirty="0"/>
              <a:t> Anil </a:t>
            </a:r>
            <a:r>
              <a:rPr lang="es-AR" sz="1600" dirty="0" err="1"/>
              <a:t>Rahatea</a:t>
            </a:r>
            <a:r>
              <a:rPr lang="es-AR" sz="1600" dirty="0"/>
              <a:t> , </a:t>
            </a:r>
            <a:r>
              <a:rPr lang="es-AR" sz="1600" dirty="0" err="1"/>
              <a:t>Rahee</a:t>
            </a:r>
            <a:r>
              <a:rPr lang="es-AR" sz="1600" dirty="0"/>
              <a:t> </a:t>
            </a:r>
            <a:r>
              <a:rPr lang="es-AR" sz="1600" dirty="0" err="1"/>
              <a:t>Walambea</a:t>
            </a:r>
            <a:r>
              <a:rPr lang="es-AR" sz="1600" dirty="0"/>
              <a:t>, b, </a:t>
            </a:r>
            <a:r>
              <a:rPr lang="es-AR" sz="1600" dirty="0" err="1"/>
              <a:t>Sheela</a:t>
            </a:r>
            <a:r>
              <a:rPr lang="es-AR" sz="1600" dirty="0"/>
              <a:t> </a:t>
            </a:r>
            <a:r>
              <a:rPr lang="es-AR" sz="1600" dirty="0" err="1"/>
              <a:t>Ramannac</a:t>
            </a:r>
            <a:r>
              <a:rPr lang="es-AR" sz="1600" dirty="0"/>
              <a:t> , </a:t>
            </a:r>
            <a:r>
              <a:rPr lang="es-AR" sz="1600" dirty="0" err="1"/>
              <a:t>Ketan</a:t>
            </a:r>
            <a:r>
              <a:rPr lang="es-AR" sz="1600" dirty="0"/>
              <a:t> </a:t>
            </a:r>
            <a:r>
              <a:rPr lang="es-AR" sz="1600" dirty="0" err="1"/>
              <a:t>Kotechaa</a:t>
            </a:r>
            <a:r>
              <a:rPr lang="es-AR" sz="1600" dirty="0"/>
              <a:t> 2022 </a:t>
            </a:r>
          </a:p>
          <a:p>
            <a:r>
              <a:rPr lang="es-AR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https://www.youtube.com/watch?v=kixc1mh55yY</a:t>
            </a:r>
            <a:endParaRPr lang="es-AR" sz="1600" dirty="0"/>
          </a:p>
          <a:p>
            <a:r>
              <a:rPr lang="es-AR" sz="1600" dirty="0"/>
              <a:t>https://www.youtube.com/watch?v=xcOMHwjNLaA</a:t>
            </a:r>
          </a:p>
          <a:p>
            <a:endParaRPr lang="es-AR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68CB79-5CD9-AB4A-7239-D9C964CF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0042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7685</TotalTime>
  <Words>1846</Words>
  <Application>Microsoft Office PowerPoint</Application>
  <PresentationFormat>Grand écran</PresentationFormat>
  <Paragraphs>296</Paragraphs>
  <Slides>39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Thème Office</vt:lpstr>
      <vt:lpstr>La Multimodalité</vt:lpstr>
      <vt:lpstr>Présentation PowerPoint</vt:lpstr>
      <vt:lpstr>Modalité</vt:lpstr>
      <vt:lpstr>La multimodalité: </vt:lpstr>
      <vt:lpstr>Les 5 clefs de la multimodalité</vt:lpstr>
      <vt:lpstr>La fusion</vt:lpstr>
      <vt:lpstr>Model unimodal </vt:lpstr>
      <vt:lpstr>Les méthodes de fusion</vt:lpstr>
      <vt:lpstr>Early  Fusion</vt:lpstr>
      <vt:lpstr>Deep  Fusion</vt:lpstr>
      <vt:lpstr>Late  Fusion</vt:lpstr>
      <vt:lpstr>Hybrid  Fusion</vt:lpstr>
      <vt:lpstr>Technologies de Fusion</vt:lpstr>
      <vt:lpstr>Data Representation:</vt:lpstr>
      <vt:lpstr>Coordinated Representation</vt:lpstr>
      <vt:lpstr>Joint Representation</vt:lpstr>
      <vt:lpstr>Data Translation</vt:lpstr>
      <vt:lpstr>Exemple de Translation</vt:lpstr>
      <vt:lpstr>Ajouter les forces et  les limites?</vt:lpstr>
      <vt:lpstr>Data Alignment</vt:lpstr>
      <vt:lpstr>Exemple Data Alignment</vt:lpstr>
      <vt:lpstr>Présentation PowerPoint</vt:lpstr>
      <vt:lpstr>Avantages et  limites de l’alignement</vt:lpstr>
      <vt:lpstr>Le Co-learning</vt:lpstr>
      <vt:lpstr>Présentation PowerPoint</vt:lpstr>
      <vt:lpstr>Présentation PowerPoint</vt:lpstr>
      <vt:lpstr>Présentation PowerPoint</vt:lpstr>
      <vt:lpstr>Qualité des données :</vt:lpstr>
      <vt:lpstr>Perte d’information :</vt:lpstr>
      <vt:lpstr>Accumulation d’erreurs :</vt:lpstr>
      <vt:lpstr>Quantité de modalités :</vt:lpstr>
      <vt:lpstr>Garantie en temps réel :</vt:lpstr>
      <vt:lpstr>Environnement dynamique :</vt:lpstr>
      <vt:lpstr>Les applications de la Fusion</vt:lpstr>
      <vt:lpstr>Conduite autonome</vt:lpstr>
      <vt:lpstr>Analyse de sentiment</vt:lpstr>
      <vt:lpstr>Domaine Médicale</vt:lpstr>
      <vt:lpstr>LLM’s Enrichie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Mougne</dc:creator>
  <cp:lastModifiedBy>MOUGNE Robin</cp:lastModifiedBy>
  <cp:revision>29</cp:revision>
  <dcterms:created xsi:type="dcterms:W3CDTF">2025-09-05T12:51:10Z</dcterms:created>
  <dcterms:modified xsi:type="dcterms:W3CDTF">2026-01-21T22:56:05Z</dcterms:modified>
</cp:coreProperties>
</file>