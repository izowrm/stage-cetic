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sldIdLst>
    <p:sldId id="305" r:id="rId2"/>
    <p:sldId id="301" r:id="rId3"/>
    <p:sldId id="264" r:id="rId4"/>
    <p:sldId id="302" r:id="rId5"/>
    <p:sldId id="265" r:id="rId6"/>
    <p:sldId id="333" r:id="rId7"/>
    <p:sldId id="304" r:id="rId8"/>
    <p:sldId id="266" r:id="rId9"/>
    <p:sldId id="267" r:id="rId10"/>
    <p:sldId id="271" r:id="rId11"/>
    <p:sldId id="270" r:id="rId12"/>
    <p:sldId id="269" r:id="rId13"/>
    <p:sldId id="272" r:id="rId14"/>
    <p:sldId id="275" r:id="rId15"/>
    <p:sldId id="315" r:id="rId16"/>
    <p:sldId id="314" r:id="rId17"/>
    <p:sldId id="276" r:id="rId18"/>
    <p:sldId id="316" r:id="rId19"/>
    <p:sldId id="317" r:id="rId20"/>
    <p:sldId id="279" r:id="rId21"/>
    <p:sldId id="318" r:id="rId22"/>
    <p:sldId id="320" r:id="rId23"/>
    <p:sldId id="259" r:id="rId24"/>
    <p:sldId id="331" r:id="rId25"/>
    <p:sldId id="299" r:id="rId26"/>
    <p:sldId id="321" r:id="rId27"/>
    <p:sldId id="322" r:id="rId28"/>
    <p:sldId id="323" r:id="rId29"/>
    <p:sldId id="325" r:id="rId30"/>
    <p:sldId id="324" r:id="rId31"/>
    <p:sldId id="327" r:id="rId32"/>
    <p:sldId id="328" r:id="rId33"/>
    <p:sldId id="329" r:id="rId34"/>
    <p:sldId id="300" r:id="rId35"/>
    <p:sldId id="281" r:id="rId36"/>
    <p:sldId id="308" r:id="rId37"/>
    <p:sldId id="309" r:id="rId38"/>
    <p:sldId id="310" r:id="rId39"/>
    <p:sldId id="311" r:id="rId40"/>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EC20E35-A176-4012-BC5E-935CFFF8708E}" styleName="Style moyen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Style clair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79742" autoAdjust="0"/>
  </p:normalViewPr>
  <p:slideViewPr>
    <p:cSldViewPr snapToGrid="0">
      <p:cViewPr varScale="1">
        <p:scale>
          <a:sx n="88" d="100"/>
          <a:sy n="88" d="100"/>
        </p:scale>
        <p:origin x="1416" y="90"/>
      </p:cViewPr>
      <p:guideLst/>
    </p:cSldViewPr>
  </p:slideViewPr>
  <p:outlineViewPr>
    <p:cViewPr>
      <p:scale>
        <a:sx n="33" d="100"/>
        <a:sy n="33" d="100"/>
      </p:scale>
      <p:origin x="0" y="-1059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diagrams/_rels/data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s>
</file>

<file path=ppt/diagrams/_rels/drawing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69DE1E8-BA3B-4A9F-AE11-05D3F709E2B7}" type="doc">
      <dgm:prSet loTypeId="urn:microsoft.com/office/officeart/2005/8/layout/process4" loCatId="process" qsTypeId="urn:microsoft.com/office/officeart/2005/8/quickstyle/simple1" qsCatId="simple" csTypeId="urn:microsoft.com/office/officeart/2005/8/colors/colorful2" csCatId="colorful" phldr="1"/>
      <dgm:spPr/>
      <dgm:t>
        <a:bodyPr/>
        <a:lstStyle/>
        <a:p>
          <a:endParaRPr lang="en-US"/>
        </a:p>
      </dgm:t>
    </dgm:pt>
    <dgm:pt modelId="{12531E2C-1B08-4B1F-AE32-5C3FFE036941}">
      <dgm:prSet/>
      <dgm:spPr>
        <a:solidFill>
          <a:schemeClr val="accent1"/>
        </a:solidFill>
      </dgm:spPr>
      <dgm:t>
        <a:bodyPr/>
        <a:lstStyle/>
        <a:p>
          <a:r>
            <a:rPr lang="fr-FR" dirty="0"/>
            <a:t>Une modalité est un type de donnée utilisé pour représenter une information.</a:t>
          </a:r>
          <a:endParaRPr lang="en-US" dirty="0"/>
        </a:p>
      </dgm:t>
    </dgm:pt>
    <dgm:pt modelId="{FA218412-3091-45D5-8F33-C61CE0F252A8}" type="parTrans" cxnId="{A915841E-E784-441A-A124-764FD02DA831}">
      <dgm:prSet/>
      <dgm:spPr/>
      <dgm:t>
        <a:bodyPr/>
        <a:lstStyle/>
        <a:p>
          <a:endParaRPr lang="en-US"/>
        </a:p>
      </dgm:t>
    </dgm:pt>
    <dgm:pt modelId="{4BD47C9F-8CAB-4B12-B541-EBD476D40C71}" type="sibTrans" cxnId="{A915841E-E784-441A-A124-764FD02DA831}">
      <dgm:prSet/>
      <dgm:spPr/>
      <dgm:t>
        <a:bodyPr/>
        <a:lstStyle/>
        <a:p>
          <a:endParaRPr lang="en-US"/>
        </a:p>
      </dgm:t>
    </dgm:pt>
    <dgm:pt modelId="{E309DDA9-FEC9-41A6-B92B-547368FDB2BF}">
      <dgm:prSet/>
      <dgm:spPr/>
      <dgm:t>
        <a:bodyPr/>
        <a:lstStyle/>
        <a:p>
          <a:r>
            <a:rPr lang="fr-FR"/>
            <a:t>Les type de formats :</a:t>
          </a:r>
          <a:endParaRPr lang="en-US"/>
        </a:p>
      </dgm:t>
    </dgm:pt>
    <dgm:pt modelId="{3B1BDA1F-BA6F-4393-99B7-D5B2CD4D81C0}" type="parTrans" cxnId="{69E0DA9B-E126-432E-B818-8F63914AB37F}">
      <dgm:prSet/>
      <dgm:spPr/>
      <dgm:t>
        <a:bodyPr/>
        <a:lstStyle/>
        <a:p>
          <a:endParaRPr lang="en-US"/>
        </a:p>
      </dgm:t>
    </dgm:pt>
    <dgm:pt modelId="{C8BC13DC-6385-40F1-A20E-DEE04A249D47}" type="sibTrans" cxnId="{69E0DA9B-E126-432E-B818-8F63914AB37F}">
      <dgm:prSet/>
      <dgm:spPr/>
      <dgm:t>
        <a:bodyPr/>
        <a:lstStyle/>
        <a:p>
          <a:endParaRPr lang="en-US"/>
        </a:p>
      </dgm:t>
    </dgm:pt>
    <dgm:pt modelId="{F24AEDFE-8A3F-4A31-A969-CB6EA90AEEE2}">
      <dgm:prSet/>
      <dgm:spPr/>
      <dgm:t>
        <a:bodyPr/>
        <a:lstStyle/>
        <a:p>
          <a:r>
            <a:rPr lang="fr-FR"/>
            <a:t>Image</a:t>
          </a:r>
          <a:endParaRPr lang="en-US"/>
        </a:p>
      </dgm:t>
    </dgm:pt>
    <dgm:pt modelId="{AC98155F-0E84-4880-9A64-FB1149BBD23D}" type="parTrans" cxnId="{B7FD1541-E467-4D6D-9A0C-DCDC1935E1D1}">
      <dgm:prSet/>
      <dgm:spPr/>
      <dgm:t>
        <a:bodyPr/>
        <a:lstStyle/>
        <a:p>
          <a:endParaRPr lang="en-US"/>
        </a:p>
      </dgm:t>
    </dgm:pt>
    <dgm:pt modelId="{B110C6D6-CA9B-485C-B3B4-D4D052E5227B}" type="sibTrans" cxnId="{B7FD1541-E467-4D6D-9A0C-DCDC1935E1D1}">
      <dgm:prSet/>
      <dgm:spPr/>
      <dgm:t>
        <a:bodyPr/>
        <a:lstStyle/>
        <a:p>
          <a:endParaRPr lang="en-US"/>
        </a:p>
      </dgm:t>
    </dgm:pt>
    <dgm:pt modelId="{55F5EB5D-E9E5-4C80-AAAC-298B630FF56C}">
      <dgm:prSet/>
      <dgm:spPr/>
      <dgm:t>
        <a:bodyPr/>
        <a:lstStyle/>
        <a:p>
          <a:r>
            <a:rPr lang="fr-FR"/>
            <a:t>Textuel</a:t>
          </a:r>
          <a:endParaRPr lang="en-US"/>
        </a:p>
      </dgm:t>
    </dgm:pt>
    <dgm:pt modelId="{45F02F2B-85EB-47D0-972B-53D2458F3E90}" type="parTrans" cxnId="{7E90782C-F23B-4E1C-91FB-A3AC2F720D46}">
      <dgm:prSet/>
      <dgm:spPr/>
      <dgm:t>
        <a:bodyPr/>
        <a:lstStyle/>
        <a:p>
          <a:endParaRPr lang="en-US"/>
        </a:p>
      </dgm:t>
    </dgm:pt>
    <dgm:pt modelId="{075EDECA-C0B4-4FB8-B600-8C5AF604C224}" type="sibTrans" cxnId="{7E90782C-F23B-4E1C-91FB-A3AC2F720D46}">
      <dgm:prSet/>
      <dgm:spPr/>
      <dgm:t>
        <a:bodyPr/>
        <a:lstStyle/>
        <a:p>
          <a:endParaRPr lang="en-US"/>
        </a:p>
      </dgm:t>
    </dgm:pt>
    <dgm:pt modelId="{A2AB8FDA-CE02-4D05-A33A-1D6257F25985}">
      <dgm:prSet/>
      <dgm:spPr/>
      <dgm:t>
        <a:bodyPr/>
        <a:lstStyle/>
        <a:p>
          <a:r>
            <a:rPr lang="fr-FR"/>
            <a:t>Audio</a:t>
          </a:r>
          <a:endParaRPr lang="en-US"/>
        </a:p>
      </dgm:t>
    </dgm:pt>
    <dgm:pt modelId="{96A683CA-6712-4166-BCDB-91CCE0877595}" type="parTrans" cxnId="{03C7D7A2-5E92-49FA-A0B3-CB74D34CC3BD}">
      <dgm:prSet/>
      <dgm:spPr/>
      <dgm:t>
        <a:bodyPr/>
        <a:lstStyle/>
        <a:p>
          <a:endParaRPr lang="en-US"/>
        </a:p>
      </dgm:t>
    </dgm:pt>
    <dgm:pt modelId="{5B521C7F-94B6-4723-BD75-1E7776B83D23}" type="sibTrans" cxnId="{03C7D7A2-5E92-49FA-A0B3-CB74D34CC3BD}">
      <dgm:prSet/>
      <dgm:spPr/>
      <dgm:t>
        <a:bodyPr/>
        <a:lstStyle/>
        <a:p>
          <a:endParaRPr lang="en-US"/>
        </a:p>
      </dgm:t>
    </dgm:pt>
    <dgm:pt modelId="{B2931212-D433-4D0B-992F-73F98DF26157}">
      <dgm:prSet/>
      <dgm:spPr/>
      <dgm:t>
        <a:bodyPr/>
        <a:lstStyle/>
        <a:p>
          <a:r>
            <a:rPr lang="fr-FR"/>
            <a:t>Vidéo</a:t>
          </a:r>
          <a:endParaRPr lang="en-US"/>
        </a:p>
      </dgm:t>
    </dgm:pt>
    <dgm:pt modelId="{FF1AFD5D-3D63-4ED4-BF6A-9E245BCAD408}" type="parTrans" cxnId="{7E48942E-6FE5-4990-A24A-74C530B7CA4B}">
      <dgm:prSet/>
      <dgm:spPr/>
      <dgm:t>
        <a:bodyPr/>
        <a:lstStyle/>
        <a:p>
          <a:endParaRPr lang="en-US"/>
        </a:p>
      </dgm:t>
    </dgm:pt>
    <dgm:pt modelId="{796A44CD-41E9-44B1-8AD0-AD14F3D0092B}" type="sibTrans" cxnId="{7E48942E-6FE5-4990-A24A-74C530B7CA4B}">
      <dgm:prSet/>
      <dgm:spPr/>
      <dgm:t>
        <a:bodyPr/>
        <a:lstStyle/>
        <a:p>
          <a:endParaRPr lang="en-US"/>
        </a:p>
      </dgm:t>
    </dgm:pt>
    <dgm:pt modelId="{7F0CD33F-7236-4F5A-87CD-E175C7544EA5}">
      <dgm:prSet/>
      <dgm:spPr/>
      <dgm:t>
        <a:bodyPr/>
        <a:lstStyle/>
        <a:p>
          <a:r>
            <a:rPr lang="fr-FR"/>
            <a:t>…</a:t>
          </a:r>
          <a:endParaRPr lang="en-US"/>
        </a:p>
      </dgm:t>
    </dgm:pt>
    <dgm:pt modelId="{1F0B095D-F32B-49D7-85AF-159D71F0BADF}" type="parTrans" cxnId="{38E16C4D-3F9F-4206-A399-6BA6424AEB77}">
      <dgm:prSet/>
      <dgm:spPr/>
      <dgm:t>
        <a:bodyPr/>
        <a:lstStyle/>
        <a:p>
          <a:endParaRPr lang="en-US"/>
        </a:p>
      </dgm:t>
    </dgm:pt>
    <dgm:pt modelId="{2345A3AA-DB7D-4D20-9C65-C968B2523D2B}" type="sibTrans" cxnId="{38E16C4D-3F9F-4206-A399-6BA6424AEB77}">
      <dgm:prSet/>
      <dgm:spPr/>
      <dgm:t>
        <a:bodyPr/>
        <a:lstStyle/>
        <a:p>
          <a:endParaRPr lang="en-US"/>
        </a:p>
      </dgm:t>
    </dgm:pt>
    <dgm:pt modelId="{CE6C132D-AC03-4AB7-98DA-7888C9AE244B}" type="pres">
      <dgm:prSet presAssocID="{169DE1E8-BA3B-4A9F-AE11-05D3F709E2B7}" presName="Name0" presStyleCnt="0">
        <dgm:presLayoutVars>
          <dgm:dir/>
          <dgm:animLvl val="lvl"/>
          <dgm:resizeHandles val="exact"/>
        </dgm:presLayoutVars>
      </dgm:prSet>
      <dgm:spPr/>
    </dgm:pt>
    <dgm:pt modelId="{AAF313C8-F53C-442D-9539-D0229135551F}" type="pres">
      <dgm:prSet presAssocID="{E309DDA9-FEC9-41A6-B92B-547368FDB2BF}" presName="boxAndChildren" presStyleCnt="0"/>
      <dgm:spPr/>
    </dgm:pt>
    <dgm:pt modelId="{D6BCD3E8-2236-4F24-97D5-C9526DDC77B0}" type="pres">
      <dgm:prSet presAssocID="{E309DDA9-FEC9-41A6-B92B-547368FDB2BF}" presName="parentTextBox" presStyleLbl="node1" presStyleIdx="0" presStyleCnt="2"/>
      <dgm:spPr/>
    </dgm:pt>
    <dgm:pt modelId="{4832B079-7EB7-4923-BE49-5420F6BB08F5}" type="pres">
      <dgm:prSet presAssocID="{E309DDA9-FEC9-41A6-B92B-547368FDB2BF}" presName="entireBox" presStyleLbl="node1" presStyleIdx="0" presStyleCnt="2"/>
      <dgm:spPr/>
    </dgm:pt>
    <dgm:pt modelId="{DC97A7DA-3204-4951-84AE-FCEAFB42A1B3}" type="pres">
      <dgm:prSet presAssocID="{E309DDA9-FEC9-41A6-B92B-547368FDB2BF}" presName="descendantBox" presStyleCnt="0"/>
      <dgm:spPr/>
    </dgm:pt>
    <dgm:pt modelId="{2C9BF001-01CE-4FE9-BD09-1DD1A5F9278C}" type="pres">
      <dgm:prSet presAssocID="{F24AEDFE-8A3F-4A31-A969-CB6EA90AEEE2}" presName="childTextBox" presStyleLbl="fgAccFollowNode1" presStyleIdx="0" presStyleCnt="5">
        <dgm:presLayoutVars>
          <dgm:bulletEnabled val="1"/>
        </dgm:presLayoutVars>
      </dgm:prSet>
      <dgm:spPr/>
    </dgm:pt>
    <dgm:pt modelId="{515F2632-F7E2-471A-BEEE-24ABEF5F443E}" type="pres">
      <dgm:prSet presAssocID="{55F5EB5D-E9E5-4C80-AAAC-298B630FF56C}" presName="childTextBox" presStyleLbl="fgAccFollowNode1" presStyleIdx="1" presStyleCnt="5">
        <dgm:presLayoutVars>
          <dgm:bulletEnabled val="1"/>
        </dgm:presLayoutVars>
      </dgm:prSet>
      <dgm:spPr/>
    </dgm:pt>
    <dgm:pt modelId="{1C3E0C68-0369-47F8-BC89-69D3ECA1CD82}" type="pres">
      <dgm:prSet presAssocID="{A2AB8FDA-CE02-4D05-A33A-1D6257F25985}" presName="childTextBox" presStyleLbl="fgAccFollowNode1" presStyleIdx="2" presStyleCnt="5">
        <dgm:presLayoutVars>
          <dgm:bulletEnabled val="1"/>
        </dgm:presLayoutVars>
      </dgm:prSet>
      <dgm:spPr/>
    </dgm:pt>
    <dgm:pt modelId="{9214643E-FC2E-486F-80BF-198EE34F2555}" type="pres">
      <dgm:prSet presAssocID="{B2931212-D433-4D0B-992F-73F98DF26157}" presName="childTextBox" presStyleLbl="fgAccFollowNode1" presStyleIdx="3" presStyleCnt="5">
        <dgm:presLayoutVars>
          <dgm:bulletEnabled val="1"/>
        </dgm:presLayoutVars>
      </dgm:prSet>
      <dgm:spPr/>
    </dgm:pt>
    <dgm:pt modelId="{5D5DD105-941C-4D3B-B8F3-18A43B985575}" type="pres">
      <dgm:prSet presAssocID="{7F0CD33F-7236-4F5A-87CD-E175C7544EA5}" presName="childTextBox" presStyleLbl="fgAccFollowNode1" presStyleIdx="4" presStyleCnt="5">
        <dgm:presLayoutVars>
          <dgm:bulletEnabled val="1"/>
        </dgm:presLayoutVars>
      </dgm:prSet>
      <dgm:spPr/>
    </dgm:pt>
    <dgm:pt modelId="{F42154A5-BC48-4B05-BFB2-A6E6B5F08B19}" type="pres">
      <dgm:prSet presAssocID="{4BD47C9F-8CAB-4B12-B541-EBD476D40C71}" presName="sp" presStyleCnt="0"/>
      <dgm:spPr/>
    </dgm:pt>
    <dgm:pt modelId="{B1DF71AA-C85E-42A1-BA52-2D690336BAF8}" type="pres">
      <dgm:prSet presAssocID="{12531E2C-1B08-4B1F-AE32-5C3FFE036941}" presName="arrowAndChildren" presStyleCnt="0"/>
      <dgm:spPr/>
    </dgm:pt>
    <dgm:pt modelId="{22910CFA-8A4B-4CEB-B3D7-B4DB9D9953CD}" type="pres">
      <dgm:prSet presAssocID="{12531E2C-1B08-4B1F-AE32-5C3FFE036941}" presName="parentTextArrow" presStyleLbl="node1" presStyleIdx="1" presStyleCnt="2"/>
      <dgm:spPr/>
    </dgm:pt>
  </dgm:ptLst>
  <dgm:cxnLst>
    <dgm:cxn modelId="{A915841E-E784-441A-A124-764FD02DA831}" srcId="{169DE1E8-BA3B-4A9F-AE11-05D3F709E2B7}" destId="{12531E2C-1B08-4B1F-AE32-5C3FFE036941}" srcOrd="0" destOrd="0" parTransId="{FA218412-3091-45D5-8F33-C61CE0F252A8}" sibTransId="{4BD47C9F-8CAB-4B12-B541-EBD476D40C71}"/>
    <dgm:cxn modelId="{7E90782C-F23B-4E1C-91FB-A3AC2F720D46}" srcId="{E309DDA9-FEC9-41A6-B92B-547368FDB2BF}" destId="{55F5EB5D-E9E5-4C80-AAAC-298B630FF56C}" srcOrd="1" destOrd="0" parTransId="{45F02F2B-85EB-47D0-972B-53D2458F3E90}" sibTransId="{075EDECA-C0B4-4FB8-B600-8C5AF604C224}"/>
    <dgm:cxn modelId="{7E48942E-6FE5-4990-A24A-74C530B7CA4B}" srcId="{E309DDA9-FEC9-41A6-B92B-547368FDB2BF}" destId="{B2931212-D433-4D0B-992F-73F98DF26157}" srcOrd="3" destOrd="0" parTransId="{FF1AFD5D-3D63-4ED4-BF6A-9E245BCAD408}" sibTransId="{796A44CD-41E9-44B1-8AD0-AD14F3D0092B}"/>
    <dgm:cxn modelId="{B7FD1541-E467-4D6D-9A0C-DCDC1935E1D1}" srcId="{E309DDA9-FEC9-41A6-B92B-547368FDB2BF}" destId="{F24AEDFE-8A3F-4A31-A969-CB6EA90AEEE2}" srcOrd="0" destOrd="0" parTransId="{AC98155F-0E84-4880-9A64-FB1149BBD23D}" sibTransId="{B110C6D6-CA9B-485C-B3B4-D4D052E5227B}"/>
    <dgm:cxn modelId="{38E16C4D-3F9F-4206-A399-6BA6424AEB77}" srcId="{E309DDA9-FEC9-41A6-B92B-547368FDB2BF}" destId="{7F0CD33F-7236-4F5A-87CD-E175C7544EA5}" srcOrd="4" destOrd="0" parTransId="{1F0B095D-F32B-49D7-85AF-159D71F0BADF}" sibTransId="{2345A3AA-DB7D-4D20-9C65-C968B2523D2B}"/>
    <dgm:cxn modelId="{F3217186-2576-40CD-81D0-B148BA6B6892}" type="presOf" srcId="{7F0CD33F-7236-4F5A-87CD-E175C7544EA5}" destId="{5D5DD105-941C-4D3B-B8F3-18A43B985575}" srcOrd="0" destOrd="0" presId="urn:microsoft.com/office/officeart/2005/8/layout/process4"/>
    <dgm:cxn modelId="{F0887388-178D-4422-994C-306CCF2E968F}" type="presOf" srcId="{55F5EB5D-E9E5-4C80-AAAC-298B630FF56C}" destId="{515F2632-F7E2-471A-BEEE-24ABEF5F443E}" srcOrd="0" destOrd="0" presId="urn:microsoft.com/office/officeart/2005/8/layout/process4"/>
    <dgm:cxn modelId="{E6778789-0F24-4E4A-9C16-E9A18415DCD6}" type="presOf" srcId="{F24AEDFE-8A3F-4A31-A969-CB6EA90AEEE2}" destId="{2C9BF001-01CE-4FE9-BD09-1DD1A5F9278C}" srcOrd="0" destOrd="0" presId="urn:microsoft.com/office/officeart/2005/8/layout/process4"/>
    <dgm:cxn modelId="{67B49597-FB85-431C-A1BF-01D7A03AF8E7}" type="presOf" srcId="{E309DDA9-FEC9-41A6-B92B-547368FDB2BF}" destId="{4832B079-7EB7-4923-BE49-5420F6BB08F5}" srcOrd="1" destOrd="0" presId="urn:microsoft.com/office/officeart/2005/8/layout/process4"/>
    <dgm:cxn modelId="{69E0DA9B-E126-432E-B818-8F63914AB37F}" srcId="{169DE1E8-BA3B-4A9F-AE11-05D3F709E2B7}" destId="{E309DDA9-FEC9-41A6-B92B-547368FDB2BF}" srcOrd="1" destOrd="0" parTransId="{3B1BDA1F-BA6F-4393-99B7-D5B2CD4D81C0}" sibTransId="{C8BC13DC-6385-40F1-A20E-DEE04A249D47}"/>
    <dgm:cxn modelId="{2AE10F9D-BCCD-42CF-9C18-5889B523D2F4}" type="presOf" srcId="{B2931212-D433-4D0B-992F-73F98DF26157}" destId="{9214643E-FC2E-486F-80BF-198EE34F2555}" srcOrd="0" destOrd="0" presId="urn:microsoft.com/office/officeart/2005/8/layout/process4"/>
    <dgm:cxn modelId="{03C7D7A2-5E92-49FA-A0B3-CB74D34CC3BD}" srcId="{E309DDA9-FEC9-41A6-B92B-547368FDB2BF}" destId="{A2AB8FDA-CE02-4D05-A33A-1D6257F25985}" srcOrd="2" destOrd="0" parTransId="{96A683CA-6712-4166-BCDB-91CCE0877595}" sibTransId="{5B521C7F-94B6-4723-BD75-1E7776B83D23}"/>
    <dgm:cxn modelId="{FBCAD6BD-E299-41CB-A7E4-47052F17D339}" type="presOf" srcId="{E309DDA9-FEC9-41A6-B92B-547368FDB2BF}" destId="{D6BCD3E8-2236-4F24-97D5-C9526DDC77B0}" srcOrd="0" destOrd="0" presId="urn:microsoft.com/office/officeart/2005/8/layout/process4"/>
    <dgm:cxn modelId="{97E6FAC1-3EAA-4F7E-A67B-1AC7CEDD5D0D}" type="presOf" srcId="{12531E2C-1B08-4B1F-AE32-5C3FFE036941}" destId="{22910CFA-8A4B-4CEB-B3D7-B4DB9D9953CD}" srcOrd="0" destOrd="0" presId="urn:microsoft.com/office/officeart/2005/8/layout/process4"/>
    <dgm:cxn modelId="{774691C4-EB0D-4644-83BE-5D856859EF4C}" type="presOf" srcId="{A2AB8FDA-CE02-4D05-A33A-1D6257F25985}" destId="{1C3E0C68-0369-47F8-BC89-69D3ECA1CD82}" srcOrd="0" destOrd="0" presId="urn:microsoft.com/office/officeart/2005/8/layout/process4"/>
    <dgm:cxn modelId="{B5A767C5-34FF-4611-9E80-515D2D33B48B}" type="presOf" srcId="{169DE1E8-BA3B-4A9F-AE11-05D3F709E2B7}" destId="{CE6C132D-AC03-4AB7-98DA-7888C9AE244B}" srcOrd="0" destOrd="0" presId="urn:microsoft.com/office/officeart/2005/8/layout/process4"/>
    <dgm:cxn modelId="{F90620AC-8D89-4926-8FB0-D652489E0B02}" type="presParOf" srcId="{CE6C132D-AC03-4AB7-98DA-7888C9AE244B}" destId="{AAF313C8-F53C-442D-9539-D0229135551F}" srcOrd="0" destOrd="0" presId="urn:microsoft.com/office/officeart/2005/8/layout/process4"/>
    <dgm:cxn modelId="{E88D2312-3329-4869-974E-7A5E0BBFCFCA}" type="presParOf" srcId="{AAF313C8-F53C-442D-9539-D0229135551F}" destId="{D6BCD3E8-2236-4F24-97D5-C9526DDC77B0}" srcOrd="0" destOrd="0" presId="urn:microsoft.com/office/officeart/2005/8/layout/process4"/>
    <dgm:cxn modelId="{EAB09498-E2C3-41A3-9A03-0A08A79D43B0}" type="presParOf" srcId="{AAF313C8-F53C-442D-9539-D0229135551F}" destId="{4832B079-7EB7-4923-BE49-5420F6BB08F5}" srcOrd="1" destOrd="0" presId="urn:microsoft.com/office/officeart/2005/8/layout/process4"/>
    <dgm:cxn modelId="{2B57AB0E-B2BF-4C31-85FC-597E6EB3233D}" type="presParOf" srcId="{AAF313C8-F53C-442D-9539-D0229135551F}" destId="{DC97A7DA-3204-4951-84AE-FCEAFB42A1B3}" srcOrd="2" destOrd="0" presId="urn:microsoft.com/office/officeart/2005/8/layout/process4"/>
    <dgm:cxn modelId="{200417D9-BDE9-4E75-8C8C-D25BF74025B3}" type="presParOf" srcId="{DC97A7DA-3204-4951-84AE-FCEAFB42A1B3}" destId="{2C9BF001-01CE-4FE9-BD09-1DD1A5F9278C}" srcOrd="0" destOrd="0" presId="urn:microsoft.com/office/officeart/2005/8/layout/process4"/>
    <dgm:cxn modelId="{AA430DB1-9080-43A6-9939-E04166906CE0}" type="presParOf" srcId="{DC97A7DA-3204-4951-84AE-FCEAFB42A1B3}" destId="{515F2632-F7E2-471A-BEEE-24ABEF5F443E}" srcOrd="1" destOrd="0" presId="urn:microsoft.com/office/officeart/2005/8/layout/process4"/>
    <dgm:cxn modelId="{918EED2F-6768-45A4-8B03-A812098EB3D4}" type="presParOf" srcId="{DC97A7DA-3204-4951-84AE-FCEAFB42A1B3}" destId="{1C3E0C68-0369-47F8-BC89-69D3ECA1CD82}" srcOrd="2" destOrd="0" presId="urn:microsoft.com/office/officeart/2005/8/layout/process4"/>
    <dgm:cxn modelId="{0E959F73-F497-421B-B9B0-52F6ABD62AB6}" type="presParOf" srcId="{DC97A7DA-3204-4951-84AE-FCEAFB42A1B3}" destId="{9214643E-FC2E-486F-80BF-198EE34F2555}" srcOrd="3" destOrd="0" presId="urn:microsoft.com/office/officeart/2005/8/layout/process4"/>
    <dgm:cxn modelId="{555A448C-FA93-41A1-9E41-29D266201A00}" type="presParOf" srcId="{DC97A7DA-3204-4951-84AE-FCEAFB42A1B3}" destId="{5D5DD105-941C-4D3B-B8F3-18A43B985575}" srcOrd="4" destOrd="0" presId="urn:microsoft.com/office/officeart/2005/8/layout/process4"/>
    <dgm:cxn modelId="{3899768A-987B-4176-B525-A5494AC50DE3}" type="presParOf" srcId="{CE6C132D-AC03-4AB7-98DA-7888C9AE244B}" destId="{F42154A5-BC48-4B05-BFB2-A6E6B5F08B19}" srcOrd="1" destOrd="0" presId="urn:microsoft.com/office/officeart/2005/8/layout/process4"/>
    <dgm:cxn modelId="{8D164B16-9756-4421-8FD5-298921E9179C}" type="presParOf" srcId="{CE6C132D-AC03-4AB7-98DA-7888C9AE244B}" destId="{B1DF71AA-C85E-42A1-BA52-2D690336BAF8}" srcOrd="2" destOrd="0" presId="urn:microsoft.com/office/officeart/2005/8/layout/process4"/>
    <dgm:cxn modelId="{DACD8A2D-7ED2-4D6F-94AF-DA8C5B1EC9AB}" type="presParOf" srcId="{B1DF71AA-C85E-42A1-BA52-2D690336BAF8}" destId="{22910CFA-8A4B-4CEB-B3D7-B4DB9D9953CD}" srcOrd="0" destOrd="0" presId="urn:microsoft.com/office/officeart/2005/8/layout/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0527C63-637A-47B6-9930-5B1ADF837775}" type="doc">
      <dgm:prSet loTypeId="urn:microsoft.com/office/officeart/2018/2/layout/IconLabelList" loCatId="icon" qsTypeId="urn:microsoft.com/office/officeart/2005/8/quickstyle/simple1" qsCatId="simple" csTypeId="urn:microsoft.com/office/officeart/2018/5/colors/Iconchunking_neutralbg_accent1_2" csCatId="accent1" phldr="1"/>
      <dgm:spPr/>
      <dgm:t>
        <a:bodyPr/>
        <a:lstStyle/>
        <a:p>
          <a:endParaRPr lang="en-US"/>
        </a:p>
      </dgm:t>
    </dgm:pt>
    <dgm:pt modelId="{3AC5D597-481A-4C98-A575-0F05414DA7C3}">
      <dgm:prSet/>
      <dgm:spPr/>
      <dgm:t>
        <a:bodyPr/>
        <a:lstStyle/>
        <a:p>
          <a:r>
            <a:rPr lang="fr-FR" b="1" dirty="0"/>
            <a:t>Fusion</a:t>
          </a:r>
          <a:r>
            <a:rPr lang="fr-FR" dirty="0"/>
            <a:t> </a:t>
          </a:r>
          <a:endParaRPr lang="en-US" dirty="0"/>
        </a:p>
      </dgm:t>
    </dgm:pt>
    <dgm:pt modelId="{C20A4F57-6BC4-4A9D-BE4E-ADDEB8E25348}" type="parTrans" cxnId="{CF1649E2-6D7B-47EE-B1E6-276B951FC6DF}">
      <dgm:prSet/>
      <dgm:spPr/>
      <dgm:t>
        <a:bodyPr/>
        <a:lstStyle/>
        <a:p>
          <a:endParaRPr lang="en-US"/>
        </a:p>
      </dgm:t>
    </dgm:pt>
    <dgm:pt modelId="{0E7221D1-324D-4FB6-B8B1-13F60970C3AE}" type="sibTrans" cxnId="{CF1649E2-6D7B-47EE-B1E6-276B951FC6DF}">
      <dgm:prSet/>
      <dgm:spPr/>
      <dgm:t>
        <a:bodyPr/>
        <a:lstStyle/>
        <a:p>
          <a:endParaRPr lang="en-US"/>
        </a:p>
      </dgm:t>
    </dgm:pt>
    <dgm:pt modelId="{E8D4B822-EC9B-4AA8-9A41-BB029713E7EA}">
      <dgm:prSet/>
      <dgm:spPr/>
      <dgm:t>
        <a:bodyPr/>
        <a:lstStyle/>
        <a:p>
          <a:r>
            <a:rPr lang="fr-FR" b="1" i="0" baseline="0"/>
            <a:t>Représentation</a:t>
          </a:r>
          <a:r>
            <a:rPr lang="fr-FR" b="0" i="0" baseline="0"/>
            <a:t> </a:t>
          </a:r>
          <a:endParaRPr lang="en-US"/>
        </a:p>
      </dgm:t>
    </dgm:pt>
    <dgm:pt modelId="{793A2D8B-482C-483C-8C97-2052FAFD3358}" type="parTrans" cxnId="{C6DD3067-5C7B-4F32-9691-6494F58F54EC}">
      <dgm:prSet/>
      <dgm:spPr/>
      <dgm:t>
        <a:bodyPr/>
        <a:lstStyle/>
        <a:p>
          <a:endParaRPr lang="en-US"/>
        </a:p>
      </dgm:t>
    </dgm:pt>
    <dgm:pt modelId="{4076CB6E-E0FB-405A-B4D2-A87422E458D3}" type="sibTrans" cxnId="{C6DD3067-5C7B-4F32-9691-6494F58F54EC}">
      <dgm:prSet/>
      <dgm:spPr/>
      <dgm:t>
        <a:bodyPr/>
        <a:lstStyle/>
        <a:p>
          <a:endParaRPr lang="en-US"/>
        </a:p>
      </dgm:t>
    </dgm:pt>
    <dgm:pt modelId="{1366E4AC-3A3A-4200-8A36-1304F8472F76}">
      <dgm:prSet/>
      <dgm:spPr/>
      <dgm:t>
        <a:bodyPr/>
        <a:lstStyle/>
        <a:p>
          <a:r>
            <a:rPr lang="fr-FR" b="1" i="0" baseline="0"/>
            <a:t>Traduction</a:t>
          </a:r>
          <a:r>
            <a:rPr lang="fr-FR" b="0" i="0" baseline="0"/>
            <a:t> </a:t>
          </a:r>
          <a:endParaRPr lang="en-US"/>
        </a:p>
      </dgm:t>
    </dgm:pt>
    <dgm:pt modelId="{60FC05CA-CF2E-4A9A-8CB5-E43356E57D1E}" type="parTrans" cxnId="{994FA51E-F9AF-439D-8945-DE87DAA54F0D}">
      <dgm:prSet/>
      <dgm:spPr/>
      <dgm:t>
        <a:bodyPr/>
        <a:lstStyle/>
        <a:p>
          <a:endParaRPr lang="en-US"/>
        </a:p>
      </dgm:t>
    </dgm:pt>
    <dgm:pt modelId="{32714EF9-D79C-42CE-8ABC-6056F365A420}" type="sibTrans" cxnId="{994FA51E-F9AF-439D-8945-DE87DAA54F0D}">
      <dgm:prSet/>
      <dgm:spPr/>
      <dgm:t>
        <a:bodyPr/>
        <a:lstStyle/>
        <a:p>
          <a:endParaRPr lang="en-US"/>
        </a:p>
      </dgm:t>
    </dgm:pt>
    <dgm:pt modelId="{AE731D34-2FB4-4F2D-867D-ECFE465B2E2C}">
      <dgm:prSet/>
      <dgm:spPr/>
      <dgm:t>
        <a:bodyPr/>
        <a:lstStyle/>
        <a:p>
          <a:r>
            <a:rPr lang="fr-FR" b="1" i="0" baseline="0"/>
            <a:t>Alignement</a:t>
          </a:r>
          <a:r>
            <a:rPr lang="fr-FR" b="0" i="0" baseline="0"/>
            <a:t> </a:t>
          </a:r>
          <a:endParaRPr lang="en-US"/>
        </a:p>
      </dgm:t>
    </dgm:pt>
    <dgm:pt modelId="{5D6EDA61-D412-4877-B487-DC0C4E8C9989}" type="parTrans" cxnId="{3D3C3548-5F8A-4946-845C-B796EAF912A6}">
      <dgm:prSet/>
      <dgm:spPr/>
      <dgm:t>
        <a:bodyPr/>
        <a:lstStyle/>
        <a:p>
          <a:endParaRPr lang="en-US"/>
        </a:p>
      </dgm:t>
    </dgm:pt>
    <dgm:pt modelId="{903ABB12-44FB-448F-ABA0-BCF94FB3BC57}" type="sibTrans" cxnId="{3D3C3548-5F8A-4946-845C-B796EAF912A6}">
      <dgm:prSet/>
      <dgm:spPr/>
      <dgm:t>
        <a:bodyPr/>
        <a:lstStyle/>
        <a:p>
          <a:endParaRPr lang="en-US"/>
        </a:p>
      </dgm:t>
    </dgm:pt>
    <dgm:pt modelId="{BF6BD076-2E0C-42A4-B6FE-E7C7672D199B}">
      <dgm:prSet/>
      <dgm:spPr/>
      <dgm:t>
        <a:bodyPr/>
        <a:lstStyle/>
        <a:p>
          <a:r>
            <a:rPr lang="fr-FR" b="1" i="0" baseline="0" dirty="0"/>
            <a:t>Co-Learning</a:t>
          </a:r>
          <a:endParaRPr lang="en-US" dirty="0"/>
        </a:p>
      </dgm:t>
    </dgm:pt>
    <dgm:pt modelId="{6C223CB5-8594-437C-9A0E-9D83EAF07F44}" type="parTrans" cxnId="{3302CB3D-B5A6-430D-AB45-CEAE0E46ACE6}">
      <dgm:prSet/>
      <dgm:spPr/>
      <dgm:t>
        <a:bodyPr/>
        <a:lstStyle/>
        <a:p>
          <a:endParaRPr lang="en-US"/>
        </a:p>
      </dgm:t>
    </dgm:pt>
    <dgm:pt modelId="{FC1D5E44-3463-48DF-BA62-0EA2F8E5A11A}" type="sibTrans" cxnId="{3302CB3D-B5A6-430D-AB45-CEAE0E46ACE6}">
      <dgm:prSet/>
      <dgm:spPr/>
      <dgm:t>
        <a:bodyPr/>
        <a:lstStyle/>
        <a:p>
          <a:endParaRPr lang="en-US"/>
        </a:p>
      </dgm:t>
    </dgm:pt>
    <dgm:pt modelId="{FDED81C0-AD38-4337-B50C-9B43E2A72CFE}" type="pres">
      <dgm:prSet presAssocID="{90527C63-637A-47B6-9930-5B1ADF837775}" presName="root" presStyleCnt="0">
        <dgm:presLayoutVars>
          <dgm:dir/>
          <dgm:resizeHandles val="exact"/>
        </dgm:presLayoutVars>
      </dgm:prSet>
      <dgm:spPr/>
    </dgm:pt>
    <dgm:pt modelId="{D09DE903-2802-47E8-B021-68B5AB8FB992}" type="pres">
      <dgm:prSet presAssocID="{3AC5D597-481A-4C98-A575-0F05414DA7C3}" presName="compNode" presStyleCnt="0"/>
      <dgm:spPr/>
    </dgm:pt>
    <dgm:pt modelId="{C1AECE2B-2273-4143-8305-E4D351ED2994}" type="pres">
      <dgm:prSet presAssocID="{3AC5D597-481A-4C98-A575-0F05414DA7C3}"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tome"/>
        </a:ext>
      </dgm:extLst>
    </dgm:pt>
    <dgm:pt modelId="{7417F7C8-F1C9-413D-837E-C9A750559281}" type="pres">
      <dgm:prSet presAssocID="{3AC5D597-481A-4C98-A575-0F05414DA7C3}" presName="spaceRect" presStyleCnt="0"/>
      <dgm:spPr/>
    </dgm:pt>
    <dgm:pt modelId="{C709DBD9-5D6D-4237-B6C8-B66DBCEBA4AF}" type="pres">
      <dgm:prSet presAssocID="{3AC5D597-481A-4C98-A575-0F05414DA7C3}" presName="textRect" presStyleLbl="revTx" presStyleIdx="0" presStyleCnt="5">
        <dgm:presLayoutVars>
          <dgm:chMax val="1"/>
          <dgm:chPref val="1"/>
        </dgm:presLayoutVars>
      </dgm:prSet>
      <dgm:spPr/>
    </dgm:pt>
    <dgm:pt modelId="{A31DB54D-75AD-4E91-B81D-B3F2A5532A3E}" type="pres">
      <dgm:prSet presAssocID="{0E7221D1-324D-4FB6-B8B1-13F60970C3AE}" presName="sibTrans" presStyleCnt="0"/>
      <dgm:spPr/>
    </dgm:pt>
    <dgm:pt modelId="{A1918E05-B36E-45E8-9FFA-A4C8F0DD43EB}" type="pres">
      <dgm:prSet presAssocID="{E8D4B822-EC9B-4AA8-9A41-BB029713E7EA}" presName="compNode" presStyleCnt="0"/>
      <dgm:spPr/>
    </dgm:pt>
    <dgm:pt modelId="{EDD65A80-8423-4DF1-8E79-6EDF70057F8A}" type="pres">
      <dgm:prSet presAssocID="{E8D4B822-EC9B-4AA8-9A41-BB029713E7EA}"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953522F8-31EE-40F1-A4C8-538EF10DB982}" type="pres">
      <dgm:prSet presAssocID="{E8D4B822-EC9B-4AA8-9A41-BB029713E7EA}" presName="spaceRect" presStyleCnt="0"/>
      <dgm:spPr/>
    </dgm:pt>
    <dgm:pt modelId="{5C99234B-9CF4-4102-A132-90645053C218}" type="pres">
      <dgm:prSet presAssocID="{E8D4B822-EC9B-4AA8-9A41-BB029713E7EA}" presName="textRect" presStyleLbl="revTx" presStyleIdx="1" presStyleCnt="5">
        <dgm:presLayoutVars>
          <dgm:chMax val="1"/>
          <dgm:chPref val="1"/>
        </dgm:presLayoutVars>
      </dgm:prSet>
      <dgm:spPr/>
    </dgm:pt>
    <dgm:pt modelId="{6EDB8033-8BDF-4E6D-BA13-57E36D75502C}" type="pres">
      <dgm:prSet presAssocID="{4076CB6E-E0FB-405A-B4D2-A87422E458D3}" presName="sibTrans" presStyleCnt="0"/>
      <dgm:spPr/>
    </dgm:pt>
    <dgm:pt modelId="{9F57A237-0E93-4837-8EE4-9CC954C1E63F}" type="pres">
      <dgm:prSet presAssocID="{1366E4AC-3A3A-4200-8A36-1304F8472F76}" presName="compNode" presStyleCnt="0"/>
      <dgm:spPr/>
    </dgm:pt>
    <dgm:pt modelId="{3EF79444-47EA-47DA-AE09-DD57D8E9623F}" type="pres">
      <dgm:prSet presAssocID="{1366E4AC-3A3A-4200-8A36-1304F8472F76}"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ocument"/>
        </a:ext>
      </dgm:extLst>
    </dgm:pt>
    <dgm:pt modelId="{67CF3264-7F9F-46A0-BA56-4301BBD114DE}" type="pres">
      <dgm:prSet presAssocID="{1366E4AC-3A3A-4200-8A36-1304F8472F76}" presName="spaceRect" presStyleCnt="0"/>
      <dgm:spPr/>
    </dgm:pt>
    <dgm:pt modelId="{352143A5-8353-4652-BB68-409B3B0CE23D}" type="pres">
      <dgm:prSet presAssocID="{1366E4AC-3A3A-4200-8A36-1304F8472F76}" presName="textRect" presStyleLbl="revTx" presStyleIdx="2" presStyleCnt="5">
        <dgm:presLayoutVars>
          <dgm:chMax val="1"/>
          <dgm:chPref val="1"/>
        </dgm:presLayoutVars>
      </dgm:prSet>
      <dgm:spPr/>
    </dgm:pt>
    <dgm:pt modelId="{B99319D3-FFBB-4E6B-9631-1BFADF2DCE49}" type="pres">
      <dgm:prSet presAssocID="{32714EF9-D79C-42CE-8ABC-6056F365A420}" presName="sibTrans" presStyleCnt="0"/>
      <dgm:spPr/>
    </dgm:pt>
    <dgm:pt modelId="{275CE9D9-56E7-45BB-8CB2-86DBE006AAE2}" type="pres">
      <dgm:prSet presAssocID="{AE731D34-2FB4-4F2D-867D-ECFE465B2E2C}" presName="compNode" presStyleCnt="0"/>
      <dgm:spPr/>
    </dgm:pt>
    <dgm:pt modelId="{7FA499EB-A690-47AE-877C-1F6C506686C9}" type="pres">
      <dgm:prSet presAssocID="{AE731D34-2FB4-4F2D-867D-ECFE465B2E2C}"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Poignée de main"/>
        </a:ext>
      </dgm:extLst>
    </dgm:pt>
    <dgm:pt modelId="{775E2A32-8112-4E7E-88D7-F6D4DD2CF500}" type="pres">
      <dgm:prSet presAssocID="{AE731D34-2FB4-4F2D-867D-ECFE465B2E2C}" presName="spaceRect" presStyleCnt="0"/>
      <dgm:spPr/>
    </dgm:pt>
    <dgm:pt modelId="{0CE6B2CE-5C63-42C8-AB97-2BD91D6255CF}" type="pres">
      <dgm:prSet presAssocID="{AE731D34-2FB4-4F2D-867D-ECFE465B2E2C}" presName="textRect" presStyleLbl="revTx" presStyleIdx="3" presStyleCnt="5">
        <dgm:presLayoutVars>
          <dgm:chMax val="1"/>
          <dgm:chPref val="1"/>
        </dgm:presLayoutVars>
      </dgm:prSet>
      <dgm:spPr/>
    </dgm:pt>
    <dgm:pt modelId="{ED7622D9-2EAF-4205-A1AF-70E071E2B8F4}" type="pres">
      <dgm:prSet presAssocID="{903ABB12-44FB-448F-ABA0-BCF94FB3BC57}" presName="sibTrans" presStyleCnt="0"/>
      <dgm:spPr/>
    </dgm:pt>
    <dgm:pt modelId="{50A1885E-3C13-45BE-B168-AD130D266356}" type="pres">
      <dgm:prSet presAssocID="{BF6BD076-2E0C-42A4-B6FE-E7C7672D199B}" presName="compNode" presStyleCnt="0"/>
      <dgm:spPr/>
    </dgm:pt>
    <dgm:pt modelId="{96CFD845-DAFC-4FB3-BB8D-D7DDB2659D25}" type="pres">
      <dgm:prSet presAssocID="{BF6BD076-2E0C-42A4-B6FE-E7C7672D199B}"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Classe"/>
        </a:ext>
      </dgm:extLst>
    </dgm:pt>
    <dgm:pt modelId="{BD5FEB2A-F5FE-46A0-80FF-1DDAC9F8F940}" type="pres">
      <dgm:prSet presAssocID="{BF6BD076-2E0C-42A4-B6FE-E7C7672D199B}" presName="spaceRect" presStyleCnt="0"/>
      <dgm:spPr/>
    </dgm:pt>
    <dgm:pt modelId="{9847FA4E-43E5-4878-91F1-1A5FDF3FE69D}" type="pres">
      <dgm:prSet presAssocID="{BF6BD076-2E0C-42A4-B6FE-E7C7672D199B}" presName="textRect" presStyleLbl="revTx" presStyleIdx="4" presStyleCnt="5">
        <dgm:presLayoutVars>
          <dgm:chMax val="1"/>
          <dgm:chPref val="1"/>
        </dgm:presLayoutVars>
      </dgm:prSet>
      <dgm:spPr/>
    </dgm:pt>
  </dgm:ptLst>
  <dgm:cxnLst>
    <dgm:cxn modelId="{1E72CC03-E202-4E55-BC48-F2E1184646E0}" type="presOf" srcId="{BF6BD076-2E0C-42A4-B6FE-E7C7672D199B}" destId="{9847FA4E-43E5-4878-91F1-1A5FDF3FE69D}" srcOrd="0" destOrd="0" presId="urn:microsoft.com/office/officeart/2018/2/layout/IconLabelList"/>
    <dgm:cxn modelId="{994FA51E-F9AF-439D-8945-DE87DAA54F0D}" srcId="{90527C63-637A-47B6-9930-5B1ADF837775}" destId="{1366E4AC-3A3A-4200-8A36-1304F8472F76}" srcOrd="2" destOrd="0" parTransId="{60FC05CA-CF2E-4A9A-8CB5-E43356E57D1E}" sibTransId="{32714EF9-D79C-42CE-8ABC-6056F365A420}"/>
    <dgm:cxn modelId="{3302CB3D-B5A6-430D-AB45-CEAE0E46ACE6}" srcId="{90527C63-637A-47B6-9930-5B1ADF837775}" destId="{BF6BD076-2E0C-42A4-B6FE-E7C7672D199B}" srcOrd="4" destOrd="0" parTransId="{6C223CB5-8594-437C-9A0E-9D83EAF07F44}" sibTransId="{FC1D5E44-3463-48DF-BA62-0EA2F8E5A11A}"/>
    <dgm:cxn modelId="{C6DD3067-5C7B-4F32-9691-6494F58F54EC}" srcId="{90527C63-637A-47B6-9930-5B1ADF837775}" destId="{E8D4B822-EC9B-4AA8-9A41-BB029713E7EA}" srcOrd="1" destOrd="0" parTransId="{793A2D8B-482C-483C-8C97-2052FAFD3358}" sibTransId="{4076CB6E-E0FB-405A-B4D2-A87422E458D3}"/>
    <dgm:cxn modelId="{3D3C3548-5F8A-4946-845C-B796EAF912A6}" srcId="{90527C63-637A-47B6-9930-5B1ADF837775}" destId="{AE731D34-2FB4-4F2D-867D-ECFE465B2E2C}" srcOrd="3" destOrd="0" parTransId="{5D6EDA61-D412-4877-B487-DC0C4E8C9989}" sibTransId="{903ABB12-44FB-448F-ABA0-BCF94FB3BC57}"/>
    <dgm:cxn modelId="{F948D051-9399-41A8-BB4D-51C58760A0A6}" type="presOf" srcId="{3AC5D597-481A-4C98-A575-0F05414DA7C3}" destId="{C709DBD9-5D6D-4237-B6C8-B66DBCEBA4AF}" srcOrd="0" destOrd="0" presId="urn:microsoft.com/office/officeart/2018/2/layout/IconLabelList"/>
    <dgm:cxn modelId="{CA919C88-C0C1-4066-A3C3-8FE21A3C4E06}" type="presOf" srcId="{AE731D34-2FB4-4F2D-867D-ECFE465B2E2C}" destId="{0CE6B2CE-5C63-42C8-AB97-2BD91D6255CF}" srcOrd="0" destOrd="0" presId="urn:microsoft.com/office/officeart/2018/2/layout/IconLabelList"/>
    <dgm:cxn modelId="{EBCFAF88-0562-4BFF-9A01-45458BAA289B}" type="presOf" srcId="{E8D4B822-EC9B-4AA8-9A41-BB029713E7EA}" destId="{5C99234B-9CF4-4102-A132-90645053C218}" srcOrd="0" destOrd="0" presId="urn:microsoft.com/office/officeart/2018/2/layout/IconLabelList"/>
    <dgm:cxn modelId="{B6B5C3CD-A7ED-433A-9460-9BADFA174E20}" type="presOf" srcId="{90527C63-637A-47B6-9930-5B1ADF837775}" destId="{FDED81C0-AD38-4337-B50C-9B43E2A72CFE}" srcOrd="0" destOrd="0" presId="urn:microsoft.com/office/officeart/2018/2/layout/IconLabelList"/>
    <dgm:cxn modelId="{CF1649E2-6D7B-47EE-B1E6-276B951FC6DF}" srcId="{90527C63-637A-47B6-9930-5B1ADF837775}" destId="{3AC5D597-481A-4C98-A575-0F05414DA7C3}" srcOrd="0" destOrd="0" parTransId="{C20A4F57-6BC4-4A9D-BE4E-ADDEB8E25348}" sibTransId="{0E7221D1-324D-4FB6-B8B1-13F60970C3AE}"/>
    <dgm:cxn modelId="{4B83EFF6-F7DB-4F7D-BCB1-A2B03DFBE687}" type="presOf" srcId="{1366E4AC-3A3A-4200-8A36-1304F8472F76}" destId="{352143A5-8353-4652-BB68-409B3B0CE23D}" srcOrd="0" destOrd="0" presId="urn:microsoft.com/office/officeart/2018/2/layout/IconLabelList"/>
    <dgm:cxn modelId="{4E12E286-EDA6-4396-B501-092573E3095D}" type="presParOf" srcId="{FDED81C0-AD38-4337-B50C-9B43E2A72CFE}" destId="{D09DE903-2802-47E8-B021-68B5AB8FB992}" srcOrd="0" destOrd="0" presId="urn:microsoft.com/office/officeart/2018/2/layout/IconLabelList"/>
    <dgm:cxn modelId="{812C9EC2-8868-4B4B-9F69-05EE6154F9DA}" type="presParOf" srcId="{D09DE903-2802-47E8-B021-68B5AB8FB992}" destId="{C1AECE2B-2273-4143-8305-E4D351ED2994}" srcOrd="0" destOrd="0" presId="urn:microsoft.com/office/officeart/2018/2/layout/IconLabelList"/>
    <dgm:cxn modelId="{A632A178-BC92-4EDA-85E6-A288C7C19A14}" type="presParOf" srcId="{D09DE903-2802-47E8-B021-68B5AB8FB992}" destId="{7417F7C8-F1C9-413D-837E-C9A750559281}" srcOrd="1" destOrd="0" presId="urn:microsoft.com/office/officeart/2018/2/layout/IconLabelList"/>
    <dgm:cxn modelId="{D24F70A2-AB5A-481A-96DF-2DE8A1922073}" type="presParOf" srcId="{D09DE903-2802-47E8-B021-68B5AB8FB992}" destId="{C709DBD9-5D6D-4237-B6C8-B66DBCEBA4AF}" srcOrd="2" destOrd="0" presId="urn:microsoft.com/office/officeart/2018/2/layout/IconLabelList"/>
    <dgm:cxn modelId="{9E033598-BCB3-4481-9436-63A014F913C8}" type="presParOf" srcId="{FDED81C0-AD38-4337-B50C-9B43E2A72CFE}" destId="{A31DB54D-75AD-4E91-B81D-B3F2A5532A3E}" srcOrd="1" destOrd="0" presId="urn:microsoft.com/office/officeart/2018/2/layout/IconLabelList"/>
    <dgm:cxn modelId="{ED7C82A4-1F0B-4987-9D94-A16E08D956CB}" type="presParOf" srcId="{FDED81C0-AD38-4337-B50C-9B43E2A72CFE}" destId="{A1918E05-B36E-45E8-9FFA-A4C8F0DD43EB}" srcOrd="2" destOrd="0" presId="urn:microsoft.com/office/officeart/2018/2/layout/IconLabelList"/>
    <dgm:cxn modelId="{1EC3F6CC-18D9-473F-98F3-5F0F49CFADEE}" type="presParOf" srcId="{A1918E05-B36E-45E8-9FFA-A4C8F0DD43EB}" destId="{EDD65A80-8423-4DF1-8E79-6EDF70057F8A}" srcOrd="0" destOrd="0" presId="urn:microsoft.com/office/officeart/2018/2/layout/IconLabelList"/>
    <dgm:cxn modelId="{5DD63E66-638F-49CA-AA3E-7CF22FA00E7D}" type="presParOf" srcId="{A1918E05-B36E-45E8-9FFA-A4C8F0DD43EB}" destId="{953522F8-31EE-40F1-A4C8-538EF10DB982}" srcOrd="1" destOrd="0" presId="urn:microsoft.com/office/officeart/2018/2/layout/IconLabelList"/>
    <dgm:cxn modelId="{9F41194A-6B01-4B96-A969-8D718EE463DE}" type="presParOf" srcId="{A1918E05-B36E-45E8-9FFA-A4C8F0DD43EB}" destId="{5C99234B-9CF4-4102-A132-90645053C218}" srcOrd="2" destOrd="0" presId="urn:microsoft.com/office/officeart/2018/2/layout/IconLabelList"/>
    <dgm:cxn modelId="{4A5F1C5C-9EED-4896-85F2-B962698BB30B}" type="presParOf" srcId="{FDED81C0-AD38-4337-B50C-9B43E2A72CFE}" destId="{6EDB8033-8BDF-4E6D-BA13-57E36D75502C}" srcOrd="3" destOrd="0" presId="urn:microsoft.com/office/officeart/2018/2/layout/IconLabelList"/>
    <dgm:cxn modelId="{E5C34A34-3D59-4329-9347-7E5F03EDFF17}" type="presParOf" srcId="{FDED81C0-AD38-4337-B50C-9B43E2A72CFE}" destId="{9F57A237-0E93-4837-8EE4-9CC954C1E63F}" srcOrd="4" destOrd="0" presId="urn:microsoft.com/office/officeart/2018/2/layout/IconLabelList"/>
    <dgm:cxn modelId="{FD94378F-1984-4D71-A93D-964EEF6C74DF}" type="presParOf" srcId="{9F57A237-0E93-4837-8EE4-9CC954C1E63F}" destId="{3EF79444-47EA-47DA-AE09-DD57D8E9623F}" srcOrd="0" destOrd="0" presId="urn:microsoft.com/office/officeart/2018/2/layout/IconLabelList"/>
    <dgm:cxn modelId="{C99699EB-D7B8-4EDB-AFE9-3CC5964AE654}" type="presParOf" srcId="{9F57A237-0E93-4837-8EE4-9CC954C1E63F}" destId="{67CF3264-7F9F-46A0-BA56-4301BBD114DE}" srcOrd="1" destOrd="0" presId="urn:microsoft.com/office/officeart/2018/2/layout/IconLabelList"/>
    <dgm:cxn modelId="{45617A68-B053-4EEE-B274-B4E8A33857C4}" type="presParOf" srcId="{9F57A237-0E93-4837-8EE4-9CC954C1E63F}" destId="{352143A5-8353-4652-BB68-409B3B0CE23D}" srcOrd="2" destOrd="0" presId="urn:microsoft.com/office/officeart/2018/2/layout/IconLabelList"/>
    <dgm:cxn modelId="{E6250374-368C-44A5-A961-633E68CCAC4D}" type="presParOf" srcId="{FDED81C0-AD38-4337-B50C-9B43E2A72CFE}" destId="{B99319D3-FFBB-4E6B-9631-1BFADF2DCE49}" srcOrd="5" destOrd="0" presId="urn:microsoft.com/office/officeart/2018/2/layout/IconLabelList"/>
    <dgm:cxn modelId="{4877AC67-4644-4844-86F8-3FD973381A69}" type="presParOf" srcId="{FDED81C0-AD38-4337-B50C-9B43E2A72CFE}" destId="{275CE9D9-56E7-45BB-8CB2-86DBE006AAE2}" srcOrd="6" destOrd="0" presId="urn:microsoft.com/office/officeart/2018/2/layout/IconLabelList"/>
    <dgm:cxn modelId="{6393135E-1A98-4D33-B3AB-502F46F5759A}" type="presParOf" srcId="{275CE9D9-56E7-45BB-8CB2-86DBE006AAE2}" destId="{7FA499EB-A690-47AE-877C-1F6C506686C9}" srcOrd="0" destOrd="0" presId="urn:microsoft.com/office/officeart/2018/2/layout/IconLabelList"/>
    <dgm:cxn modelId="{DD59259D-DF12-4F99-9E8D-B628FBA10066}" type="presParOf" srcId="{275CE9D9-56E7-45BB-8CB2-86DBE006AAE2}" destId="{775E2A32-8112-4E7E-88D7-F6D4DD2CF500}" srcOrd="1" destOrd="0" presId="urn:microsoft.com/office/officeart/2018/2/layout/IconLabelList"/>
    <dgm:cxn modelId="{BAF1B56F-4C5E-4C99-9A96-37BD919910B3}" type="presParOf" srcId="{275CE9D9-56E7-45BB-8CB2-86DBE006AAE2}" destId="{0CE6B2CE-5C63-42C8-AB97-2BD91D6255CF}" srcOrd="2" destOrd="0" presId="urn:microsoft.com/office/officeart/2018/2/layout/IconLabelList"/>
    <dgm:cxn modelId="{B371D448-7BBC-4EA4-BA4A-1E9E54DEFA9E}" type="presParOf" srcId="{FDED81C0-AD38-4337-B50C-9B43E2A72CFE}" destId="{ED7622D9-2EAF-4205-A1AF-70E071E2B8F4}" srcOrd="7" destOrd="0" presId="urn:microsoft.com/office/officeart/2018/2/layout/IconLabelList"/>
    <dgm:cxn modelId="{6301BB57-60DE-45DE-909B-748E922FFDBB}" type="presParOf" srcId="{FDED81C0-AD38-4337-B50C-9B43E2A72CFE}" destId="{50A1885E-3C13-45BE-B168-AD130D266356}" srcOrd="8" destOrd="0" presId="urn:microsoft.com/office/officeart/2018/2/layout/IconLabelList"/>
    <dgm:cxn modelId="{617FAB38-0B16-43EE-A42A-F158995701FD}" type="presParOf" srcId="{50A1885E-3C13-45BE-B168-AD130D266356}" destId="{96CFD845-DAFC-4FB3-BB8D-D7DDB2659D25}" srcOrd="0" destOrd="0" presId="urn:microsoft.com/office/officeart/2018/2/layout/IconLabelList"/>
    <dgm:cxn modelId="{C10A5DC7-532C-4935-98FB-180B8BD40B17}" type="presParOf" srcId="{50A1885E-3C13-45BE-B168-AD130D266356}" destId="{BD5FEB2A-F5FE-46A0-80FF-1DDAC9F8F940}" srcOrd="1" destOrd="0" presId="urn:microsoft.com/office/officeart/2018/2/layout/IconLabelList"/>
    <dgm:cxn modelId="{2AA4D504-F135-4D6C-9C66-65AB0FFB2FCF}" type="presParOf" srcId="{50A1885E-3C13-45BE-B168-AD130D266356}" destId="{9847FA4E-43E5-4878-91F1-1A5FDF3FE69D}"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951726A-FF3F-419E-9A3E-CE140793AAC0}"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82D9FC36-07CB-46D0-BE4A-47A85B456B54}">
      <dgm:prSet/>
      <dgm:spPr/>
      <dgm:t>
        <a:bodyPr/>
        <a:lstStyle/>
        <a:p>
          <a:r>
            <a:rPr lang="fr-FR" dirty="0" err="1"/>
            <a:t>Early</a:t>
          </a:r>
          <a:r>
            <a:rPr lang="fr-FR" dirty="0"/>
            <a:t> fusion</a:t>
          </a:r>
          <a:endParaRPr lang="en-US" dirty="0"/>
        </a:p>
      </dgm:t>
    </dgm:pt>
    <dgm:pt modelId="{B8613EC4-33D8-4EE9-8174-B0FC23AED90C}" type="parTrans" cxnId="{168957A4-4E5C-49C0-9B38-2BC44BC30F92}">
      <dgm:prSet/>
      <dgm:spPr/>
      <dgm:t>
        <a:bodyPr/>
        <a:lstStyle/>
        <a:p>
          <a:endParaRPr lang="en-US"/>
        </a:p>
      </dgm:t>
    </dgm:pt>
    <dgm:pt modelId="{45554102-6225-4A5A-90EE-C76533E13D70}" type="sibTrans" cxnId="{168957A4-4E5C-49C0-9B38-2BC44BC30F92}">
      <dgm:prSet/>
      <dgm:spPr/>
      <dgm:t>
        <a:bodyPr/>
        <a:lstStyle/>
        <a:p>
          <a:endParaRPr lang="en-US"/>
        </a:p>
      </dgm:t>
    </dgm:pt>
    <dgm:pt modelId="{84969002-9A31-4375-8385-AF986C5D94C6}">
      <dgm:prSet/>
      <dgm:spPr/>
      <dgm:t>
        <a:bodyPr/>
        <a:lstStyle/>
        <a:p>
          <a:r>
            <a:rPr lang="fr-FR"/>
            <a:t>Deep fusion</a:t>
          </a:r>
          <a:endParaRPr lang="en-US"/>
        </a:p>
      </dgm:t>
    </dgm:pt>
    <dgm:pt modelId="{DFDB667E-59F4-483C-9B0E-550B2CA94D10}" type="parTrans" cxnId="{A8EA95DD-0795-4F6D-9E76-3A00A24C44D6}">
      <dgm:prSet/>
      <dgm:spPr/>
      <dgm:t>
        <a:bodyPr/>
        <a:lstStyle/>
        <a:p>
          <a:endParaRPr lang="en-US"/>
        </a:p>
      </dgm:t>
    </dgm:pt>
    <dgm:pt modelId="{159DE00C-DF93-4DB1-A9C2-40A3C73A5A56}" type="sibTrans" cxnId="{A8EA95DD-0795-4F6D-9E76-3A00A24C44D6}">
      <dgm:prSet/>
      <dgm:spPr/>
      <dgm:t>
        <a:bodyPr/>
        <a:lstStyle/>
        <a:p>
          <a:endParaRPr lang="en-US"/>
        </a:p>
      </dgm:t>
    </dgm:pt>
    <dgm:pt modelId="{68E3D228-412F-4E8B-913F-0DCFC5CB2D3F}">
      <dgm:prSet/>
      <dgm:spPr/>
      <dgm:t>
        <a:bodyPr/>
        <a:lstStyle/>
        <a:p>
          <a:r>
            <a:rPr lang="fr-FR" dirty="0" err="1"/>
            <a:t>Late</a:t>
          </a:r>
          <a:r>
            <a:rPr lang="fr-FR" dirty="0"/>
            <a:t> fusion</a:t>
          </a:r>
          <a:endParaRPr lang="en-US" dirty="0"/>
        </a:p>
      </dgm:t>
    </dgm:pt>
    <dgm:pt modelId="{156096D1-C6F4-4CDC-920D-4B9967DB5AB5}" type="parTrans" cxnId="{6BB0F3AF-D272-4C64-BE93-D07D2D61C789}">
      <dgm:prSet/>
      <dgm:spPr/>
      <dgm:t>
        <a:bodyPr/>
        <a:lstStyle/>
        <a:p>
          <a:endParaRPr lang="en-US"/>
        </a:p>
      </dgm:t>
    </dgm:pt>
    <dgm:pt modelId="{547E8BE8-337B-4D01-AFEC-02AF3AAEF94E}" type="sibTrans" cxnId="{6BB0F3AF-D272-4C64-BE93-D07D2D61C789}">
      <dgm:prSet/>
      <dgm:spPr/>
      <dgm:t>
        <a:bodyPr/>
        <a:lstStyle/>
        <a:p>
          <a:endParaRPr lang="en-US"/>
        </a:p>
      </dgm:t>
    </dgm:pt>
    <dgm:pt modelId="{A1F02760-E29F-48FC-99F8-5B9A5D8D1903}">
      <dgm:prSet/>
      <dgm:spPr/>
      <dgm:t>
        <a:bodyPr/>
        <a:lstStyle/>
        <a:p>
          <a:r>
            <a:rPr lang="fr-FR"/>
            <a:t>Hybrid fusion </a:t>
          </a:r>
          <a:endParaRPr lang="en-US"/>
        </a:p>
      </dgm:t>
    </dgm:pt>
    <dgm:pt modelId="{D9D37E8E-6657-4129-80F7-A13CA553BE5E}" type="parTrans" cxnId="{65825B8C-226E-434B-B363-A4038A5488DA}">
      <dgm:prSet/>
      <dgm:spPr/>
      <dgm:t>
        <a:bodyPr/>
        <a:lstStyle/>
        <a:p>
          <a:endParaRPr lang="en-US"/>
        </a:p>
      </dgm:t>
    </dgm:pt>
    <dgm:pt modelId="{DFE4193E-75BF-4E03-8650-65814CCEE3B0}" type="sibTrans" cxnId="{65825B8C-226E-434B-B363-A4038A5488DA}">
      <dgm:prSet/>
      <dgm:spPr/>
      <dgm:t>
        <a:bodyPr/>
        <a:lstStyle/>
        <a:p>
          <a:endParaRPr lang="en-US"/>
        </a:p>
      </dgm:t>
    </dgm:pt>
    <dgm:pt modelId="{37CC7249-069B-428A-826F-345CA149D792}" type="pres">
      <dgm:prSet presAssocID="{8951726A-FF3F-419E-9A3E-CE140793AAC0}" presName="hierChild1" presStyleCnt="0">
        <dgm:presLayoutVars>
          <dgm:chPref val="1"/>
          <dgm:dir/>
          <dgm:animOne val="branch"/>
          <dgm:animLvl val="lvl"/>
          <dgm:resizeHandles/>
        </dgm:presLayoutVars>
      </dgm:prSet>
      <dgm:spPr/>
    </dgm:pt>
    <dgm:pt modelId="{9F5FEE07-4748-4C0A-A6AA-70B121667880}" type="pres">
      <dgm:prSet presAssocID="{82D9FC36-07CB-46D0-BE4A-47A85B456B54}" presName="hierRoot1" presStyleCnt="0"/>
      <dgm:spPr/>
    </dgm:pt>
    <dgm:pt modelId="{43F08F3E-4D65-4D4B-B9DE-6586E8C56AE5}" type="pres">
      <dgm:prSet presAssocID="{82D9FC36-07CB-46D0-BE4A-47A85B456B54}" presName="composite" presStyleCnt="0"/>
      <dgm:spPr/>
    </dgm:pt>
    <dgm:pt modelId="{804B9820-C6E7-40C3-A8A9-4077E82E1BE3}" type="pres">
      <dgm:prSet presAssocID="{82D9FC36-07CB-46D0-BE4A-47A85B456B54}" presName="background" presStyleLbl="node0" presStyleIdx="0" presStyleCnt="4"/>
      <dgm:spPr/>
    </dgm:pt>
    <dgm:pt modelId="{CF909D03-147D-4B99-A308-985C86BA825E}" type="pres">
      <dgm:prSet presAssocID="{82D9FC36-07CB-46D0-BE4A-47A85B456B54}" presName="text" presStyleLbl="fgAcc0" presStyleIdx="0" presStyleCnt="4">
        <dgm:presLayoutVars>
          <dgm:chPref val="3"/>
        </dgm:presLayoutVars>
      </dgm:prSet>
      <dgm:spPr/>
    </dgm:pt>
    <dgm:pt modelId="{02430493-D60C-44CA-BEB9-6DBBF3CAB397}" type="pres">
      <dgm:prSet presAssocID="{82D9FC36-07CB-46D0-BE4A-47A85B456B54}" presName="hierChild2" presStyleCnt="0"/>
      <dgm:spPr/>
    </dgm:pt>
    <dgm:pt modelId="{D401358E-3876-48B7-BD4D-96BECD25D888}" type="pres">
      <dgm:prSet presAssocID="{84969002-9A31-4375-8385-AF986C5D94C6}" presName="hierRoot1" presStyleCnt="0"/>
      <dgm:spPr/>
    </dgm:pt>
    <dgm:pt modelId="{0FE25ED0-5EC9-4EA8-9157-1F133C31D004}" type="pres">
      <dgm:prSet presAssocID="{84969002-9A31-4375-8385-AF986C5D94C6}" presName="composite" presStyleCnt="0"/>
      <dgm:spPr/>
    </dgm:pt>
    <dgm:pt modelId="{6E200CAE-02F4-435A-9F5F-8DF8FDD57B96}" type="pres">
      <dgm:prSet presAssocID="{84969002-9A31-4375-8385-AF986C5D94C6}" presName="background" presStyleLbl="node0" presStyleIdx="1" presStyleCnt="4"/>
      <dgm:spPr/>
    </dgm:pt>
    <dgm:pt modelId="{4E73F807-594E-445B-A3C2-798643BA863A}" type="pres">
      <dgm:prSet presAssocID="{84969002-9A31-4375-8385-AF986C5D94C6}" presName="text" presStyleLbl="fgAcc0" presStyleIdx="1" presStyleCnt="4">
        <dgm:presLayoutVars>
          <dgm:chPref val="3"/>
        </dgm:presLayoutVars>
      </dgm:prSet>
      <dgm:spPr/>
    </dgm:pt>
    <dgm:pt modelId="{5395F02F-1DFF-448D-B092-18A1E8F41156}" type="pres">
      <dgm:prSet presAssocID="{84969002-9A31-4375-8385-AF986C5D94C6}" presName="hierChild2" presStyleCnt="0"/>
      <dgm:spPr/>
    </dgm:pt>
    <dgm:pt modelId="{7500DB02-92ED-4D54-99D3-3DDD8A8D455A}" type="pres">
      <dgm:prSet presAssocID="{68E3D228-412F-4E8B-913F-0DCFC5CB2D3F}" presName="hierRoot1" presStyleCnt="0"/>
      <dgm:spPr/>
    </dgm:pt>
    <dgm:pt modelId="{1A481D06-7AD5-47E1-9C01-4E69BB071E0D}" type="pres">
      <dgm:prSet presAssocID="{68E3D228-412F-4E8B-913F-0DCFC5CB2D3F}" presName="composite" presStyleCnt="0"/>
      <dgm:spPr/>
    </dgm:pt>
    <dgm:pt modelId="{D7478AB1-966C-4088-8B4A-DB1B22BAD9AA}" type="pres">
      <dgm:prSet presAssocID="{68E3D228-412F-4E8B-913F-0DCFC5CB2D3F}" presName="background" presStyleLbl="node0" presStyleIdx="2" presStyleCnt="4"/>
      <dgm:spPr/>
    </dgm:pt>
    <dgm:pt modelId="{4401BF02-69BF-48E1-A46E-6A96A31B9220}" type="pres">
      <dgm:prSet presAssocID="{68E3D228-412F-4E8B-913F-0DCFC5CB2D3F}" presName="text" presStyleLbl="fgAcc0" presStyleIdx="2" presStyleCnt="4">
        <dgm:presLayoutVars>
          <dgm:chPref val="3"/>
        </dgm:presLayoutVars>
      </dgm:prSet>
      <dgm:spPr/>
    </dgm:pt>
    <dgm:pt modelId="{ED372F10-22DD-4A47-8B92-3E7FE41C5B63}" type="pres">
      <dgm:prSet presAssocID="{68E3D228-412F-4E8B-913F-0DCFC5CB2D3F}" presName="hierChild2" presStyleCnt="0"/>
      <dgm:spPr/>
    </dgm:pt>
    <dgm:pt modelId="{215F4B01-CE58-4182-9F3D-866AB44B7594}" type="pres">
      <dgm:prSet presAssocID="{A1F02760-E29F-48FC-99F8-5B9A5D8D1903}" presName="hierRoot1" presStyleCnt="0"/>
      <dgm:spPr/>
    </dgm:pt>
    <dgm:pt modelId="{E4A31AA2-1C74-424E-B98E-81C89EF3BDAE}" type="pres">
      <dgm:prSet presAssocID="{A1F02760-E29F-48FC-99F8-5B9A5D8D1903}" presName="composite" presStyleCnt="0"/>
      <dgm:spPr/>
    </dgm:pt>
    <dgm:pt modelId="{33D76180-5F3B-41E8-83B5-CC336F994BA3}" type="pres">
      <dgm:prSet presAssocID="{A1F02760-E29F-48FC-99F8-5B9A5D8D1903}" presName="background" presStyleLbl="node0" presStyleIdx="3" presStyleCnt="4"/>
      <dgm:spPr/>
    </dgm:pt>
    <dgm:pt modelId="{63FE338A-937A-4BAD-8783-FA5A337BD25A}" type="pres">
      <dgm:prSet presAssocID="{A1F02760-E29F-48FC-99F8-5B9A5D8D1903}" presName="text" presStyleLbl="fgAcc0" presStyleIdx="3" presStyleCnt="4">
        <dgm:presLayoutVars>
          <dgm:chPref val="3"/>
        </dgm:presLayoutVars>
      </dgm:prSet>
      <dgm:spPr/>
    </dgm:pt>
    <dgm:pt modelId="{E114AF18-A972-4534-97EA-7D3C05BB1ACF}" type="pres">
      <dgm:prSet presAssocID="{A1F02760-E29F-48FC-99F8-5B9A5D8D1903}" presName="hierChild2" presStyleCnt="0"/>
      <dgm:spPr/>
    </dgm:pt>
  </dgm:ptLst>
  <dgm:cxnLst>
    <dgm:cxn modelId="{65825B8C-226E-434B-B363-A4038A5488DA}" srcId="{8951726A-FF3F-419E-9A3E-CE140793AAC0}" destId="{A1F02760-E29F-48FC-99F8-5B9A5D8D1903}" srcOrd="3" destOrd="0" parTransId="{D9D37E8E-6657-4129-80F7-A13CA553BE5E}" sibTransId="{DFE4193E-75BF-4E03-8650-65814CCEE3B0}"/>
    <dgm:cxn modelId="{168957A4-4E5C-49C0-9B38-2BC44BC30F92}" srcId="{8951726A-FF3F-419E-9A3E-CE140793AAC0}" destId="{82D9FC36-07CB-46D0-BE4A-47A85B456B54}" srcOrd="0" destOrd="0" parTransId="{B8613EC4-33D8-4EE9-8174-B0FC23AED90C}" sibTransId="{45554102-6225-4A5A-90EE-C76533E13D70}"/>
    <dgm:cxn modelId="{6BB0F3AF-D272-4C64-BE93-D07D2D61C789}" srcId="{8951726A-FF3F-419E-9A3E-CE140793AAC0}" destId="{68E3D228-412F-4E8B-913F-0DCFC5CB2D3F}" srcOrd="2" destOrd="0" parTransId="{156096D1-C6F4-4CDC-920D-4B9967DB5AB5}" sibTransId="{547E8BE8-337B-4D01-AFEC-02AF3AAEF94E}"/>
    <dgm:cxn modelId="{10AD35BE-4C0F-4B5C-B157-DFD6C5467775}" type="presOf" srcId="{8951726A-FF3F-419E-9A3E-CE140793AAC0}" destId="{37CC7249-069B-428A-826F-345CA149D792}" srcOrd="0" destOrd="0" presId="urn:microsoft.com/office/officeart/2005/8/layout/hierarchy1"/>
    <dgm:cxn modelId="{5B37F6C4-4F9D-4AC1-BED4-A51D8BE7F081}" type="presOf" srcId="{84969002-9A31-4375-8385-AF986C5D94C6}" destId="{4E73F807-594E-445B-A3C2-798643BA863A}" srcOrd="0" destOrd="0" presId="urn:microsoft.com/office/officeart/2005/8/layout/hierarchy1"/>
    <dgm:cxn modelId="{A8EA95DD-0795-4F6D-9E76-3A00A24C44D6}" srcId="{8951726A-FF3F-419E-9A3E-CE140793AAC0}" destId="{84969002-9A31-4375-8385-AF986C5D94C6}" srcOrd="1" destOrd="0" parTransId="{DFDB667E-59F4-483C-9B0E-550B2CA94D10}" sibTransId="{159DE00C-DF93-4DB1-A9C2-40A3C73A5A56}"/>
    <dgm:cxn modelId="{C8B0D5E4-D7B6-43E3-A082-4C99057BAA89}" type="presOf" srcId="{A1F02760-E29F-48FC-99F8-5B9A5D8D1903}" destId="{63FE338A-937A-4BAD-8783-FA5A337BD25A}" srcOrd="0" destOrd="0" presId="urn:microsoft.com/office/officeart/2005/8/layout/hierarchy1"/>
    <dgm:cxn modelId="{E77BBDE9-A838-4393-BFB9-6B0B7AB38161}" type="presOf" srcId="{68E3D228-412F-4E8B-913F-0DCFC5CB2D3F}" destId="{4401BF02-69BF-48E1-A46E-6A96A31B9220}" srcOrd="0" destOrd="0" presId="urn:microsoft.com/office/officeart/2005/8/layout/hierarchy1"/>
    <dgm:cxn modelId="{CDB41FF3-2573-4B92-B2EE-6739DCB3C029}" type="presOf" srcId="{82D9FC36-07CB-46D0-BE4A-47A85B456B54}" destId="{CF909D03-147D-4B99-A308-985C86BA825E}" srcOrd="0" destOrd="0" presId="urn:microsoft.com/office/officeart/2005/8/layout/hierarchy1"/>
    <dgm:cxn modelId="{AFFC4C48-E384-418B-B0AB-02EEE41F9194}" type="presParOf" srcId="{37CC7249-069B-428A-826F-345CA149D792}" destId="{9F5FEE07-4748-4C0A-A6AA-70B121667880}" srcOrd="0" destOrd="0" presId="urn:microsoft.com/office/officeart/2005/8/layout/hierarchy1"/>
    <dgm:cxn modelId="{579CBB1D-81A4-4A5B-9F75-C6BB48103846}" type="presParOf" srcId="{9F5FEE07-4748-4C0A-A6AA-70B121667880}" destId="{43F08F3E-4D65-4D4B-B9DE-6586E8C56AE5}" srcOrd="0" destOrd="0" presId="urn:microsoft.com/office/officeart/2005/8/layout/hierarchy1"/>
    <dgm:cxn modelId="{A37A948C-5F18-48D7-90FC-47510A48BA87}" type="presParOf" srcId="{43F08F3E-4D65-4D4B-B9DE-6586E8C56AE5}" destId="{804B9820-C6E7-40C3-A8A9-4077E82E1BE3}" srcOrd="0" destOrd="0" presId="urn:microsoft.com/office/officeart/2005/8/layout/hierarchy1"/>
    <dgm:cxn modelId="{D6AF6F74-BF6E-4289-8550-2A3007A84A89}" type="presParOf" srcId="{43F08F3E-4D65-4D4B-B9DE-6586E8C56AE5}" destId="{CF909D03-147D-4B99-A308-985C86BA825E}" srcOrd="1" destOrd="0" presId="urn:microsoft.com/office/officeart/2005/8/layout/hierarchy1"/>
    <dgm:cxn modelId="{422122D5-EC0C-4676-AC84-2F8E37761AA7}" type="presParOf" srcId="{9F5FEE07-4748-4C0A-A6AA-70B121667880}" destId="{02430493-D60C-44CA-BEB9-6DBBF3CAB397}" srcOrd="1" destOrd="0" presId="urn:microsoft.com/office/officeart/2005/8/layout/hierarchy1"/>
    <dgm:cxn modelId="{BE7C6D43-843F-4687-AC0F-D5E06C9F2205}" type="presParOf" srcId="{37CC7249-069B-428A-826F-345CA149D792}" destId="{D401358E-3876-48B7-BD4D-96BECD25D888}" srcOrd="1" destOrd="0" presId="urn:microsoft.com/office/officeart/2005/8/layout/hierarchy1"/>
    <dgm:cxn modelId="{25F0A421-4503-4850-851A-80FE714C16D9}" type="presParOf" srcId="{D401358E-3876-48B7-BD4D-96BECD25D888}" destId="{0FE25ED0-5EC9-4EA8-9157-1F133C31D004}" srcOrd="0" destOrd="0" presId="urn:microsoft.com/office/officeart/2005/8/layout/hierarchy1"/>
    <dgm:cxn modelId="{F1A7C9D9-5F11-4D2B-B3F7-81955E75EEC1}" type="presParOf" srcId="{0FE25ED0-5EC9-4EA8-9157-1F133C31D004}" destId="{6E200CAE-02F4-435A-9F5F-8DF8FDD57B96}" srcOrd="0" destOrd="0" presId="urn:microsoft.com/office/officeart/2005/8/layout/hierarchy1"/>
    <dgm:cxn modelId="{5A571135-4B50-4B3A-A40D-AD5660E8D559}" type="presParOf" srcId="{0FE25ED0-5EC9-4EA8-9157-1F133C31D004}" destId="{4E73F807-594E-445B-A3C2-798643BA863A}" srcOrd="1" destOrd="0" presId="urn:microsoft.com/office/officeart/2005/8/layout/hierarchy1"/>
    <dgm:cxn modelId="{CA35A68F-9FD7-462D-8426-65BBDA1DB925}" type="presParOf" srcId="{D401358E-3876-48B7-BD4D-96BECD25D888}" destId="{5395F02F-1DFF-448D-B092-18A1E8F41156}" srcOrd="1" destOrd="0" presId="urn:microsoft.com/office/officeart/2005/8/layout/hierarchy1"/>
    <dgm:cxn modelId="{9721E189-050F-4CF1-97CB-865713DA5C69}" type="presParOf" srcId="{37CC7249-069B-428A-826F-345CA149D792}" destId="{7500DB02-92ED-4D54-99D3-3DDD8A8D455A}" srcOrd="2" destOrd="0" presId="urn:microsoft.com/office/officeart/2005/8/layout/hierarchy1"/>
    <dgm:cxn modelId="{F4BDBFCB-663E-4A34-81F9-DF5C4605DED0}" type="presParOf" srcId="{7500DB02-92ED-4D54-99D3-3DDD8A8D455A}" destId="{1A481D06-7AD5-47E1-9C01-4E69BB071E0D}" srcOrd="0" destOrd="0" presId="urn:microsoft.com/office/officeart/2005/8/layout/hierarchy1"/>
    <dgm:cxn modelId="{DB54408E-063F-4F10-A98B-0BA1AFF8FADA}" type="presParOf" srcId="{1A481D06-7AD5-47E1-9C01-4E69BB071E0D}" destId="{D7478AB1-966C-4088-8B4A-DB1B22BAD9AA}" srcOrd="0" destOrd="0" presId="urn:microsoft.com/office/officeart/2005/8/layout/hierarchy1"/>
    <dgm:cxn modelId="{6B5EC75B-719D-467B-898B-8EABAF8BC85B}" type="presParOf" srcId="{1A481D06-7AD5-47E1-9C01-4E69BB071E0D}" destId="{4401BF02-69BF-48E1-A46E-6A96A31B9220}" srcOrd="1" destOrd="0" presId="urn:microsoft.com/office/officeart/2005/8/layout/hierarchy1"/>
    <dgm:cxn modelId="{BD19CCB9-CCC4-45DE-BA90-06CFFD1F86BC}" type="presParOf" srcId="{7500DB02-92ED-4D54-99D3-3DDD8A8D455A}" destId="{ED372F10-22DD-4A47-8B92-3E7FE41C5B63}" srcOrd="1" destOrd="0" presId="urn:microsoft.com/office/officeart/2005/8/layout/hierarchy1"/>
    <dgm:cxn modelId="{C208EA98-2B0B-4CD2-B3A3-CAD439CD298C}" type="presParOf" srcId="{37CC7249-069B-428A-826F-345CA149D792}" destId="{215F4B01-CE58-4182-9F3D-866AB44B7594}" srcOrd="3" destOrd="0" presId="urn:microsoft.com/office/officeart/2005/8/layout/hierarchy1"/>
    <dgm:cxn modelId="{E2F26EC5-9D0C-413B-9D40-224B098FCF58}" type="presParOf" srcId="{215F4B01-CE58-4182-9F3D-866AB44B7594}" destId="{E4A31AA2-1C74-424E-B98E-81C89EF3BDAE}" srcOrd="0" destOrd="0" presId="urn:microsoft.com/office/officeart/2005/8/layout/hierarchy1"/>
    <dgm:cxn modelId="{B4574E7E-D96A-4CFA-B0FD-998D25D23A24}" type="presParOf" srcId="{E4A31AA2-1C74-424E-B98E-81C89EF3BDAE}" destId="{33D76180-5F3B-41E8-83B5-CC336F994BA3}" srcOrd="0" destOrd="0" presId="urn:microsoft.com/office/officeart/2005/8/layout/hierarchy1"/>
    <dgm:cxn modelId="{14DAFF4A-9F76-4BB9-8088-CC224B4D9A68}" type="presParOf" srcId="{E4A31AA2-1C74-424E-B98E-81C89EF3BDAE}" destId="{63FE338A-937A-4BAD-8783-FA5A337BD25A}" srcOrd="1" destOrd="0" presId="urn:microsoft.com/office/officeart/2005/8/layout/hierarchy1"/>
    <dgm:cxn modelId="{4B767AAC-199E-42BE-AEC5-466B0D0E1894}" type="presParOf" srcId="{215F4B01-CE58-4182-9F3D-866AB44B7594}" destId="{E114AF18-A972-4534-97EA-7D3C05BB1AC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3F4AE40-3F90-4F8D-8D11-00CA108039E5}"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1CC33D17-86EB-4EC3-93C1-D0AA042FDFFF}">
      <dgm:prSet/>
      <dgm:spPr/>
      <dgm:t>
        <a:bodyPr/>
        <a:lstStyle/>
        <a:p>
          <a:r>
            <a:rPr lang="fr-FR" dirty="0"/>
            <a:t>Data </a:t>
          </a:r>
          <a:r>
            <a:rPr lang="fr-FR" dirty="0" err="1"/>
            <a:t>Representation</a:t>
          </a:r>
          <a:endParaRPr lang="en-US" dirty="0"/>
        </a:p>
      </dgm:t>
    </dgm:pt>
    <dgm:pt modelId="{A910E5E0-CD8B-4827-9145-31C487EB93ED}" type="parTrans" cxnId="{4E00CC07-D55D-4D8F-8365-BD49793A4001}">
      <dgm:prSet/>
      <dgm:spPr/>
      <dgm:t>
        <a:bodyPr/>
        <a:lstStyle/>
        <a:p>
          <a:endParaRPr lang="en-US"/>
        </a:p>
      </dgm:t>
    </dgm:pt>
    <dgm:pt modelId="{6A537D4D-D99E-4DF8-8FE8-28795F802728}" type="sibTrans" cxnId="{4E00CC07-D55D-4D8F-8365-BD49793A4001}">
      <dgm:prSet/>
      <dgm:spPr/>
      <dgm:t>
        <a:bodyPr/>
        <a:lstStyle/>
        <a:p>
          <a:endParaRPr lang="en-US"/>
        </a:p>
      </dgm:t>
    </dgm:pt>
    <dgm:pt modelId="{C8358AFC-3E02-4C33-A361-AC9F554C40D2}">
      <dgm:prSet/>
      <dgm:spPr/>
      <dgm:t>
        <a:bodyPr/>
        <a:lstStyle/>
        <a:p>
          <a:r>
            <a:rPr lang="fr-FR" dirty="0"/>
            <a:t>Data Translation</a:t>
          </a:r>
          <a:endParaRPr lang="en-US" dirty="0"/>
        </a:p>
      </dgm:t>
    </dgm:pt>
    <dgm:pt modelId="{F23B8FC8-2B48-46C6-AC47-DE503E8D9F98}" type="parTrans" cxnId="{924C9F50-B48D-4C98-B48C-4B164A68568B}">
      <dgm:prSet/>
      <dgm:spPr/>
      <dgm:t>
        <a:bodyPr/>
        <a:lstStyle/>
        <a:p>
          <a:endParaRPr lang="en-US"/>
        </a:p>
      </dgm:t>
    </dgm:pt>
    <dgm:pt modelId="{D269BFDB-D7C1-4F3A-A74B-89CDE354786C}" type="sibTrans" cxnId="{924C9F50-B48D-4C98-B48C-4B164A68568B}">
      <dgm:prSet/>
      <dgm:spPr/>
      <dgm:t>
        <a:bodyPr/>
        <a:lstStyle/>
        <a:p>
          <a:endParaRPr lang="en-US"/>
        </a:p>
      </dgm:t>
    </dgm:pt>
    <dgm:pt modelId="{1A798C19-9E88-47C9-8665-74333A327F61}">
      <dgm:prSet/>
      <dgm:spPr/>
      <dgm:t>
        <a:bodyPr/>
        <a:lstStyle/>
        <a:p>
          <a:r>
            <a:rPr lang="fr-FR" dirty="0"/>
            <a:t>Data </a:t>
          </a:r>
          <a:r>
            <a:rPr lang="fr-FR" dirty="0" err="1"/>
            <a:t>Alignment</a:t>
          </a:r>
          <a:endParaRPr lang="en-US" dirty="0"/>
        </a:p>
      </dgm:t>
    </dgm:pt>
    <dgm:pt modelId="{B4AC42FC-7065-4EBD-94F6-73BD5F903F90}" type="parTrans" cxnId="{69F9CB29-D138-45C0-B2D4-A97E22CCC6A6}">
      <dgm:prSet/>
      <dgm:spPr/>
      <dgm:t>
        <a:bodyPr/>
        <a:lstStyle/>
        <a:p>
          <a:endParaRPr lang="en-US"/>
        </a:p>
      </dgm:t>
    </dgm:pt>
    <dgm:pt modelId="{17A99CA1-4AFE-4886-873E-4B7042128C5F}" type="sibTrans" cxnId="{69F9CB29-D138-45C0-B2D4-A97E22CCC6A6}">
      <dgm:prSet/>
      <dgm:spPr/>
      <dgm:t>
        <a:bodyPr/>
        <a:lstStyle/>
        <a:p>
          <a:endParaRPr lang="en-US"/>
        </a:p>
      </dgm:t>
    </dgm:pt>
    <dgm:pt modelId="{33526A63-4989-42CF-B779-D00B71A7EF59}" type="pres">
      <dgm:prSet presAssocID="{E3F4AE40-3F90-4F8D-8D11-00CA108039E5}" presName="hierChild1" presStyleCnt="0">
        <dgm:presLayoutVars>
          <dgm:chPref val="1"/>
          <dgm:dir/>
          <dgm:animOne val="branch"/>
          <dgm:animLvl val="lvl"/>
          <dgm:resizeHandles/>
        </dgm:presLayoutVars>
      </dgm:prSet>
      <dgm:spPr/>
    </dgm:pt>
    <dgm:pt modelId="{3F8153BD-25FD-471B-8267-1BE5ADDF187A}" type="pres">
      <dgm:prSet presAssocID="{1CC33D17-86EB-4EC3-93C1-D0AA042FDFFF}" presName="hierRoot1" presStyleCnt="0"/>
      <dgm:spPr/>
    </dgm:pt>
    <dgm:pt modelId="{3AB75ADC-51B3-4351-B3D4-68AB2EE58288}" type="pres">
      <dgm:prSet presAssocID="{1CC33D17-86EB-4EC3-93C1-D0AA042FDFFF}" presName="composite" presStyleCnt="0"/>
      <dgm:spPr/>
    </dgm:pt>
    <dgm:pt modelId="{FAFC9E05-6EA5-460D-AC12-599AC99C6018}" type="pres">
      <dgm:prSet presAssocID="{1CC33D17-86EB-4EC3-93C1-D0AA042FDFFF}" presName="background" presStyleLbl="node0" presStyleIdx="0" presStyleCnt="3"/>
      <dgm:spPr/>
    </dgm:pt>
    <dgm:pt modelId="{E75C9F96-14F9-4935-A54F-70E53C7DF36C}" type="pres">
      <dgm:prSet presAssocID="{1CC33D17-86EB-4EC3-93C1-D0AA042FDFFF}" presName="text" presStyleLbl="fgAcc0" presStyleIdx="0" presStyleCnt="3">
        <dgm:presLayoutVars>
          <dgm:chPref val="3"/>
        </dgm:presLayoutVars>
      </dgm:prSet>
      <dgm:spPr/>
    </dgm:pt>
    <dgm:pt modelId="{D426E975-9151-45E1-9683-4FB786883C02}" type="pres">
      <dgm:prSet presAssocID="{1CC33D17-86EB-4EC3-93C1-D0AA042FDFFF}" presName="hierChild2" presStyleCnt="0"/>
      <dgm:spPr/>
    </dgm:pt>
    <dgm:pt modelId="{5408F4CC-5166-4D59-A996-D477A69829D6}" type="pres">
      <dgm:prSet presAssocID="{C8358AFC-3E02-4C33-A361-AC9F554C40D2}" presName="hierRoot1" presStyleCnt="0"/>
      <dgm:spPr/>
    </dgm:pt>
    <dgm:pt modelId="{FD6447F1-BBA9-4944-8B04-7E08CDB4C2FA}" type="pres">
      <dgm:prSet presAssocID="{C8358AFC-3E02-4C33-A361-AC9F554C40D2}" presName="composite" presStyleCnt="0"/>
      <dgm:spPr/>
    </dgm:pt>
    <dgm:pt modelId="{ED2A4AAE-5A1C-462D-8878-09B11FC049CE}" type="pres">
      <dgm:prSet presAssocID="{C8358AFC-3E02-4C33-A361-AC9F554C40D2}" presName="background" presStyleLbl="node0" presStyleIdx="1" presStyleCnt="3"/>
      <dgm:spPr/>
    </dgm:pt>
    <dgm:pt modelId="{50A09759-FE6E-4769-AC9B-D52EFFBAF83C}" type="pres">
      <dgm:prSet presAssocID="{C8358AFC-3E02-4C33-A361-AC9F554C40D2}" presName="text" presStyleLbl="fgAcc0" presStyleIdx="1" presStyleCnt="3">
        <dgm:presLayoutVars>
          <dgm:chPref val="3"/>
        </dgm:presLayoutVars>
      </dgm:prSet>
      <dgm:spPr/>
    </dgm:pt>
    <dgm:pt modelId="{55380F03-8ACF-4F8A-A341-2E90E3022ABE}" type="pres">
      <dgm:prSet presAssocID="{C8358AFC-3E02-4C33-A361-AC9F554C40D2}" presName="hierChild2" presStyleCnt="0"/>
      <dgm:spPr/>
    </dgm:pt>
    <dgm:pt modelId="{BE9B4DC0-6C20-44A8-9C53-A2C72093C211}" type="pres">
      <dgm:prSet presAssocID="{1A798C19-9E88-47C9-8665-74333A327F61}" presName="hierRoot1" presStyleCnt="0"/>
      <dgm:spPr/>
    </dgm:pt>
    <dgm:pt modelId="{CDDAC1A1-4410-4B5A-BD8E-F02361A4C75D}" type="pres">
      <dgm:prSet presAssocID="{1A798C19-9E88-47C9-8665-74333A327F61}" presName="composite" presStyleCnt="0"/>
      <dgm:spPr/>
    </dgm:pt>
    <dgm:pt modelId="{3F40AA91-2C8C-45CE-A85F-BAC8DB16CC4D}" type="pres">
      <dgm:prSet presAssocID="{1A798C19-9E88-47C9-8665-74333A327F61}" presName="background" presStyleLbl="node0" presStyleIdx="2" presStyleCnt="3"/>
      <dgm:spPr/>
    </dgm:pt>
    <dgm:pt modelId="{A078F5CD-AED8-4A06-AB3D-A9B3055275D2}" type="pres">
      <dgm:prSet presAssocID="{1A798C19-9E88-47C9-8665-74333A327F61}" presName="text" presStyleLbl="fgAcc0" presStyleIdx="2" presStyleCnt="3">
        <dgm:presLayoutVars>
          <dgm:chPref val="3"/>
        </dgm:presLayoutVars>
      </dgm:prSet>
      <dgm:spPr/>
    </dgm:pt>
    <dgm:pt modelId="{1BACDE39-0585-4DE1-8CBC-527D4FCB3D17}" type="pres">
      <dgm:prSet presAssocID="{1A798C19-9E88-47C9-8665-74333A327F61}" presName="hierChild2" presStyleCnt="0"/>
      <dgm:spPr/>
    </dgm:pt>
  </dgm:ptLst>
  <dgm:cxnLst>
    <dgm:cxn modelId="{4E00CC07-D55D-4D8F-8365-BD49793A4001}" srcId="{E3F4AE40-3F90-4F8D-8D11-00CA108039E5}" destId="{1CC33D17-86EB-4EC3-93C1-D0AA042FDFFF}" srcOrd="0" destOrd="0" parTransId="{A910E5E0-CD8B-4827-9145-31C487EB93ED}" sibTransId="{6A537D4D-D99E-4DF8-8FE8-28795F802728}"/>
    <dgm:cxn modelId="{69F9CB29-D138-45C0-B2D4-A97E22CCC6A6}" srcId="{E3F4AE40-3F90-4F8D-8D11-00CA108039E5}" destId="{1A798C19-9E88-47C9-8665-74333A327F61}" srcOrd="2" destOrd="0" parTransId="{B4AC42FC-7065-4EBD-94F6-73BD5F903F90}" sibTransId="{17A99CA1-4AFE-4886-873E-4B7042128C5F}"/>
    <dgm:cxn modelId="{4A20762A-C797-41CA-A0C9-4F4B6FF18915}" type="presOf" srcId="{1A798C19-9E88-47C9-8665-74333A327F61}" destId="{A078F5CD-AED8-4A06-AB3D-A9B3055275D2}" srcOrd="0" destOrd="0" presId="urn:microsoft.com/office/officeart/2005/8/layout/hierarchy1"/>
    <dgm:cxn modelId="{FD201C2F-E9A6-4C9C-A96A-D76D5AA42E1F}" type="presOf" srcId="{E3F4AE40-3F90-4F8D-8D11-00CA108039E5}" destId="{33526A63-4989-42CF-B779-D00B71A7EF59}" srcOrd="0" destOrd="0" presId="urn:microsoft.com/office/officeart/2005/8/layout/hierarchy1"/>
    <dgm:cxn modelId="{23549C3A-038D-41A4-9DFD-E8AC7A8D154C}" type="presOf" srcId="{1CC33D17-86EB-4EC3-93C1-D0AA042FDFFF}" destId="{E75C9F96-14F9-4935-A54F-70E53C7DF36C}" srcOrd="0" destOrd="0" presId="urn:microsoft.com/office/officeart/2005/8/layout/hierarchy1"/>
    <dgm:cxn modelId="{924C9F50-B48D-4C98-B48C-4B164A68568B}" srcId="{E3F4AE40-3F90-4F8D-8D11-00CA108039E5}" destId="{C8358AFC-3E02-4C33-A361-AC9F554C40D2}" srcOrd="1" destOrd="0" parTransId="{F23B8FC8-2B48-46C6-AC47-DE503E8D9F98}" sibTransId="{D269BFDB-D7C1-4F3A-A74B-89CDE354786C}"/>
    <dgm:cxn modelId="{DA52DBD6-A251-4FDE-8C21-5424BFFE25BE}" type="presOf" srcId="{C8358AFC-3E02-4C33-A361-AC9F554C40D2}" destId="{50A09759-FE6E-4769-AC9B-D52EFFBAF83C}" srcOrd="0" destOrd="0" presId="urn:microsoft.com/office/officeart/2005/8/layout/hierarchy1"/>
    <dgm:cxn modelId="{D9F8E4D5-04C4-4C64-83D4-C37BA24021A6}" type="presParOf" srcId="{33526A63-4989-42CF-B779-D00B71A7EF59}" destId="{3F8153BD-25FD-471B-8267-1BE5ADDF187A}" srcOrd="0" destOrd="0" presId="urn:microsoft.com/office/officeart/2005/8/layout/hierarchy1"/>
    <dgm:cxn modelId="{A36C0123-D153-4344-9288-89984B539794}" type="presParOf" srcId="{3F8153BD-25FD-471B-8267-1BE5ADDF187A}" destId="{3AB75ADC-51B3-4351-B3D4-68AB2EE58288}" srcOrd="0" destOrd="0" presId="urn:microsoft.com/office/officeart/2005/8/layout/hierarchy1"/>
    <dgm:cxn modelId="{4AD5BE13-6A85-4231-9249-0BB287D3D140}" type="presParOf" srcId="{3AB75ADC-51B3-4351-B3D4-68AB2EE58288}" destId="{FAFC9E05-6EA5-460D-AC12-599AC99C6018}" srcOrd="0" destOrd="0" presId="urn:microsoft.com/office/officeart/2005/8/layout/hierarchy1"/>
    <dgm:cxn modelId="{A4147A99-3760-4744-B887-88ADF66DDDE4}" type="presParOf" srcId="{3AB75ADC-51B3-4351-B3D4-68AB2EE58288}" destId="{E75C9F96-14F9-4935-A54F-70E53C7DF36C}" srcOrd="1" destOrd="0" presId="urn:microsoft.com/office/officeart/2005/8/layout/hierarchy1"/>
    <dgm:cxn modelId="{061E0C0D-1F9F-4CDD-8611-B5C23CFD4C47}" type="presParOf" srcId="{3F8153BD-25FD-471B-8267-1BE5ADDF187A}" destId="{D426E975-9151-45E1-9683-4FB786883C02}" srcOrd="1" destOrd="0" presId="urn:microsoft.com/office/officeart/2005/8/layout/hierarchy1"/>
    <dgm:cxn modelId="{2563AEF3-3746-4F57-AFF1-8444B39D5880}" type="presParOf" srcId="{33526A63-4989-42CF-B779-D00B71A7EF59}" destId="{5408F4CC-5166-4D59-A996-D477A69829D6}" srcOrd="1" destOrd="0" presId="urn:microsoft.com/office/officeart/2005/8/layout/hierarchy1"/>
    <dgm:cxn modelId="{43C72610-E498-4001-B816-3846C6ED0BA2}" type="presParOf" srcId="{5408F4CC-5166-4D59-A996-D477A69829D6}" destId="{FD6447F1-BBA9-4944-8B04-7E08CDB4C2FA}" srcOrd="0" destOrd="0" presId="urn:microsoft.com/office/officeart/2005/8/layout/hierarchy1"/>
    <dgm:cxn modelId="{41DD93BE-F1E9-4512-83DD-B7735F52DA52}" type="presParOf" srcId="{FD6447F1-BBA9-4944-8B04-7E08CDB4C2FA}" destId="{ED2A4AAE-5A1C-462D-8878-09B11FC049CE}" srcOrd="0" destOrd="0" presId="urn:microsoft.com/office/officeart/2005/8/layout/hierarchy1"/>
    <dgm:cxn modelId="{667E2FA1-C933-498D-AAB0-23F9A301F228}" type="presParOf" srcId="{FD6447F1-BBA9-4944-8B04-7E08CDB4C2FA}" destId="{50A09759-FE6E-4769-AC9B-D52EFFBAF83C}" srcOrd="1" destOrd="0" presId="urn:microsoft.com/office/officeart/2005/8/layout/hierarchy1"/>
    <dgm:cxn modelId="{0A80EE8A-C47A-4149-8606-8A35F9D4AED9}" type="presParOf" srcId="{5408F4CC-5166-4D59-A996-D477A69829D6}" destId="{55380F03-8ACF-4F8A-A341-2E90E3022ABE}" srcOrd="1" destOrd="0" presId="urn:microsoft.com/office/officeart/2005/8/layout/hierarchy1"/>
    <dgm:cxn modelId="{ED2B9B44-03C1-4CCB-BE4D-175552EC8CC6}" type="presParOf" srcId="{33526A63-4989-42CF-B779-D00B71A7EF59}" destId="{BE9B4DC0-6C20-44A8-9C53-A2C72093C211}" srcOrd="2" destOrd="0" presId="urn:microsoft.com/office/officeart/2005/8/layout/hierarchy1"/>
    <dgm:cxn modelId="{C0919EE8-B513-47D5-9666-0EDAEF91FCB6}" type="presParOf" srcId="{BE9B4DC0-6C20-44A8-9C53-A2C72093C211}" destId="{CDDAC1A1-4410-4B5A-BD8E-F02361A4C75D}" srcOrd="0" destOrd="0" presId="urn:microsoft.com/office/officeart/2005/8/layout/hierarchy1"/>
    <dgm:cxn modelId="{C8302FA4-7800-4B3B-A4F0-CDF4D62E008C}" type="presParOf" srcId="{CDDAC1A1-4410-4B5A-BD8E-F02361A4C75D}" destId="{3F40AA91-2C8C-45CE-A85F-BAC8DB16CC4D}" srcOrd="0" destOrd="0" presId="urn:microsoft.com/office/officeart/2005/8/layout/hierarchy1"/>
    <dgm:cxn modelId="{DD3AAC8F-FB7B-41D5-AB61-8F75B7168FC9}" type="presParOf" srcId="{CDDAC1A1-4410-4B5A-BD8E-F02361A4C75D}" destId="{A078F5CD-AED8-4A06-AB3D-A9B3055275D2}" srcOrd="1" destOrd="0" presId="urn:microsoft.com/office/officeart/2005/8/layout/hierarchy1"/>
    <dgm:cxn modelId="{937104C1-77AF-467E-B2AB-A6BFC1CF3FCC}" type="presParOf" srcId="{BE9B4DC0-6C20-44A8-9C53-A2C72093C211}" destId="{1BACDE39-0585-4DE1-8CBC-527D4FCB3D17}"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C678895-99C2-486A-95F6-0DD242D73831}" type="doc">
      <dgm:prSet loTypeId="urn:microsoft.com/office/officeart/2005/8/layout/hierarchy1" loCatId="hierarchy" qsTypeId="urn:microsoft.com/office/officeart/2005/8/quickstyle/simple1" qsCatId="simple" csTypeId="urn:microsoft.com/office/officeart/2005/8/colors/accent3_2" csCatId="accent3" phldr="1"/>
      <dgm:spPr/>
      <dgm:t>
        <a:bodyPr/>
        <a:lstStyle/>
        <a:p>
          <a:endParaRPr lang="en-US"/>
        </a:p>
      </dgm:t>
    </dgm:pt>
    <dgm:pt modelId="{CDEC2B3D-BEB9-4CD0-B977-E682BFAB792F}">
      <dgm:prSet/>
      <dgm:spPr>
        <a:ln>
          <a:solidFill>
            <a:schemeClr val="accent1"/>
          </a:solidFill>
        </a:ln>
      </dgm:spPr>
      <dgm:t>
        <a:bodyPr/>
        <a:lstStyle/>
        <a:p>
          <a:r>
            <a:rPr lang="es-AR"/>
            <a:t>· </a:t>
          </a:r>
          <a:r>
            <a:rPr lang="fr-FR"/>
            <a:t>Modalités manquantes</a:t>
          </a:r>
          <a:endParaRPr lang="en-US"/>
        </a:p>
      </dgm:t>
    </dgm:pt>
    <dgm:pt modelId="{9E82C41B-7783-4EF4-B1C8-95E05E917FDB}" type="parTrans" cxnId="{1D3BB294-5630-4EEE-9B8B-83ADF2B400A0}">
      <dgm:prSet/>
      <dgm:spPr/>
      <dgm:t>
        <a:bodyPr/>
        <a:lstStyle/>
        <a:p>
          <a:endParaRPr lang="en-US"/>
        </a:p>
      </dgm:t>
    </dgm:pt>
    <dgm:pt modelId="{696B7A38-E536-45FD-BBE3-19B8A8F1CCD1}" type="sibTrans" cxnId="{1D3BB294-5630-4EEE-9B8B-83ADF2B400A0}">
      <dgm:prSet/>
      <dgm:spPr/>
      <dgm:t>
        <a:bodyPr/>
        <a:lstStyle/>
        <a:p>
          <a:endParaRPr lang="en-US"/>
        </a:p>
      </dgm:t>
    </dgm:pt>
    <dgm:pt modelId="{B2F9F2FE-A417-42EE-9018-9847C230CB18}">
      <dgm:prSet/>
      <dgm:spPr>
        <a:ln>
          <a:solidFill>
            <a:schemeClr val="accent1"/>
          </a:solidFill>
        </a:ln>
      </dgm:spPr>
      <dgm:t>
        <a:bodyPr/>
        <a:lstStyle/>
        <a:p>
          <a:r>
            <a:rPr lang="es-AR"/>
            <a:t>·</a:t>
          </a:r>
          <a:r>
            <a:rPr lang="fr-FR"/>
            <a:t>  Données bruitées</a:t>
          </a:r>
          <a:endParaRPr lang="en-US"/>
        </a:p>
      </dgm:t>
    </dgm:pt>
    <dgm:pt modelId="{53CFBE32-400C-4356-A117-43CC8207E54F}" type="parTrans" cxnId="{BB95FE3D-BBD0-460B-8388-12189A89BDB7}">
      <dgm:prSet/>
      <dgm:spPr/>
      <dgm:t>
        <a:bodyPr/>
        <a:lstStyle/>
        <a:p>
          <a:endParaRPr lang="en-US"/>
        </a:p>
      </dgm:t>
    </dgm:pt>
    <dgm:pt modelId="{7BB95D19-C383-48C2-8569-BDA3394B66C8}" type="sibTrans" cxnId="{BB95FE3D-BBD0-460B-8388-12189A89BDB7}">
      <dgm:prSet/>
      <dgm:spPr/>
      <dgm:t>
        <a:bodyPr/>
        <a:lstStyle/>
        <a:p>
          <a:endParaRPr lang="en-US"/>
        </a:p>
      </dgm:t>
    </dgm:pt>
    <dgm:pt modelId="{BCAAEB15-3F5A-4456-8EFC-4D93D15BB6E8}">
      <dgm:prSet/>
      <dgm:spPr>
        <a:ln>
          <a:solidFill>
            <a:schemeClr val="accent1"/>
          </a:solidFill>
        </a:ln>
      </dgm:spPr>
      <dgm:t>
        <a:bodyPr/>
        <a:lstStyle/>
        <a:p>
          <a:r>
            <a:rPr lang="es-AR"/>
            <a:t>·</a:t>
          </a:r>
          <a:r>
            <a:rPr lang="fr-FR"/>
            <a:t>  Données peu annotées</a:t>
          </a:r>
          <a:endParaRPr lang="en-US"/>
        </a:p>
      </dgm:t>
    </dgm:pt>
    <dgm:pt modelId="{7C4635D7-CC92-4A1D-BC8E-0800E5EA69E1}" type="parTrans" cxnId="{FD495C35-E5ED-4472-95AD-72EEBD2F6ADC}">
      <dgm:prSet/>
      <dgm:spPr/>
      <dgm:t>
        <a:bodyPr/>
        <a:lstStyle/>
        <a:p>
          <a:endParaRPr lang="en-US"/>
        </a:p>
      </dgm:t>
    </dgm:pt>
    <dgm:pt modelId="{C7A3E70F-0FEE-4575-9E7B-AFE6DA374152}" type="sibTrans" cxnId="{FD495C35-E5ED-4472-95AD-72EEBD2F6ADC}">
      <dgm:prSet/>
      <dgm:spPr/>
      <dgm:t>
        <a:bodyPr/>
        <a:lstStyle/>
        <a:p>
          <a:endParaRPr lang="en-US"/>
        </a:p>
      </dgm:t>
    </dgm:pt>
    <dgm:pt modelId="{B0F9DC9A-F226-4EBC-9BB9-37476BFE2EFF}">
      <dgm:prSet/>
      <dgm:spPr>
        <a:ln>
          <a:solidFill>
            <a:schemeClr val="accent1"/>
          </a:solidFill>
        </a:ln>
      </dgm:spPr>
      <dgm:t>
        <a:bodyPr/>
        <a:lstStyle/>
        <a:p>
          <a:r>
            <a:rPr lang="es-AR"/>
            <a:t>·</a:t>
          </a:r>
          <a:r>
            <a:rPr lang="fr-FR"/>
            <a:t>  Données peu fiables </a:t>
          </a:r>
          <a:endParaRPr lang="en-US"/>
        </a:p>
      </dgm:t>
    </dgm:pt>
    <dgm:pt modelId="{5B6CABC3-4371-42F8-B203-1945A1349EC3}" type="parTrans" cxnId="{EE53EC1C-7591-4FEE-A122-C6907BC64AE6}">
      <dgm:prSet/>
      <dgm:spPr/>
      <dgm:t>
        <a:bodyPr/>
        <a:lstStyle/>
        <a:p>
          <a:endParaRPr lang="en-US"/>
        </a:p>
      </dgm:t>
    </dgm:pt>
    <dgm:pt modelId="{8132F3DA-3CFC-4611-8116-13A966CF8089}" type="sibTrans" cxnId="{EE53EC1C-7591-4FEE-A122-C6907BC64AE6}">
      <dgm:prSet/>
      <dgm:spPr/>
      <dgm:t>
        <a:bodyPr/>
        <a:lstStyle/>
        <a:p>
          <a:endParaRPr lang="en-US"/>
        </a:p>
      </dgm:t>
    </dgm:pt>
    <dgm:pt modelId="{5D0329CF-ED50-4EC4-ABC0-7750B5833AD3}" type="pres">
      <dgm:prSet presAssocID="{EC678895-99C2-486A-95F6-0DD242D73831}" presName="hierChild1" presStyleCnt="0">
        <dgm:presLayoutVars>
          <dgm:chPref val="1"/>
          <dgm:dir/>
          <dgm:animOne val="branch"/>
          <dgm:animLvl val="lvl"/>
          <dgm:resizeHandles/>
        </dgm:presLayoutVars>
      </dgm:prSet>
      <dgm:spPr/>
    </dgm:pt>
    <dgm:pt modelId="{C18C0BAF-30F4-4E0C-9761-3BE6A91221EE}" type="pres">
      <dgm:prSet presAssocID="{CDEC2B3D-BEB9-4CD0-B977-E682BFAB792F}" presName="hierRoot1" presStyleCnt="0"/>
      <dgm:spPr/>
    </dgm:pt>
    <dgm:pt modelId="{FBE2AB1A-BB76-4F0A-AB01-476C3C986B81}" type="pres">
      <dgm:prSet presAssocID="{CDEC2B3D-BEB9-4CD0-B977-E682BFAB792F}" presName="composite" presStyleCnt="0"/>
      <dgm:spPr/>
    </dgm:pt>
    <dgm:pt modelId="{FF9ADA8F-2FB8-4868-9CA8-4E6AEBF50F58}" type="pres">
      <dgm:prSet presAssocID="{CDEC2B3D-BEB9-4CD0-B977-E682BFAB792F}" presName="background" presStyleLbl="node0" presStyleIdx="0" presStyleCnt="4"/>
      <dgm:spPr>
        <a:solidFill>
          <a:schemeClr val="accent1">
            <a:lumMod val="75000"/>
          </a:schemeClr>
        </a:solidFill>
      </dgm:spPr>
    </dgm:pt>
    <dgm:pt modelId="{87E0A18F-DF30-47A7-9D4B-BC9FC19A9456}" type="pres">
      <dgm:prSet presAssocID="{CDEC2B3D-BEB9-4CD0-B977-E682BFAB792F}" presName="text" presStyleLbl="fgAcc0" presStyleIdx="0" presStyleCnt="4">
        <dgm:presLayoutVars>
          <dgm:chPref val="3"/>
        </dgm:presLayoutVars>
      </dgm:prSet>
      <dgm:spPr/>
    </dgm:pt>
    <dgm:pt modelId="{02D1B39E-DCA9-4184-9BDB-5545308F36C2}" type="pres">
      <dgm:prSet presAssocID="{CDEC2B3D-BEB9-4CD0-B977-E682BFAB792F}" presName="hierChild2" presStyleCnt="0"/>
      <dgm:spPr/>
    </dgm:pt>
    <dgm:pt modelId="{802D014E-B98A-4E63-AFE9-C5D05EBE1E24}" type="pres">
      <dgm:prSet presAssocID="{B2F9F2FE-A417-42EE-9018-9847C230CB18}" presName="hierRoot1" presStyleCnt="0"/>
      <dgm:spPr/>
    </dgm:pt>
    <dgm:pt modelId="{375FB3DA-C179-42B5-BE5A-66D94E9EBBD5}" type="pres">
      <dgm:prSet presAssocID="{B2F9F2FE-A417-42EE-9018-9847C230CB18}" presName="composite" presStyleCnt="0"/>
      <dgm:spPr/>
    </dgm:pt>
    <dgm:pt modelId="{E82E9888-E226-4B37-B4C8-45EB08E1485C}" type="pres">
      <dgm:prSet presAssocID="{B2F9F2FE-A417-42EE-9018-9847C230CB18}" presName="background" presStyleLbl="node0" presStyleIdx="1" presStyleCnt="4"/>
      <dgm:spPr>
        <a:solidFill>
          <a:schemeClr val="accent1">
            <a:lumMod val="75000"/>
          </a:schemeClr>
        </a:solidFill>
      </dgm:spPr>
    </dgm:pt>
    <dgm:pt modelId="{5446D6B8-73C0-491F-ACDB-132C2AFBAF4A}" type="pres">
      <dgm:prSet presAssocID="{B2F9F2FE-A417-42EE-9018-9847C230CB18}" presName="text" presStyleLbl="fgAcc0" presStyleIdx="1" presStyleCnt="4">
        <dgm:presLayoutVars>
          <dgm:chPref val="3"/>
        </dgm:presLayoutVars>
      </dgm:prSet>
      <dgm:spPr/>
    </dgm:pt>
    <dgm:pt modelId="{AFB3349D-EDE6-40F9-8D7F-07464AC119B6}" type="pres">
      <dgm:prSet presAssocID="{B2F9F2FE-A417-42EE-9018-9847C230CB18}" presName="hierChild2" presStyleCnt="0"/>
      <dgm:spPr/>
    </dgm:pt>
    <dgm:pt modelId="{1AD4BDD5-2B2D-42F7-8A04-6C4F4DC3C496}" type="pres">
      <dgm:prSet presAssocID="{BCAAEB15-3F5A-4456-8EFC-4D93D15BB6E8}" presName="hierRoot1" presStyleCnt="0"/>
      <dgm:spPr/>
    </dgm:pt>
    <dgm:pt modelId="{2DBF6710-F5AA-4EBF-A25C-0D9557AD00BE}" type="pres">
      <dgm:prSet presAssocID="{BCAAEB15-3F5A-4456-8EFC-4D93D15BB6E8}" presName="composite" presStyleCnt="0"/>
      <dgm:spPr/>
    </dgm:pt>
    <dgm:pt modelId="{144FF66D-901C-4C4A-A540-FE4E1797CA44}" type="pres">
      <dgm:prSet presAssocID="{BCAAEB15-3F5A-4456-8EFC-4D93D15BB6E8}" presName="background" presStyleLbl="node0" presStyleIdx="2" presStyleCnt="4"/>
      <dgm:spPr>
        <a:solidFill>
          <a:schemeClr val="accent1">
            <a:lumMod val="75000"/>
          </a:schemeClr>
        </a:solidFill>
      </dgm:spPr>
    </dgm:pt>
    <dgm:pt modelId="{AB021541-4899-40D0-B771-2510A545BB26}" type="pres">
      <dgm:prSet presAssocID="{BCAAEB15-3F5A-4456-8EFC-4D93D15BB6E8}" presName="text" presStyleLbl="fgAcc0" presStyleIdx="2" presStyleCnt="4">
        <dgm:presLayoutVars>
          <dgm:chPref val="3"/>
        </dgm:presLayoutVars>
      </dgm:prSet>
      <dgm:spPr/>
    </dgm:pt>
    <dgm:pt modelId="{E6099213-0194-4679-8D23-12247076AA32}" type="pres">
      <dgm:prSet presAssocID="{BCAAEB15-3F5A-4456-8EFC-4D93D15BB6E8}" presName="hierChild2" presStyleCnt="0"/>
      <dgm:spPr/>
    </dgm:pt>
    <dgm:pt modelId="{CBCFDBC3-D3C1-4189-B749-C6822BB709A6}" type="pres">
      <dgm:prSet presAssocID="{B0F9DC9A-F226-4EBC-9BB9-37476BFE2EFF}" presName="hierRoot1" presStyleCnt="0"/>
      <dgm:spPr/>
    </dgm:pt>
    <dgm:pt modelId="{608D5B3E-82DF-421B-971E-5670D90760A0}" type="pres">
      <dgm:prSet presAssocID="{B0F9DC9A-F226-4EBC-9BB9-37476BFE2EFF}" presName="composite" presStyleCnt="0"/>
      <dgm:spPr/>
    </dgm:pt>
    <dgm:pt modelId="{FAC953A1-57A6-461A-8CC9-3B7836C09AFE}" type="pres">
      <dgm:prSet presAssocID="{B0F9DC9A-F226-4EBC-9BB9-37476BFE2EFF}" presName="background" presStyleLbl="node0" presStyleIdx="3" presStyleCnt="4"/>
      <dgm:spPr>
        <a:solidFill>
          <a:schemeClr val="accent1">
            <a:lumMod val="75000"/>
          </a:schemeClr>
        </a:solidFill>
      </dgm:spPr>
    </dgm:pt>
    <dgm:pt modelId="{A4354476-9AA7-47D7-9817-A82FB6B276CD}" type="pres">
      <dgm:prSet presAssocID="{B0F9DC9A-F226-4EBC-9BB9-37476BFE2EFF}" presName="text" presStyleLbl="fgAcc0" presStyleIdx="3" presStyleCnt="4">
        <dgm:presLayoutVars>
          <dgm:chPref val="3"/>
        </dgm:presLayoutVars>
      </dgm:prSet>
      <dgm:spPr/>
    </dgm:pt>
    <dgm:pt modelId="{64DC936C-60D2-44C2-AB38-14C3D23BC10A}" type="pres">
      <dgm:prSet presAssocID="{B0F9DC9A-F226-4EBC-9BB9-37476BFE2EFF}" presName="hierChild2" presStyleCnt="0"/>
      <dgm:spPr/>
    </dgm:pt>
  </dgm:ptLst>
  <dgm:cxnLst>
    <dgm:cxn modelId="{F1EB9202-EF07-478E-99DB-8A43CC4D5C59}" type="presOf" srcId="{B2F9F2FE-A417-42EE-9018-9847C230CB18}" destId="{5446D6B8-73C0-491F-ACDB-132C2AFBAF4A}" srcOrd="0" destOrd="0" presId="urn:microsoft.com/office/officeart/2005/8/layout/hierarchy1"/>
    <dgm:cxn modelId="{4E498914-9361-4E42-A979-C490D9FE63D5}" type="presOf" srcId="{B0F9DC9A-F226-4EBC-9BB9-37476BFE2EFF}" destId="{A4354476-9AA7-47D7-9817-A82FB6B276CD}" srcOrd="0" destOrd="0" presId="urn:microsoft.com/office/officeart/2005/8/layout/hierarchy1"/>
    <dgm:cxn modelId="{EE53EC1C-7591-4FEE-A122-C6907BC64AE6}" srcId="{EC678895-99C2-486A-95F6-0DD242D73831}" destId="{B0F9DC9A-F226-4EBC-9BB9-37476BFE2EFF}" srcOrd="3" destOrd="0" parTransId="{5B6CABC3-4371-42F8-B203-1945A1349EC3}" sibTransId="{8132F3DA-3CFC-4611-8116-13A966CF8089}"/>
    <dgm:cxn modelId="{FD495C35-E5ED-4472-95AD-72EEBD2F6ADC}" srcId="{EC678895-99C2-486A-95F6-0DD242D73831}" destId="{BCAAEB15-3F5A-4456-8EFC-4D93D15BB6E8}" srcOrd="2" destOrd="0" parTransId="{7C4635D7-CC92-4A1D-BC8E-0800E5EA69E1}" sibTransId="{C7A3E70F-0FEE-4575-9E7B-AFE6DA374152}"/>
    <dgm:cxn modelId="{BB95FE3D-BBD0-460B-8388-12189A89BDB7}" srcId="{EC678895-99C2-486A-95F6-0DD242D73831}" destId="{B2F9F2FE-A417-42EE-9018-9847C230CB18}" srcOrd="1" destOrd="0" parTransId="{53CFBE32-400C-4356-A117-43CC8207E54F}" sibTransId="{7BB95D19-C383-48C2-8569-BDA3394B66C8}"/>
    <dgm:cxn modelId="{1D3BB294-5630-4EEE-9B8B-83ADF2B400A0}" srcId="{EC678895-99C2-486A-95F6-0DD242D73831}" destId="{CDEC2B3D-BEB9-4CD0-B977-E682BFAB792F}" srcOrd="0" destOrd="0" parTransId="{9E82C41B-7783-4EF4-B1C8-95E05E917FDB}" sibTransId="{696B7A38-E536-45FD-BBE3-19B8A8F1CCD1}"/>
    <dgm:cxn modelId="{E6C7C09E-89E4-48A3-B860-84AEC49F67A3}" type="presOf" srcId="{EC678895-99C2-486A-95F6-0DD242D73831}" destId="{5D0329CF-ED50-4EC4-ABC0-7750B5833AD3}" srcOrd="0" destOrd="0" presId="urn:microsoft.com/office/officeart/2005/8/layout/hierarchy1"/>
    <dgm:cxn modelId="{101C83C7-0FB8-46D8-9751-E74CFCB35C88}" type="presOf" srcId="{BCAAEB15-3F5A-4456-8EFC-4D93D15BB6E8}" destId="{AB021541-4899-40D0-B771-2510A545BB26}" srcOrd="0" destOrd="0" presId="urn:microsoft.com/office/officeart/2005/8/layout/hierarchy1"/>
    <dgm:cxn modelId="{B9C5EBFA-2076-45E0-A31B-004C0D9EA67F}" type="presOf" srcId="{CDEC2B3D-BEB9-4CD0-B977-E682BFAB792F}" destId="{87E0A18F-DF30-47A7-9D4B-BC9FC19A9456}" srcOrd="0" destOrd="0" presId="urn:microsoft.com/office/officeart/2005/8/layout/hierarchy1"/>
    <dgm:cxn modelId="{24C87F13-4A51-4EBF-A7BB-544F34605586}" type="presParOf" srcId="{5D0329CF-ED50-4EC4-ABC0-7750B5833AD3}" destId="{C18C0BAF-30F4-4E0C-9761-3BE6A91221EE}" srcOrd="0" destOrd="0" presId="urn:microsoft.com/office/officeart/2005/8/layout/hierarchy1"/>
    <dgm:cxn modelId="{E4992A8E-2FDC-423F-8FCF-637000FA36A9}" type="presParOf" srcId="{C18C0BAF-30F4-4E0C-9761-3BE6A91221EE}" destId="{FBE2AB1A-BB76-4F0A-AB01-476C3C986B81}" srcOrd="0" destOrd="0" presId="urn:microsoft.com/office/officeart/2005/8/layout/hierarchy1"/>
    <dgm:cxn modelId="{AEF7CEA4-6411-4895-8730-85796630603F}" type="presParOf" srcId="{FBE2AB1A-BB76-4F0A-AB01-476C3C986B81}" destId="{FF9ADA8F-2FB8-4868-9CA8-4E6AEBF50F58}" srcOrd="0" destOrd="0" presId="urn:microsoft.com/office/officeart/2005/8/layout/hierarchy1"/>
    <dgm:cxn modelId="{ADDD2442-B3AB-4D87-8EAD-0C1DFB70DA3F}" type="presParOf" srcId="{FBE2AB1A-BB76-4F0A-AB01-476C3C986B81}" destId="{87E0A18F-DF30-47A7-9D4B-BC9FC19A9456}" srcOrd="1" destOrd="0" presId="urn:microsoft.com/office/officeart/2005/8/layout/hierarchy1"/>
    <dgm:cxn modelId="{0AA639AF-DB79-4DE1-8D54-D47E68BB0FB5}" type="presParOf" srcId="{C18C0BAF-30F4-4E0C-9761-3BE6A91221EE}" destId="{02D1B39E-DCA9-4184-9BDB-5545308F36C2}" srcOrd="1" destOrd="0" presId="urn:microsoft.com/office/officeart/2005/8/layout/hierarchy1"/>
    <dgm:cxn modelId="{8970593B-ADA4-43DE-AA40-739E41CD70D3}" type="presParOf" srcId="{5D0329CF-ED50-4EC4-ABC0-7750B5833AD3}" destId="{802D014E-B98A-4E63-AFE9-C5D05EBE1E24}" srcOrd="1" destOrd="0" presId="urn:microsoft.com/office/officeart/2005/8/layout/hierarchy1"/>
    <dgm:cxn modelId="{FCFE2BD6-998E-44C7-ADA7-95E3B16C9349}" type="presParOf" srcId="{802D014E-B98A-4E63-AFE9-C5D05EBE1E24}" destId="{375FB3DA-C179-42B5-BE5A-66D94E9EBBD5}" srcOrd="0" destOrd="0" presId="urn:microsoft.com/office/officeart/2005/8/layout/hierarchy1"/>
    <dgm:cxn modelId="{35C78AEF-ADFB-4B01-990D-CE3A8768A374}" type="presParOf" srcId="{375FB3DA-C179-42B5-BE5A-66D94E9EBBD5}" destId="{E82E9888-E226-4B37-B4C8-45EB08E1485C}" srcOrd="0" destOrd="0" presId="urn:microsoft.com/office/officeart/2005/8/layout/hierarchy1"/>
    <dgm:cxn modelId="{CF3B82EA-C283-4C02-9E94-2E76B2FFA703}" type="presParOf" srcId="{375FB3DA-C179-42B5-BE5A-66D94E9EBBD5}" destId="{5446D6B8-73C0-491F-ACDB-132C2AFBAF4A}" srcOrd="1" destOrd="0" presId="urn:microsoft.com/office/officeart/2005/8/layout/hierarchy1"/>
    <dgm:cxn modelId="{3D973BF2-E11F-47F6-ACAC-0618BDC6E579}" type="presParOf" srcId="{802D014E-B98A-4E63-AFE9-C5D05EBE1E24}" destId="{AFB3349D-EDE6-40F9-8D7F-07464AC119B6}" srcOrd="1" destOrd="0" presId="urn:microsoft.com/office/officeart/2005/8/layout/hierarchy1"/>
    <dgm:cxn modelId="{B6805FC6-71CD-48F1-AF56-997232BFB3D9}" type="presParOf" srcId="{5D0329CF-ED50-4EC4-ABC0-7750B5833AD3}" destId="{1AD4BDD5-2B2D-42F7-8A04-6C4F4DC3C496}" srcOrd="2" destOrd="0" presId="urn:microsoft.com/office/officeart/2005/8/layout/hierarchy1"/>
    <dgm:cxn modelId="{7202A4B6-2CD4-4E5E-AA42-56C5D8D5C5A9}" type="presParOf" srcId="{1AD4BDD5-2B2D-42F7-8A04-6C4F4DC3C496}" destId="{2DBF6710-F5AA-4EBF-A25C-0D9557AD00BE}" srcOrd="0" destOrd="0" presId="urn:microsoft.com/office/officeart/2005/8/layout/hierarchy1"/>
    <dgm:cxn modelId="{39DFE224-17AA-47DB-BE79-7A481B5CE5B5}" type="presParOf" srcId="{2DBF6710-F5AA-4EBF-A25C-0D9557AD00BE}" destId="{144FF66D-901C-4C4A-A540-FE4E1797CA44}" srcOrd="0" destOrd="0" presId="urn:microsoft.com/office/officeart/2005/8/layout/hierarchy1"/>
    <dgm:cxn modelId="{5E953BA0-C59F-4773-9449-B5B6B30D7465}" type="presParOf" srcId="{2DBF6710-F5AA-4EBF-A25C-0D9557AD00BE}" destId="{AB021541-4899-40D0-B771-2510A545BB26}" srcOrd="1" destOrd="0" presId="urn:microsoft.com/office/officeart/2005/8/layout/hierarchy1"/>
    <dgm:cxn modelId="{C13BC0CC-FC27-4F2A-A093-AB1EE1080EB7}" type="presParOf" srcId="{1AD4BDD5-2B2D-42F7-8A04-6C4F4DC3C496}" destId="{E6099213-0194-4679-8D23-12247076AA32}" srcOrd="1" destOrd="0" presId="urn:microsoft.com/office/officeart/2005/8/layout/hierarchy1"/>
    <dgm:cxn modelId="{F13F0951-4407-4ECF-8FD7-2CA32683EC3A}" type="presParOf" srcId="{5D0329CF-ED50-4EC4-ABC0-7750B5833AD3}" destId="{CBCFDBC3-D3C1-4189-B749-C6822BB709A6}" srcOrd="3" destOrd="0" presId="urn:microsoft.com/office/officeart/2005/8/layout/hierarchy1"/>
    <dgm:cxn modelId="{916DA13C-98A6-4100-9956-F9E6566481FC}" type="presParOf" srcId="{CBCFDBC3-D3C1-4189-B749-C6822BB709A6}" destId="{608D5B3E-82DF-421B-971E-5670D90760A0}" srcOrd="0" destOrd="0" presId="urn:microsoft.com/office/officeart/2005/8/layout/hierarchy1"/>
    <dgm:cxn modelId="{E3B6403C-75DA-435F-8955-027030A1A424}" type="presParOf" srcId="{608D5B3E-82DF-421B-971E-5670D90760A0}" destId="{FAC953A1-57A6-461A-8CC9-3B7836C09AFE}" srcOrd="0" destOrd="0" presId="urn:microsoft.com/office/officeart/2005/8/layout/hierarchy1"/>
    <dgm:cxn modelId="{522214A3-FF56-43D4-9CCD-77F15C071525}" type="presParOf" srcId="{608D5B3E-82DF-421B-971E-5670D90760A0}" destId="{A4354476-9AA7-47D7-9817-A82FB6B276CD}" srcOrd="1" destOrd="0" presId="urn:microsoft.com/office/officeart/2005/8/layout/hierarchy1"/>
    <dgm:cxn modelId="{552903A3-3027-43B4-BAF9-5350F24EDF54}" type="presParOf" srcId="{CBCFDBC3-D3C1-4189-B749-C6822BB709A6}" destId="{64DC936C-60D2-44C2-AB38-14C3D23BC10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32B079-7EB7-4923-BE49-5420F6BB08F5}">
      <dsp:nvSpPr>
        <dsp:cNvPr id="0" name=""/>
        <dsp:cNvSpPr/>
      </dsp:nvSpPr>
      <dsp:spPr>
        <a:xfrm>
          <a:off x="0" y="3327889"/>
          <a:ext cx="6364224" cy="218345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3144" tIns="263144" rIns="263144" bIns="263144" numCol="1" spcCol="1270" anchor="ctr" anchorCtr="0">
          <a:noAutofit/>
        </a:bodyPr>
        <a:lstStyle/>
        <a:p>
          <a:pPr marL="0" lvl="0" indent="0" algn="ctr" defTabSz="1644650">
            <a:lnSpc>
              <a:spcPct val="90000"/>
            </a:lnSpc>
            <a:spcBef>
              <a:spcPct val="0"/>
            </a:spcBef>
            <a:spcAft>
              <a:spcPct val="35000"/>
            </a:spcAft>
            <a:buNone/>
          </a:pPr>
          <a:r>
            <a:rPr lang="fr-FR" sz="3700" kern="1200"/>
            <a:t>Les type de formats :</a:t>
          </a:r>
          <a:endParaRPr lang="en-US" sz="3700" kern="1200"/>
        </a:p>
      </dsp:txBody>
      <dsp:txXfrm>
        <a:off x="0" y="3327889"/>
        <a:ext cx="6364224" cy="1179066"/>
      </dsp:txXfrm>
    </dsp:sp>
    <dsp:sp modelId="{2C9BF001-01CE-4FE9-BD09-1DD1A5F9278C}">
      <dsp:nvSpPr>
        <dsp:cNvPr id="0" name=""/>
        <dsp:cNvSpPr/>
      </dsp:nvSpPr>
      <dsp:spPr>
        <a:xfrm>
          <a:off x="776" y="4463286"/>
          <a:ext cx="1272534" cy="1004389"/>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Image</a:t>
          </a:r>
          <a:endParaRPr lang="en-US" sz="2400" kern="1200"/>
        </a:p>
      </dsp:txBody>
      <dsp:txXfrm>
        <a:off x="776" y="4463286"/>
        <a:ext cx="1272534" cy="1004389"/>
      </dsp:txXfrm>
    </dsp:sp>
    <dsp:sp modelId="{515F2632-F7E2-471A-BEEE-24ABEF5F443E}">
      <dsp:nvSpPr>
        <dsp:cNvPr id="0" name=""/>
        <dsp:cNvSpPr/>
      </dsp:nvSpPr>
      <dsp:spPr>
        <a:xfrm>
          <a:off x="1273310" y="4463286"/>
          <a:ext cx="1272534" cy="1004389"/>
        </a:xfrm>
        <a:prstGeom prst="rect">
          <a:avLst/>
        </a:prstGeom>
        <a:solidFill>
          <a:schemeClr val="accent2">
            <a:tint val="40000"/>
            <a:alpha val="90000"/>
            <a:hueOff val="1683680"/>
            <a:satOff val="-15558"/>
            <a:lumOff val="-1754"/>
            <a:alphaOff val="0"/>
          </a:schemeClr>
        </a:solidFill>
        <a:ln w="19050" cap="flat" cmpd="sng" algn="ctr">
          <a:solidFill>
            <a:schemeClr val="accent2">
              <a:tint val="40000"/>
              <a:alpha val="90000"/>
              <a:hueOff val="1683680"/>
              <a:satOff val="-15558"/>
              <a:lumOff val="-175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Textuel</a:t>
          </a:r>
          <a:endParaRPr lang="en-US" sz="2400" kern="1200"/>
        </a:p>
      </dsp:txBody>
      <dsp:txXfrm>
        <a:off x="1273310" y="4463286"/>
        <a:ext cx="1272534" cy="1004389"/>
      </dsp:txXfrm>
    </dsp:sp>
    <dsp:sp modelId="{1C3E0C68-0369-47F8-BC89-69D3ECA1CD82}">
      <dsp:nvSpPr>
        <dsp:cNvPr id="0" name=""/>
        <dsp:cNvSpPr/>
      </dsp:nvSpPr>
      <dsp:spPr>
        <a:xfrm>
          <a:off x="2545844" y="4463286"/>
          <a:ext cx="1272534" cy="1004389"/>
        </a:xfrm>
        <a:prstGeom prst="rect">
          <a:avLst/>
        </a:prstGeom>
        <a:solidFill>
          <a:schemeClr val="accent2">
            <a:tint val="40000"/>
            <a:alpha val="90000"/>
            <a:hueOff val="3367359"/>
            <a:satOff val="-31116"/>
            <a:lumOff val="-3508"/>
            <a:alphaOff val="0"/>
          </a:schemeClr>
        </a:solidFill>
        <a:ln w="19050" cap="flat" cmpd="sng" algn="ctr">
          <a:solidFill>
            <a:schemeClr val="accent2">
              <a:tint val="40000"/>
              <a:alpha val="90000"/>
              <a:hueOff val="3367359"/>
              <a:satOff val="-31116"/>
              <a:lumOff val="-350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Audio</a:t>
          </a:r>
          <a:endParaRPr lang="en-US" sz="2400" kern="1200"/>
        </a:p>
      </dsp:txBody>
      <dsp:txXfrm>
        <a:off x="2545844" y="4463286"/>
        <a:ext cx="1272534" cy="1004389"/>
      </dsp:txXfrm>
    </dsp:sp>
    <dsp:sp modelId="{9214643E-FC2E-486F-80BF-198EE34F2555}">
      <dsp:nvSpPr>
        <dsp:cNvPr id="0" name=""/>
        <dsp:cNvSpPr/>
      </dsp:nvSpPr>
      <dsp:spPr>
        <a:xfrm>
          <a:off x="3818379" y="4463286"/>
          <a:ext cx="1272534" cy="1004389"/>
        </a:xfrm>
        <a:prstGeom prst="rect">
          <a:avLst/>
        </a:prstGeom>
        <a:solidFill>
          <a:schemeClr val="accent2">
            <a:tint val="40000"/>
            <a:alpha val="90000"/>
            <a:hueOff val="5051039"/>
            <a:satOff val="-46674"/>
            <a:lumOff val="-5261"/>
            <a:alphaOff val="0"/>
          </a:schemeClr>
        </a:solidFill>
        <a:ln w="19050" cap="flat" cmpd="sng" algn="ctr">
          <a:solidFill>
            <a:schemeClr val="accent2">
              <a:tint val="40000"/>
              <a:alpha val="90000"/>
              <a:hueOff val="5051039"/>
              <a:satOff val="-46674"/>
              <a:lumOff val="-526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Vidéo</a:t>
          </a:r>
          <a:endParaRPr lang="en-US" sz="2400" kern="1200"/>
        </a:p>
      </dsp:txBody>
      <dsp:txXfrm>
        <a:off x="3818379" y="4463286"/>
        <a:ext cx="1272534" cy="1004389"/>
      </dsp:txXfrm>
    </dsp:sp>
    <dsp:sp modelId="{5D5DD105-941C-4D3B-B8F3-18A43B985575}">
      <dsp:nvSpPr>
        <dsp:cNvPr id="0" name=""/>
        <dsp:cNvSpPr/>
      </dsp:nvSpPr>
      <dsp:spPr>
        <a:xfrm>
          <a:off x="5090913" y="4463286"/>
          <a:ext cx="1272534" cy="1004389"/>
        </a:xfrm>
        <a:prstGeom prst="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a:t>
          </a:r>
          <a:endParaRPr lang="en-US" sz="2400" kern="1200"/>
        </a:p>
      </dsp:txBody>
      <dsp:txXfrm>
        <a:off x="5090913" y="4463286"/>
        <a:ext cx="1272534" cy="1004389"/>
      </dsp:txXfrm>
    </dsp:sp>
    <dsp:sp modelId="{22910CFA-8A4B-4CEB-B3D7-B4DB9D9953CD}">
      <dsp:nvSpPr>
        <dsp:cNvPr id="0" name=""/>
        <dsp:cNvSpPr/>
      </dsp:nvSpPr>
      <dsp:spPr>
        <a:xfrm rot="10800000">
          <a:off x="0" y="2486"/>
          <a:ext cx="6364224" cy="3358155"/>
        </a:xfrm>
        <a:prstGeom prst="upArrowCallout">
          <a:avLst/>
        </a:prstGeom>
        <a:solidFill>
          <a:schemeClr val="accent1"/>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3144" tIns="263144" rIns="263144" bIns="263144" numCol="1" spcCol="1270" anchor="ctr" anchorCtr="0">
          <a:noAutofit/>
        </a:bodyPr>
        <a:lstStyle/>
        <a:p>
          <a:pPr marL="0" lvl="0" indent="0" algn="ctr" defTabSz="1644650">
            <a:lnSpc>
              <a:spcPct val="90000"/>
            </a:lnSpc>
            <a:spcBef>
              <a:spcPct val="0"/>
            </a:spcBef>
            <a:spcAft>
              <a:spcPct val="35000"/>
            </a:spcAft>
            <a:buNone/>
          </a:pPr>
          <a:r>
            <a:rPr lang="fr-FR" sz="3700" kern="1200" dirty="0"/>
            <a:t>Une modalité est un type de donnée utilisé pour représenter une information.</a:t>
          </a:r>
          <a:endParaRPr lang="en-US" sz="3700" kern="1200" dirty="0"/>
        </a:p>
      </dsp:txBody>
      <dsp:txXfrm rot="10800000">
        <a:off x="0" y="2486"/>
        <a:ext cx="6364224" cy="21820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AECE2B-2273-4143-8305-E4D351ED2994}">
      <dsp:nvSpPr>
        <dsp:cNvPr id="0" name=""/>
        <dsp:cNvSpPr/>
      </dsp:nvSpPr>
      <dsp:spPr>
        <a:xfrm>
          <a:off x="828914" y="969477"/>
          <a:ext cx="810000" cy="81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709DBD9-5D6D-4237-B6C8-B66DBCEBA4AF}">
      <dsp:nvSpPr>
        <dsp:cNvPr id="0" name=""/>
        <dsp:cNvSpPr/>
      </dsp:nvSpPr>
      <dsp:spPr>
        <a:xfrm>
          <a:off x="33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kern="1200" dirty="0"/>
            <a:t>Fusion</a:t>
          </a:r>
          <a:r>
            <a:rPr lang="fr-FR" sz="2000" kern="1200" dirty="0"/>
            <a:t> </a:t>
          </a:r>
          <a:endParaRPr lang="en-US" sz="2000" kern="1200" dirty="0"/>
        </a:p>
      </dsp:txBody>
      <dsp:txXfrm>
        <a:off x="333914" y="2049612"/>
        <a:ext cx="1800000" cy="720000"/>
      </dsp:txXfrm>
    </dsp:sp>
    <dsp:sp modelId="{EDD65A80-8423-4DF1-8E79-6EDF70057F8A}">
      <dsp:nvSpPr>
        <dsp:cNvPr id="0" name=""/>
        <dsp:cNvSpPr/>
      </dsp:nvSpPr>
      <dsp:spPr>
        <a:xfrm>
          <a:off x="2943914" y="969477"/>
          <a:ext cx="810000" cy="81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C99234B-9CF4-4102-A132-90645053C218}">
      <dsp:nvSpPr>
        <dsp:cNvPr id="0" name=""/>
        <dsp:cNvSpPr/>
      </dsp:nvSpPr>
      <dsp:spPr>
        <a:xfrm>
          <a:off x="2448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a:t>Représentation</a:t>
          </a:r>
          <a:r>
            <a:rPr lang="fr-FR" sz="2000" b="0" i="0" kern="1200" baseline="0"/>
            <a:t> </a:t>
          </a:r>
          <a:endParaRPr lang="en-US" sz="2000" kern="1200"/>
        </a:p>
      </dsp:txBody>
      <dsp:txXfrm>
        <a:off x="2448914" y="2049612"/>
        <a:ext cx="1800000" cy="720000"/>
      </dsp:txXfrm>
    </dsp:sp>
    <dsp:sp modelId="{3EF79444-47EA-47DA-AE09-DD57D8E9623F}">
      <dsp:nvSpPr>
        <dsp:cNvPr id="0" name=""/>
        <dsp:cNvSpPr/>
      </dsp:nvSpPr>
      <dsp:spPr>
        <a:xfrm>
          <a:off x="5058914" y="969477"/>
          <a:ext cx="810000" cy="81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2143A5-8353-4652-BB68-409B3B0CE23D}">
      <dsp:nvSpPr>
        <dsp:cNvPr id="0" name=""/>
        <dsp:cNvSpPr/>
      </dsp:nvSpPr>
      <dsp:spPr>
        <a:xfrm>
          <a:off x="456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a:t>Traduction</a:t>
          </a:r>
          <a:r>
            <a:rPr lang="fr-FR" sz="2000" b="0" i="0" kern="1200" baseline="0"/>
            <a:t> </a:t>
          </a:r>
          <a:endParaRPr lang="en-US" sz="2000" kern="1200"/>
        </a:p>
      </dsp:txBody>
      <dsp:txXfrm>
        <a:off x="4563914" y="2049612"/>
        <a:ext cx="1800000" cy="720000"/>
      </dsp:txXfrm>
    </dsp:sp>
    <dsp:sp modelId="{7FA499EB-A690-47AE-877C-1F6C506686C9}">
      <dsp:nvSpPr>
        <dsp:cNvPr id="0" name=""/>
        <dsp:cNvSpPr/>
      </dsp:nvSpPr>
      <dsp:spPr>
        <a:xfrm>
          <a:off x="7173914" y="969477"/>
          <a:ext cx="810000" cy="81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CE6B2CE-5C63-42C8-AB97-2BD91D6255CF}">
      <dsp:nvSpPr>
        <dsp:cNvPr id="0" name=""/>
        <dsp:cNvSpPr/>
      </dsp:nvSpPr>
      <dsp:spPr>
        <a:xfrm>
          <a:off x="6678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a:t>Alignement</a:t>
          </a:r>
          <a:r>
            <a:rPr lang="fr-FR" sz="2000" b="0" i="0" kern="1200" baseline="0"/>
            <a:t> </a:t>
          </a:r>
          <a:endParaRPr lang="en-US" sz="2000" kern="1200"/>
        </a:p>
      </dsp:txBody>
      <dsp:txXfrm>
        <a:off x="6678914" y="2049612"/>
        <a:ext cx="1800000" cy="720000"/>
      </dsp:txXfrm>
    </dsp:sp>
    <dsp:sp modelId="{96CFD845-DAFC-4FB3-BB8D-D7DDB2659D25}">
      <dsp:nvSpPr>
        <dsp:cNvPr id="0" name=""/>
        <dsp:cNvSpPr/>
      </dsp:nvSpPr>
      <dsp:spPr>
        <a:xfrm>
          <a:off x="9288914" y="969477"/>
          <a:ext cx="810000" cy="81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847FA4E-43E5-4878-91F1-1A5FDF3FE69D}">
      <dsp:nvSpPr>
        <dsp:cNvPr id="0" name=""/>
        <dsp:cNvSpPr/>
      </dsp:nvSpPr>
      <dsp:spPr>
        <a:xfrm>
          <a:off x="879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dirty="0"/>
            <a:t>Co-Learning</a:t>
          </a:r>
          <a:endParaRPr lang="en-US" sz="2000" kern="1200" dirty="0"/>
        </a:p>
      </dsp:txBody>
      <dsp:txXfrm>
        <a:off x="8793914" y="2049612"/>
        <a:ext cx="1800000" cy="7200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4B9820-C6E7-40C3-A8A9-4077E82E1BE3}">
      <dsp:nvSpPr>
        <dsp:cNvPr id="0" name=""/>
        <dsp:cNvSpPr/>
      </dsp:nvSpPr>
      <dsp:spPr>
        <a:xfrm>
          <a:off x="3201"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909D03-147D-4B99-A308-985C86BA825E}">
      <dsp:nvSpPr>
        <dsp:cNvPr id="0" name=""/>
        <dsp:cNvSpPr/>
      </dsp:nvSpPr>
      <dsp:spPr>
        <a:xfrm>
          <a:off x="257188"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dirty="0" err="1"/>
            <a:t>Early</a:t>
          </a:r>
          <a:r>
            <a:rPr lang="fr-FR" sz="3800" kern="1200" dirty="0"/>
            <a:t> fusion</a:t>
          </a:r>
          <a:endParaRPr lang="en-US" sz="3800" kern="1200" dirty="0"/>
        </a:p>
      </dsp:txBody>
      <dsp:txXfrm>
        <a:off x="299702" y="1282093"/>
        <a:ext cx="2200851" cy="1366505"/>
      </dsp:txXfrm>
    </dsp:sp>
    <dsp:sp modelId="{6E200CAE-02F4-435A-9F5F-8DF8FDD57B96}">
      <dsp:nvSpPr>
        <dsp:cNvPr id="0" name=""/>
        <dsp:cNvSpPr/>
      </dsp:nvSpPr>
      <dsp:spPr>
        <a:xfrm>
          <a:off x="2797054"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E73F807-594E-445B-A3C2-798643BA863A}">
      <dsp:nvSpPr>
        <dsp:cNvPr id="0" name=""/>
        <dsp:cNvSpPr/>
      </dsp:nvSpPr>
      <dsp:spPr>
        <a:xfrm>
          <a:off x="3051041"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a:t>Deep fusion</a:t>
          </a:r>
          <a:endParaRPr lang="en-US" sz="3800" kern="1200"/>
        </a:p>
      </dsp:txBody>
      <dsp:txXfrm>
        <a:off x="3093555" y="1282093"/>
        <a:ext cx="2200851" cy="1366505"/>
      </dsp:txXfrm>
    </dsp:sp>
    <dsp:sp modelId="{D7478AB1-966C-4088-8B4A-DB1B22BAD9AA}">
      <dsp:nvSpPr>
        <dsp:cNvPr id="0" name=""/>
        <dsp:cNvSpPr/>
      </dsp:nvSpPr>
      <dsp:spPr>
        <a:xfrm>
          <a:off x="5590907"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01BF02-69BF-48E1-A46E-6A96A31B9220}">
      <dsp:nvSpPr>
        <dsp:cNvPr id="0" name=""/>
        <dsp:cNvSpPr/>
      </dsp:nvSpPr>
      <dsp:spPr>
        <a:xfrm>
          <a:off x="5844894"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dirty="0" err="1"/>
            <a:t>Late</a:t>
          </a:r>
          <a:r>
            <a:rPr lang="fr-FR" sz="3800" kern="1200" dirty="0"/>
            <a:t> fusion</a:t>
          </a:r>
          <a:endParaRPr lang="en-US" sz="3800" kern="1200" dirty="0"/>
        </a:p>
      </dsp:txBody>
      <dsp:txXfrm>
        <a:off x="5887408" y="1282093"/>
        <a:ext cx="2200851" cy="1366505"/>
      </dsp:txXfrm>
    </dsp:sp>
    <dsp:sp modelId="{33D76180-5F3B-41E8-83B5-CC336F994BA3}">
      <dsp:nvSpPr>
        <dsp:cNvPr id="0" name=""/>
        <dsp:cNvSpPr/>
      </dsp:nvSpPr>
      <dsp:spPr>
        <a:xfrm>
          <a:off x="8384760"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3FE338A-937A-4BAD-8783-FA5A337BD25A}">
      <dsp:nvSpPr>
        <dsp:cNvPr id="0" name=""/>
        <dsp:cNvSpPr/>
      </dsp:nvSpPr>
      <dsp:spPr>
        <a:xfrm>
          <a:off x="8638747"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a:t>Hybrid fusion </a:t>
          </a:r>
          <a:endParaRPr lang="en-US" sz="3800" kern="1200"/>
        </a:p>
      </dsp:txBody>
      <dsp:txXfrm>
        <a:off x="8681261" y="1282093"/>
        <a:ext cx="2200851" cy="136650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FC9E05-6EA5-460D-AC12-599AC99C6018}">
      <dsp:nvSpPr>
        <dsp:cNvPr id="0" name=""/>
        <dsp:cNvSpPr/>
      </dsp:nvSpPr>
      <dsp:spPr>
        <a:xfrm>
          <a:off x="0"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5C9F96-14F9-4935-A54F-70E53C7DF36C}">
      <dsp:nvSpPr>
        <dsp:cNvPr id="0" name=""/>
        <dsp:cNvSpPr/>
      </dsp:nvSpPr>
      <dsp:spPr>
        <a:xfrm>
          <a:off x="341494"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a:t>
          </a:r>
          <a:r>
            <a:rPr lang="fr-FR" sz="3200" kern="1200" dirty="0" err="1"/>
            <a:t>Representation</a:t>
          </a:r>
          <a:endParaRPr lang="en-US" sz="3200" kern="1200" dirty="0"/>
        </a:p>
      </dsp:txBody>
      <dsp:txXfrm>
        <a:off x="398656" y="1088253"/>
        <a:ext cx="2959127" cy="1837317"/>
      </dsp:txXfrm>
    </dsp:sp>
    <dsp:sp modelId="{ED2A4AAE-5A1C-462D-8878-09B11FC049CE}">
      <dsp:nvSpPr>
        <dsp:cNvPr id="0" name=""/>
        <dsp:cNvSpPr/>
      </dsp:nvSpPr>
      <dsp:spPr>
        <a:xfrm>
          <a:off x="3756441"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A09759-FE6E-4769-AC9B-D52EFFBAF83C}">
      <dsp:nvSpPr>
        <dsp:cNvPr id="0" name=""/>
        <dsp:cNvSpPr/>
      </dsp:nvSpPr>
      <dsp:spPr>
        <a:xfrm>
          <a:off x="4097935"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Translation</a:t>
          </a:r>
          <a:endParaRPr lang="en-US" sz="3200" kern="1200" dirty="0"/>
        </a:p>
      </dsp:txBody>
      <dsp:txXfrm>
        <a:off x="4155097" y="1088253"/>
        <a:ext cx="2959127" cy="1837317"/>
      </dsp:txXfrm>
    </dsp:sp>
    <dsp:sp modelId="{3F40AA91-2C8C-45CE-A85F-BAC8DB16CC4D}">
      <dsp:nvSpPr>
        <dsp:cNvPr id="0" name=""/>
        <dsp:cNvSpPr/>
      </dsp:nvSpPr>
      <dsp:spPr>
        <a:xfrm>
          <a:off x="7512882"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078F5CD-AED8-4A06-AB3D-A9B3055275D2}">
      <dsp:nvSpPr>
        <dsp:cNvPr id="0" name=""/>
        <dsp:cNvSpPr/>
      </dsp:nvSpPr>
      <dsp:spPr>
        <a:xfrm>
          <a:off x="7854377"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a:t>
          </a:r>
          <a:r>
            <a:rPr lang="fr-FR" sz="3200" kern="1200" dirty="0" err="1"/>
            <a:t>Alignment</a:t>
          </a:r>
          <a:endParaRPr lang="en-US" sz="3200" kern="1200" dirty="0"/>
        </a:p>
      </dsp:txBody>
      <dsp:txXfrm>
        <a:off x="7911539" y="1088253"/>
        <a:ext cx="2959127" cy="183731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F9ADA8F-2FB8-4868-9CA8-4E6AEBF50F58}">
      <dsp:nvSpPr>
        <dsp:cNvPr id="0" name=""/>
        <dsp:cNvSpPr/>
      </dsp:nvSpPr>
      <dsp:spPr>
        <a:xfrm>
          <a:off x="3201" y="998291"/>
          <a:ext cx="2285879" cy="1451533"/>
        </a:xfrm>
        <a:prstGeom prst="roundRect">
          <a:avLst>
            <a:gd name="adj" fmla="val 10000"/>
          </a:avLst>
        </a:prstGeom>
        <a:solidFill>
          <a:schemeClr val="accent1">
            <a:lumMod val="75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7E0A18F-DF30-47A7-9D4B-BC9FC19A9456}">
      <dsp:nvSpPr>
        <dsp:cNvPr id="0" name=""/>
        <dsp:cNvSpPr/>
      </dsp:nvSpPr>
      <dsp:spPr>
        <a:xfrm>
          <a:off x="257188" y="1239579"/>
          <a:ext cx="2285879" cy="1451533"/>
        </a:xfrm>
        <a:prstGeom prst="roundRect">
          <a:avLst>
            <a:gd name="adj" fmla="val 10000"/>
          </a:avLst>
        </a:prstGeom>
        <a:solidFill>
          <a:schemeClr val="lt1">
            <a:alpha val="90000"/>
            <a:hueOff val="0"/>
            <a:satOff val="0"/>
            <a:lumOff val="0"/>
            <a:alphaOff val="0"/>
          </a:schemeClr>
        </a:solidFill>
        <a:ln w="1905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AR" sz="2700" kern="1200"/>
            <a:t>· </a:t>
          </a:r>
          <a:r>
            <a:rPr lang="fr-FR" sz="2700" kern="1200"/>
            <a:t>Modalités manquantes</a:t>
          </a:r>
          <a:endParaRPr lang="en-US" sz="2700" kern="1200"/>
        </a:p>
      </dsp:txBody>
      <dsp:txXfrm>
        <a:off x="299702" y="1282093"/>
        <a:ext cx="2200851" cy="1366505"/>
      </dsp:txXfrm>
    </dsp:sp>
    <dsp:sp modelId="{E82E9888-E226-4B37-B4C8-45EB08E1485C}">
      <dsp:nvSpPr>
        <dsp:cNvPr id="0" name=""/>
        <dsp:cNvSpPr/>
      </dsp:nvSpPr>
      <dsp:spPr>
        <a:xfrm>
          <a:off x="2797054" y="998291"/>
          <a:ext cx="2285879" cy="1451533"/>
        </a:xfrm>
        <a:prstGeom prst="roundRect">
          <a:avLst>
            <a:gd name="adj" fmla="val 10000"/>
          </a:avLst>
        </a:prstGeom>
        <a:solidFill>
          <a:schemeClr val="accent1">
            <a:lumMod val="75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446D6B8-73C0-491F-ACDB-132C2AFBAF4A}">
      <dsp:nvSpPr>
        <dsp:cNvPr id="0" name=""/>
        <dsp:cNvSpPr/>
      </dsp:nvSpPr>
      <dsp:spPr>
        <a:xfrm>
          <a:off x="3051041" y="1239579"/>
          <a:ext cx="2285879" cy="1451533"/>
        </a:xfrm>
        <a:prstGeom prst="roundRect">
          <a:avLst>
            <a:gd name="adj" fmla="val 10000"/>
          </a:avLst>
        </a:prstGeom>
        <a:solidFill>
          <a:schemeClr val="lt1">
            <a:alpha val="90000"/>
            <a:hueOff val="0"/>
            <a:satOff val="0"/>
            <a:lumOff val="0"/>
            <a:alphaOff val="0"/>
          </a:schemeClr>
        </a:solidFill>
        <a:ln w="1905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AR" sz="2700" kern="1200"/>
            <a:t>·</a:t>
          </a:r>
          <a:r>
            <a:rPr lang="fr-FR" sz="2700" kern="1200"/>
            <a:t>  Données bruitées</a:t>
          </a:r>
          <a:endParaRPr lang="en-US" sz="2700" kern="1200"/>
        </a:p>
      </dsp:txBody>
      <dsp:txXfrm>
        <a:off x="3093555" y="1282093"/>
        <a:ext cx="2200851" cy="1366505"/>
      </dsp:txXfrm>
    </dsp:sp>
    <dsp:sp modelId="{144FF66D-901C-4C4A-A540-FE4E1797CA44}">
      <dsp:nvSpPr>
        <dsp:cNvPr id="0" name=""/>
        <dsp:cNvSpPr/>
      </dsp:nvSpPr>
      <dsp:spPr>
        <a:xfrm>
          <a:off x="5590907" y="998291"/>
          <a:ext cx="2285879" cy="1451533"/>
        </a:xfrm>
        <a:prstGeom prst="roundRect">
          <a:avLst>
            <a:gd name="adj" fmla="val 10000"/>
          </a:avLst>
        </a:prstGeom>
        <a:solidFill>
          <a:schemeClr val="accent1">
            <a:lumMod val="75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B021541-4899-40D0-B771-2510A545BB26}">
      <dsp:nvSpPr>
        <dsp:cNvPr id="0" name=""/>
        <dsp:cNvSpPr/>
      </dsp:nvSpPr>
      <dsp:spPr>
        <a:xfrm>
          <a:off x="5844894" y="1239579"/>
          <a:ext cx="2285879" cy="1451533"/>
        </a:xfrm>
        <a:prstGeom prst="roundRect">
          <a:avLst>
            <a:gd name="adj" fmla="val 10000"/>
          </a:avLst>
        </a:prstGeom>
        <a:solidFill>
          <a:schemeClr val="lt1">
            <a:alpha val="90000"/>
            <a:hueOff val="0"/>
            <a:satOff val="0"/>
            <a:lumOff val="0"/>
            <a:alphaOff val="0"/>
          </a:schemeClr>
        </a:solidFill>
        <a:ln w="1905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AR" sz="2700" kern="1200"/>
            <a:t>·</a:t>
          </a:r>
          <a:r>
            <a:rPr lang="fr-FR" sz="2700" kern="1200"/>
            <a:t>  Données peu annotées</a:t>
          </a:r>
          <a:endParaRPr lang="en-US" sz="2700" kern="1200"/>
        </a:p>
      </dsp:txBody>
      <dsp:txXfrm>
        <a:off x="5887408" y="1282093"/>
        <a:ext cx="2200851" cy="1366505"/>
      </dsp:txXfrm>
    </dsp:sp>
    <dsp:sp modelId="{FAC953A1-57A6-461A-8CC9-3B7836C09AFE}">
      <dsp:nvSpPr>
        <dsp:cNvPr id="0" name=""/>
        <dsp:cNvSpPr/>
      </dsp:nvSpPr>
      <dsp:spPr>
        <a:xfrm>
          <a:off x="8384760" y="998291"/>
          <a:ext cx="2285879" cy="1451533"/>
        </a:xfrm>
        <a:prstGeom prst="roundRect">
          <a:avLst>
            <a:gd name="adj" fmla="val 10000"/>
          </a:avLst>
        </a:prstGeom>
        <a:solidFill>
          <a:schemeClr val="accent1">
            <a:lumMod val="75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4354476-9AA7-47D7-9817-A82FB6B276CD}">
      <dsp:nvSpPr>
        <dsp:cNvPr id="0" name=""/>
        <dsp:cNvSpPr/>
      </dsp:nvSpPr>
      <dsp:spPr>
        <a:xfrm>
          <a:off x="8638747" y="1239579"/>
          <a:ext cx="2285879" cy="1451533"/>
        </a:xfrm>
        <a:prstGeom prst="roundRect">
          <a:avLst>
            <a:gd name="adj" fmla="val 10000"/>
          </a:avLst>
        </a:prstGeom>
        <a:solidFill>
          <a:schemeClr val="lt1">
            <a:alpha val="90000"/>
            <a:hueOff val="0"/>
            <a:satOff val="0"/>
            <a:lumOff val="0"/>
            <a:alphaOff val="0"/>
          </a:schemeClr>
        </a:solidFill>
        <a:ln w="1905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AR" sz="2700" kern="1200"/>
            <a:t>·</a:t>
          </a:r>
          <a:r>
            <a:rPr lang="fr-FR" sz="2700" kern="1200"/>
            <a:t>  Données peu fiables </a:t>
          </a:r>
          <a:endParaRPr lang="en-US" sz="2700" kern="1200"/>
        </a:p>
      </dsp:txBody>
      <dsp:txXfrm>
        <a:off x="8681261" y="1282093"/>
        <a:ext cx="2200851" cy="1366505"/>
      </dsp:txXfrm>
    </dsp:sp>
  </dsp:spTree>
</dsp:drawing>
</file>

<file path=ppt/diagrams/layout1.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D1E85C-B242-45CA-A591-1CB75F4C12E8}" type="datetimeFigureOut">
              <a:rPr lang="fr-FR" smtClean="0"/>
              <a:t>22/01/2026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639CAE-AB21-4710-80C8-BF7B7344CF34}" type="slidenum">
              <a:rPr lang="fr-FR" smtClean="0"/>
              <a:t>‹N°›</a:t>
            </a:fld>
            <a:endParaRPr lang="fr-FR"/>
          </a:p>
        </p:txBody>
      </p:sp>
    </p:spTree>
    <p:extLst>
      <p:ext uri="{BB962C8B-B14F-4D97-AF65-F5344CB8AC3E}">
        <p14:creationId xmlns:p14="http://schemas.microsoft.com/office/powerpoint/2010/main" val="11424018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Mettre mon nom </a:t>
            </a:r>
          </a:p>
          <a:p>
            <a:r>
              <a:rPr lang="fr-FR" dirty="0"/>
              <a:t>École/ période de stage </a:t>
            </a:r>
          </a:p>
          <a:p>
            <a:r>
              <a:rPr lang="fr-FR" dirty="0"/>
              <a:t>Introduction aux model multimodaux</a:t>
            </a:r>
          </a:p>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a:t>
            </a:fld>
            <a:endParaRPr lang="fr-FR"/>
          </a:p>
        </p:txBody>
      </p:sp>
    </p:spTree>
    <p:extLst>
      <p:ext uri="{BB962C8B-B14F-4D97-AF65-F5344CB8AC3E}">
        <p14:creationId xmlns:p14="http://schemas.microsoft.com/office/powerpoint/2010/main" val="24717095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Agenda / plan</a:t>
            </a:r>
          </a:p>
          <a:p>
            <a:r>
              <a:rPr lang="fr-FR" dirty="0"/>
              <a:t>Introduction </a:t>
            </a:r>
          </a:p>
          <a:p>
            <a:r>
              <a:rPr lang="fr-FR" dirty="0"/>
              <a:t>Outils de la multimodalité </a:t>
            </a:r>
          </a:p>
          <a:p>
            <a:r>
              <a:rPr lang="fr-FR" dirty="0"/>
              <a:t>Résumé  </a:t>
            </a:r>
          </a:p>
          <a:p>
            <a:r>
              <a:rPr lang="fr-FR" dirty="0"/>
              <a:t>Techno de fusion </a:t>
            </a:r>
          </a:p>
          <a:p>
            <a:r>
              <a:rPr lang="fr-FR" dirty="0"/>
              <a:t>…</a:t>
            </a:r>
          </a:p>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a:t>
            </a:fld>
            <a:endParaRPr lang="fr-FR"/>
          </a:p>
        </p:txBody>
      </p:sp>
    </p:spTree>
    <p:extLst>
      <p:ext uri="{BB962C8B-B14F-4D97-AF65-F5344CB8AC3E}">
        <p14:creationId xmlns:p14="http://schemas.microsoft.com/office/powerpoint/2010/main" val="1940204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s-AR" sz="1200" kern="1200" dirty="0">
                <a:solidFill>
                  <a:schemeClr val="tx1"/>
                </a:solidFill>
                <a:effectLst/>
                <a:latin typeface="+mn-lt"/>
                <a:ea typeface="+mn-ea"/>
                <a:cs typeface="+mn-cs"/>
              </a:rPr>
              <a:t>Une </a:t>
            </a:r>
            <a:r>
              <a:rPr lang="es-AR" sz="1200" kern="1200" dirty="0" err="1">
                <a:solidFill>
                  <a:schemeClr val="tx1"/>
                </a:solidFill>
                <a:effectLst/>
                <a:latin typeface="+mn-lt"/>
                <a:ea typeface="+mn-ea"/>
                <a:cs typeface="+mn-cs"/>
              </a:rPr>
              <a:t>modalité</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correspond</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au</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format</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utilisé</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pour</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transmettre</a:t>
            </a:r>
            <a:r>
              <a:rPr lang="es-AR" sz="1200" kern="1200" dirty="0">
                <a:solidFill>
                  <a:schemeClr val="tx1"/>
                </a:solidFill>
                <a:effectLst/>
                <a:latin typeface="+mn-lt"/>
                <a:ea typeface="+mn-ea"/>
                <a:cs typeface="+mn-cs"/>
              </a:rPr>
              <a:t> une </a:t>
            </a:r>
            <a:r>
              <a:rPr lang="es-AR" sz="1200" kern="1200" dirty="0" err="1">
                <a:solidFill>
                  <a:schemeClr val="tx1"/>
                </a:solidFill>
                <a:effectLst/>
                <a:latin typeface="+mn-lt"/>
                <a:ea typeface="+mn-ea"/>
                <a:cs typeface="+mn-cs"/>
              </a:rPr>
              <a:t>information</a:t>
            </a:r>
            <a:r>
              <a:rPr lang="es-AR" sz="1200" kern="1200" dirty="0">
                <a:solidFill>
                  <a:schemeClr val="tx1"/>
                </a:solidFill>
                <a:effectLst/>
                <a:latin typeface="+mn-lt"/>
                <a:ea typeface="+mn-ea"/>
                <a:cs typeface="+mn-cs"/>
              </a:rPr>
              <a:t>. Elle </a:t>
            </a:r>
            <a:r>
              <a:rPr lang="es-AR" sz="1200" kern="1200" dirty="0" err="1">
                <a:solidFill>
                  <a:schemeClr val="tx1"/>
                </a:solidFill>
                <a:effectLst/>
                <a:latin typeface="+mn-lt"/>
                <a:ea typeface="+mn-ea"/>
                <a:cs typeface="+mn-cs"/>
              </a:rPr>
              <a:t>peut</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prendre</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plusieurs</a:t>
            </a:r>
            <a:r>
              <a:rPr lang="es-AR" sz="1200" kern="1200" dirty="0">
                <a:solidFill>
                  <a:schemeClr val="tx1"/>
                </a:solidFill>
                <a:effectLst/>
                <a:latin typeface="+mn-lt"/>
                <a:ea typeface="+mn-ea"/>
                <a:cs typeface="+mn-cs"/>
              </a:rPr>
              <a:t> formes : audio, </a:t>
            </a:r>
            <a:r>
              <a:rPr lang="es-AR" sz="1200" kern="1200" dirty="0" err="1">
                <a:solidFill>
                  <a:schemeClr val="tx1"/>
                </a:solidFill>
                <a:effectLst/>
                <a:latin typeface="+mn-lt"/>
                <a:ea typeface="+mn-ea"/>
                <a:cs typeface="+mn-cs"/>
              </a:rPr>
              <a:t>texte</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image</a:t>
            </a:r>
            <a:r>
              <a:rPr lang="es-AR" sz="1200" kern="1200" dirty="0">
                <a:solidFill>
                  <a:schemeClr val="tx1"/>
                </a:solidFill>
                <a:effectLst/>
                <a:latin typeface="+mn-lt"/>
                <a:ea typeface="+mn-ea"/>
                <a:cs typeface="+mn-cs"/>
              </a:rPr>
              <a:t>, etc.</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3</a:t>
            </a:fld>
            <a:endParaRPr lang="fr-FR"/>
          </a:p>
        </p:txBody>
      </p:sp>
    </p:spTree>
    <p:extLst>
      <p:ext uri="{BB962C8B-B14F-4D97-AF65-F5344CB8AC3E}">
        <p14:creationId xmlns:p14="http://schemas.microsoft.com/office/powerpoint/2010/main" val="21470365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kern="1200" dirty="0">
                <a:solidFill>
                  <a:schemeClr val="tx1"/>
                </a:solidFill>
                <a:effectLst/>
                <a:latin typeface="+mn-lt"/>
                <a:ea typeface="+mn-ea"/>
                <a:cs typeface="+mn-cs"/>
              </a:rPr>
              <a:t>la </a:t>
            </a:r>
            <a:r>
              <a:rPr lang="fr-FR" sz="1200" b="1" i="0" kern="1200" dirty="0">
                <a:solidFill>
                  <a:schemeClr val="tx1"/>
                </a:solidFill>
                <a:effectLst/>
                <a:latin typeface="+mn-lt"/>
                <a:ea typeface="+mn-ea"/>
                <a:cs typeface="+mn-cs"/>
              </a:rPr>
              <a:t>combinaison de différents supports d'information</a:t>
            </a:r>
            <a:r>
              <a:rPr lang="fr-FR" sz="1200" b="0" i="0" kern="1200" dirty="0">
                <a:solidFill>
                  <a:schemeClr val="tx1"/>
                </a:solidFill>
                <a:effectLst/>
                <a:latin typeface="+mn-lt"/>
                <a:ea typeface="+mn-ea"/>
                <a:cs typeface="+mn-cs"/>
              </a:rPr>
              <a:t> </a:t>
            </a:r>
            <a:endParaRPr lang="fr-FR" dirty="0"/>
          </a:p>
          <a:p>
            <a:r>
              <a:rPr lang="fr-FR" dirty="0"/>
              <a:t>Exemple:</a:t>
            </a:r>
          </a:p>
          <a:p>
            <a:r>
              <a:rPr lang="fr-FR" dirty="0"/>
              <a:t>Chat-GPT de la génération d’image avec des modalité textes et image </a:t>
            </a:r>
          </a:p>
          <a:p>
            <a:r>
              <a:rPr lang="fr-FR" dirty="0"/>
              <a:t>Spécifier une question à  l’aide d’une image et  d’un texte -&gt; de quel  couleurs /où se trouve ? </a:t>
            </a:r>
          </a:p>
          <a:p>
            <a:endParaRPr lang="fr-FR" dirty="0"/>
          </a:p>
          <a:p>
            <a:r>
              <a:rPr lang="fr-FR" dirty="0"/>
              <a:t>Pour de l’identification d’une plante  fournir une photo + l’</a:t>
            </a:r>
            <a:r>
              <a:rPr lang="fr-FR" dirty="0" err="1"/>
              <a:t>endroie</a:t>
            </a:r>
            <a:r>
              <a:rPr lang="fr-FR" dirty="0"/>
              <a:t> et la date de la photo  en textuel  possibilité d’enlevé des ambiguïté :</a:t>
            </a:r>
          </a:p>
          <a:p>
            <a:r>
              <a:rPr lang="fr-FR" b="1" dirty="0"/>
              <a:t>Aloe </a:t>
            </a:r>
            <a:r>
              <a:rPr lang="fr-FR" b="1" dirty="0" err="1"/>
              <a:t>vera</a:t>
            </a:r>
            <a:r>
              <a:rPr lang="fr-FR" dirty="0"/>
              <a:t> : Afrique et péninsule arabique</a:t>
            </a:r>
          </a:p>
          <a:p>
            <a:r>
              <a:rPr lang="fr-FR" b="1" dirty="0"/>
              <a:t>Agave</a:t>
            </a:r>
            <a:r>
              <a:rPr lang="fr-FR" dirty="0"/>
              <a:t> : Amérique centrale et Mexique</a:t>
            </a:r>
          </a:p>
          <a:p>
            <a:endParaRPr lang="fr-FR" dirty="0"/>
          </a:p>
          <a:p>
            <a:r>
              <a:rPr lang="fr-FR" dirty="0"/>
              <a:t>Donne l’exemple des IA </a:t>
            </a:r>
            <a:r>
              <a:rPr lang="fr-FR" dirty="0" err="1"/>
              <a:t>generatives</a:t>
            </a:r>
            <a:r>
              <a:rPr lang="fr-FR" dirty="0"/>
              <a:t> </a:t>
            </a:r>
          </a:p>
          <a:p>
            <a:endParaRPr lang="fr-FR" dirty="0"/>
          </a:p>
          <a:p>
            <a:endParaRPr lang="fr-FR" dirty="0"/>
          </a:p>
          <a:p>
            <a:r>
              <a:rPr lang="fr-FR" dirty="0"/>
              <a:t>Penser à  enlevé le </a:t>
            </a:r>
            <a:r>
              <a:rPr lang="fr-FR" dirty="0" err="1"/>
              <a:t>bandaux</a:t>
            </a:r>
            <a:r>
              <a:rPr lang="fr-FR" dirty="0"/>
              <a:t> trouver une image qui reprend les sorties aussi </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4</a:t>
            </a:fld>
            <a:endParaRPr lang="fr-FR"/>
          </a:p>
        </p:txBody>
      </p:sp>
    </p:spTree>
    <p:extLst>
      <p:ext uri="{BB962C8B-B14F-4D97-AF65-F5344CB8AC3E}">
        <p14:creationId xmlns:p14="http://schemas.microsoft.com/office/powerpoint/2010/main" val="17157039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Ajouter une transition pour la multimodalité </a:t>
            </a:r>
          </a:p>
          <a:p>
            <a:r>
              <a:rPr lang="fr-FR" dirty="0"/>
              <a:t>Les données multi modal </a:t>
            </a:r>
          </a:p>
          <a:p>
            <a:r>
              <a:rPr lang="fr-FR" dirty="0"/>
              <a:t>Solution Travailler </a:t>
            </a:r>
          </a:p>
          <a:p>
            <a:r>
              <a:rPr lang="fr-FR" dirty="0"/>
              <a:t>Problèmes</a:t>
            </a:r>
          </a:p>
          <a:p>
            <a:endParaRPr lang="fr-FR" dirty="0"/>
          </a:p>
          <a:p>
            <a:r>
              <a:rPr lang="fr-FR" dirty="0"/>
              <a:t>Outils traiter la multimodal</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5</a:t>
            </a:fld>
            <a:endParaRPr lang="fr-FR"/>
          </a:p>
        </p:txBody>
      </p:sp>
    </p:spTree>
    <p:extLst>
      <p:ext uri="{BB962C8B-B14F-4D97-AF65-F5344CB8AC3E}">
        <p14:creationId xmlns:p14="http://schemas.microsoft.com/office/powerpoint/2010/main" val="17179712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04B92-4981-A862-0525-582C60EA4D5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4D6E133-5182-1678-F301-EB9A57A7D1D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56A3A28-DCD7-D5ED-6D19-372318950D44}"/>
              </a:ext>
            </a:extLst>
          </p:cNvPr>
          <p:cNvSpPr>
            <a:spLocks noGrp="1"/>
          </p:cNvSpPr>
          <p:nvPr>
            <p:ph type="body" idx="1"/>
          </p:nvPr>
        </p:nvSpPr>
        <p:spPr/>
        <p:txBody>
          <a:bodyPr/>
          <a:lstStyle/>
          <a:p>
            <a:r>
              <a:rPr lang="fr-FR" dirty="0"/>
              <a:t>Si il y a plusieurs modalités il est nécessaire de les fusionnées, </a:t>
            </a:r>
          </a:p>
          <a:p>
            <a:endParaRPr lang="es-AR" dirty="0"/>
          </a:p>
        </p:txBody>
      </p:sp>
      <p:sp>
        <p:nvSpPr>
          <p:cNvPr id="4" name="Espace réservé du numéro de diapositive 3">
            <a:extLst>
              <a:ext uri="{FF2B5EF4-FFF2-40B4-BE49-F238E27FC236}">
                <a16:creationId xmlns:a16="http://schemas.microsoft.com/office/drawing/2014/main" id="{3A9D64D7-5594-378B-C8D1-1DDB7848E84D}"/>
              </a:ext>
            </a:extLst>
          </p:cNvPr>
          <p:cNvSpPr>
            <a:spLocks noGrp="1"/>
          </p:cNvSpPr>
          <p:nvPr>
            <p:ph type="sldNum" sz="quarter" idx="5"/>
          </p:nvPr>
        </p:nvSpPr>
        <p:spPr/>
        <p:txBody>
          <a:bodyPr/>
          <a:lstStyle/>
          <a:p>
            <a:fld id="{61639CAE-AB21-4710-80C8-BF7B7344CF34}" type="slidenum">
              <a:rPr lang="fr-FR" smtClean="0"/>
              <a:t>6</a:t>
            </a:fld>
            <a:endParaRPr lang="fr-FR"/>
          </a:p>
        </p:txBody>
      </p:sp>
    </p:spTree>
    <p:extLst>
      <p:ext uri="{BB962C8B-B14F-4D97-AF65-F5344CB8AC3E}">
        <p14:creationId xmlns:p14="http://schemas.microsoft.com/office/powerpoint/2010/main" val="37497263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BBB98-C514-87F7-4A61-4F58615758B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65595E7-5E40-EB12-F51A-113C991E841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2BCF12F-4FE4-6EED-FE4B-B29944FE9713}"/>
              </a:ext>
            </a:extLst>
          </p:cNvPr>
          <p:cNvSpPr>
            <a:spLocks noGrp="1"/>
          </p:cNvSpPr>
          <p:nvPr>
            <p:ph type="body" idx="1"/>
          </p:nvPr>
        </p:nvSpPr>
        <p:spPr/>
        <p:txBody>
          <a:bodyPr/>
          <a:lstStyle/>
          <a:p>
            <a:r>
              <a:rPr lang="fr-FR" b="1" dirty="0"/>
              <a:t>Chargement</a:t>
            </a:r>
            <a:endParaRPr lang="fr-FR" dirty="0"/>
          </a:p>
          <a:p>
            <a:r>
              <a:rPr lang="fr-FR" dirty="0"/>
              <a:t>Lecture du fichier (JPEG/PNG) → image en mémoire.</a:t>
            </a:r>
          </a:p>
          <a:p>
            <a:r>
              <a:rPr lang="fr-FR" b="1" dirty="0" err="1"/>
              <a:t>Préprocessing</a:t>
            </a:r>
            <a:endParaRPr lang="fr-FR" dirty="0"/>
          </a:p>
          <a:p>
            <a:r>
              <a:rPr lang="fr-FR" b="1" dirty="0"/>
              <a:t>Redimensionnement</a:t>
            </a:r>
            <a:r>
              <a:rPr lang="fr-FR" dirty="0"/>
              <a:t> vers une taille fixe (ex. 224×224).</a:t>
            </a:r>
          </a:p>
          <a:p>
            <a:r>
              <a:rPr lang="fr-FR" b="1" dirty="0"/>
              <a:t>Conversion en tenseur</a:t>
            </a:r>
            <a:r>
              <a:rPr lang="fr-FR" dirty="0"/>
              <a:t> (souvent H×W×C → C×H×W).</a:t>
            </a:r>
          </a:p>
          <a:p>
            <a:r>
              <a:rPr lang="fr-FR" b="1" dirty="0"/>
              <a:t>Mise à l’échelle / normalisation</a:t>
            </a:r>
            <a:r>
              <a:rPr lang="fr-FR" dirty="0"/>
              <a:t> des pixels (ex. [0,255] → [0,1], puis éventuellement (x−mean)/std).</a:t>
            </a:r>
          </a:p>
          <a:p>
            <a:r>
              <a:rPr lang="fr-FR" dirty="0"/>
              <a:t>(En entraînement) </a:t>
            </a:r>
            <a:r>
              <a:rPr lang="fr-FR" b="1" dirty="0"/>
              <a:t>augmentations</a:t>
            </a:r>
            <a:r>
              <a:rPr lang="fr-FR" dirty="0"/>
              <a:t> : flip, </a:t>
            </a:r>
            <a:r>
              <a:rPr lang="fr-FR" dirty="0" err="1"/>
              <a:t>crop</a:t>
            </a:r>
            <a:r>
              <a:rPr lang="fr-FR" dirty="0"/>
              <a:t>, rotation légère, </a:t>
            </a:r>
            <a:r>
              <a:rPr lang="fr-FR" dirty="0" err="1"/>
              <a:t>jitter</a:t>
            </a:r>
            <a:r>
              <a:rPr lang="fr-FR" dirty="0"/>
              <a:t> couleur, etc.</a:t>
            </a:r>
          </a:p>
          <a:p>
            <a:r>
              <a:rPr lang="fr-FR" b="1" dirty="0"/>
              <a:t>Backbone CNN (extraction de features)</a:t>
            </a:r>
            <a:endParaRPr lang="fr-FR" dirty="0"/>
          </a:p>
          <a:p>
            <a:r>
              <a:rPr lang="fr-FR" dirty="0"/>
              <a:t>Suites de </a:t>
            </a:r>
            <a:r>
              <a:rPr lang="fr-FR" b="1" dirty="0"/>
              <a:t>convolutions + activation (</a:t>
            </a:r>
            <a:r>
              <a:rPr lang="fr-FR" b="1" dirty="0" err="1"/>
              <a:t>ReLU</a:t>
            </a:r>
            <a:r>
              <a:rPr lang="fr-FR" b="1" dirty="0"/>
              <a:t>) + (</a:t>
            </a:r>
            <a:r>
              <a:rPr lang="fr-FR" b="1" dirty="0" err="1"/>
              <a:t>BatchNorm</a:t>
            </a:r>
            <a:r>
              <a:rPr lang="fr-FR" b="1" dirty="0"/>
              <a:t>) + </a:t>
            </a:r>
            <a:r>
              <a:rPr lang="fr-FR" b="1" dirty="0" err="1"/>
              <a:t>pooling</a:t>
            </a:r>
            <a:r>
              <a:rPr lang="fr-FR" dirty="0"/>
              <a:t>.</a:t>
            </a:r>
          </a:p>
          <a:p>
            <a:r>
              <a:rPr lang="fr-FR" dirty="0"/>
              <a:t>L’image devient des </a:t>
            </a:r>
            <a:r>
              <a:rPr lang="fr-FR" b="1" dirty="0"/>
              <a:t>cartes de caractéristiques</a:t>
            </a:r>
            <a:r>
              <a:rPr lang="fr-FR" dirty="0"/>
              <a:t> de plus en plus abstraites, avec une résolution qui diminue et un nombre de canaux qui augmente.</a:t>
            </a:r>
          </a:p>
          <a:p>
            <a:r>
              <a:rPr lang="fr-FR" b="1" dirty="0"/>
              <a:t>Agrégation</a:t>
            </a:r>
            <a:endParaRPr lang="fr-FR" dirty="0"/>
          </a:p>
          <a:p>
            <a:r>
              <a:rPr lang="fr-FR" dirty="0"/>
              <a:t>Souvent </a:t>
            </a:r>
            <a:r>
              <a:rPr lang="fr-FR" b="1" dirty="0"/>
              <a:t>Global </a:t>
            </a:r>
            <a:r>
              <a:rPr lang="fr-FR" b="1" dirty="0" err="1"/>
              <a:t>Average</a:t>
            </a:r>
            <a:r>
              <a:rPr lang="fr-FR" b="1" dirty="0"/>
              <a:t> </a:t>
            </a:r>
            <a:r>
              <a:rPr lang="fr-FR" b="1" dirty="0" err="1"/>
              <a:t>Pooling</a:t>
            </a:r>
            <a:r>
              <a:rPr lang="fr-FR" dirty="0"/>
              <a:t> (ou </a:t>
            </a:r>
            <a:r>
              <a:rPr lang="fr-FR" dirty="0" err="1"/>
              <a:t>flatten</a:t>
            </a:r>
            <a:r>
              <a:rPr lang="fr-FR" dirty="0"/>
              <a:t>) pour passer des </a:t>
            </a:r>
            <a:r>
              <a:rPr lang="fr-FR" dirty="0" err="1"/>
              <a:t>feature</a:t>
            </a:r>
            <a:r>
              <a:rPr lang="fr-FR" dirty="0"/>
              <a:t> </a:t>
            </a:r>
            <a:r>
              <a:rPr lang="fr-FR" dirty="0" err="1"/>
              <a:t>maps</a:t>
            </a:r>
            <a:r>
              <a:rPr lang="fr-FR" dirty="0"/>
              <a:t> à un vecteur.</a:t>
            </a:r>
          </a:p>
          <a:p>
            <a:r>
              <a:rPr lang="fr-FR" b="1" dirty="0"/>
              <a:t>Head (prédiction)</a:t>
            </a:r>
            <a:endParaRPr lang="fr-FR" dirty="0"/>
          </a:p>
          <a:p>
            <a:r>
              <a:rPr lang="fr-FR" dirty="0"/>
              <a:t>Une ou quelques couches </a:t>
            </a:r>
            <a:r>
              <a:rPr lang="fr-FR" b="1" dirty="0" err="1"/>
              <a:t>fully-connected</a:t>
            </a:r>
            <a:r>
              <a:rPr lang="fr-FR" dirty="0"/>
              <a:t> (MLP) → sortie.</a:t>
            </a:r>
          </a:p>
          <a:p>
            <a:r>
              <a:rPr lang="fr-FR" b="1" dirty="0" err="1"/>
              <a:t>Softmax</a:t>
            </a:r>
            <a:r>
              <a:rPr lang="fr-FR" dirty="0"/>
              <a:t> (multi-classe) ou </a:t>
            </a:r>
            <a:r>
              <a:rPr lang="fr-FR" b="1" dirty="0" err="1"/>
              <a:t>sigmoid</a:t>
            </a:r>
            <a:r>
              <a:rPr lang="fr-FR" dirty="0"/>
              <a:t> (multi-label).</a:t>
            </a:r>
          </a:p>
          <a:p>
            <a:r>
              <a:rPr lang="fr-FR" b="1" dirty="0"/>
              <a:t>Post-traitement (selon la tâche)</a:t>
            </a:r>
            <a:endParaRPr lang="fr-FR" dirty="0"/>
          </a:p>
          <a:p>
            <a:r>
              <a:rPr lang="fr-FR" dirty="0"/>
              <a:t>Prendre la classe top-1/top-k, appliquer un seuil, etc.</a:t>
            </a:r>
          </a:p>
          <a:p>
            <a:r>
              <a:rPr lang="fr-FR" dirty="0"/>
              <a:t>En une ligne : </a:t>
            </a:r>
            <a:r>
              <a:rPr lang="fr-FR" b="1" dirty="0"/>
              <a:t>image → </a:t>
            </a:r>
            <a:r>
              <a:rPr lang="fr-FR" b="1" dirty="0" err="1"/>
              <a:t>preprocessing</a:t>
            </a:r>
            <a:r>
              <a:rPr lang="fr-FR" b="1" dirty="0"/>
              <a:t> → backbone (</a:t>
            </a:r>
            <a:r>
              <a:rPr lang="fr-FR" b="1" dirty="0" err="1"/>
              <a:t>conv</a:t>
            </a:r>
            <a:r>
              <a:rPr lang="fr-FR" b="1" dirty="0"/>
              <a:t>) → </a:t>
            </a:r>
            <a:r>
              <a:rPr lang="fr-FR" b="1" dirty="0" err="1"/>
              <a:t>pooling</a:t>
            </a:r>
            <a:r>
              <a:rPr lang="fr-FR" b="1" dirty="0"/>
              <a:t> → </a:t>
            </a:r>
            <a:r>
              <a:rPr lang="fr-FR" b="1" dirty="0" err="1"/>
              <a:t>head</a:t>
            </a:r>
            <a:r>
              <a:rPr lang="fr-FR" b="1" dirty="0"/>
              <a:t> (dense) → prédiction</a:t>
            </a:r>
            <a:r>
              <a:rPr lang="fr-FR" dirty="0"/>
              <a:t>.</a:t>
            </a:r>
          </a:p>
          <a:p>
            <a:endParaRPr lang="es-AR" dirty="0"/>
          </a:p>
        </p:txBody>
      </p:sp>
      <p:sp>
        <p:nvSpPr>
          <p:cNvPr id="4" name="Espace réservé du numéro de diapositive 3">
            <a:extLst>
              <a:ext uri="{FF2B5EF4-FFF2-40B4-BE49-F238E27FC236}">
                <a16:creationId xmlns:a16="http://schemas.microsoft.com/office/drawing/2014/main" id="{4BEDF5C2-335C-2295-9B98-9289FABD7725}"/>
              </a:ext>
            </a:extLst>
          </p:cNvPr>
          <p:cNvSpPr>
            <a:spLocks noGrp="1"/>
          </p:cNvSpPr>
          <p:nvPr>
            <p:ph type="sldNum" sz="quarter" idx="5"/>
          </p:nvPr>
        </p:nvSpPr>
        <p:spPr/>
        <p:txBody>
          <a:bodyPr/>
          <a:lstStyle/>
          <a:p>
            <a:fld id="{61639CAE-AB21-4710-80C8-BF7B7344CF34}" type="slidenum">
              <a:rPr lang="fr-FR" smtClean="0"/>
              <a:t>7</a:t>
            </a:fld>
            <a:endParaRPr lang="fr-FR"/>
          </a:p>
        </p:txBody>
      </p:sp>
    </p:spTree>
    <p:extLst>
      <p:ext uri="{BB962C8B-B14F-4D97-AF65-F5344CB8AC3E}">
        <p14:creationId xmlns:p14="http://schemas.microsoft.com/office/powerpoint/2010/main" val="37342499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9</a:t>
            </a:fld>
            <a:endParaRPr lang="fr-FR"/>
          </a:p>
        </p:txBody>
      </p:sp>
    </p:spTree>
    <p:extLst>
      <p:ext uri="{BB962C8B-B14F-4D97-AF65-F5344CB8AC3E}">
        <p14:creationId xmlns:p14="http://schemas.microsoft.com/office/powerpoint/2010/main" val="19020150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12</a:t>
            </a:fld>
            <a:endParaRPr lang="fr-FR"/>
          </a:p>
        </p:txBody>
      </p:sp>
    </p:spTree>
    <p:extLst>
      <p:ext uri="{BB962C8B-B14F-4D97-AF65-F5344CB8AC3E}">
        <p14:creationId xmlns:p14="http://schemas.microsoft.com/office/powerpoint/2010/main" val="290634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Ce sont les outils de la Fusion </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13</a:t>
            </a:fld>
            <a:endParaRPr lang="fr-FR"/>
          </a:p>
        </p:txBody>
      </p:sp>
    </p:spTree>
    <p:extLst>
      <p:ext uri="{BB962C8B-B14F-4D97-AF65-F5344CB8AC3E}">
        <p14:creationId xmlns:p14="http://schemas.microsoft.com/office/powerpoint/2010/main" val="3040134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dirty="0">
                <a:solidFill>
                  <a:schemeClr val="tx1"/>
                </a:solidFill>
                <a:effectLst/>
                <a:latin typeface="+mn-lt"/>
                <a:ea typeface="+mn-ea"/>
                <a:cs typeface="+mn-cs"/>
              </a:rPr>
              <a:t>Va réduire d’hétérogénéité entres les modalités et crée un espace latent qui encode au mieux les différentes modalités </a:t>
            </a:r>
            <a:endParaRPr lang="es-AR" sz="1200" kern="1200" dirty="0">
              <a:solidFill>
                <a:schemeClr val="tx1"/>
              </a:solidFill>
              <a:effectLst/>
              <a:latin typeface="+mn-lt"/>
              <a:ea typeface="+mn-ea"/>
              <a:cs typeface="+mn-cs"/>
            </a:endParaRPr>
          </a:p>
          <a:p>
            <a:endParaRPr lang="fr-FR" dirty="0"/>
          </a:p>
          <a:p>
            <a:r>
              <a:rPr lang="fr-FR" dirty="0"/>
              <a:t>se concentre sur l’intégration et l’interprétation d’informations provenant de différentes modalités, telles que le texte, les images, l’audio ou la vidéo, en les projetant dans un espace latent partagé.</a:t>
            </a:r>
          </a:p>
          <a:p>
            <a:endParaRPr lang="fr-FR" dirty="0"/>
          </a:p>
          <a:p>
            <a:r>
              <a:rPr lang="fr-FR" dirty="0"/>
              <a:t>Joint AV</a:t>
            </a:r>
          </a:p>
          <a:p>
            <a:r>
              <a:rPr lang="fr-FR" dirty="0"/>
              <a:t>Joint DV</a:t>
            </a:r>
          </a:p>
          <a:p>
            <a:endParaRPr lang="es-AR" dirty="0"/>
          </a:p>
          <a:p>
            <a:r>
              <a:rPr lang="es-AR" dirty="0"/>
              <a:t>Pas de S à  entres </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14</a:t>
            </a:fld>
            <a:endParaRPr lang="fr-FR"/>
          </a:p>
        </p:txBody>
      </p:sp>
    </p:spTree>
    <p:extLst>
      <p:ext uri="{BB962C8B-B14F-4D97-AF65-F5344CB8AC3E}">
        <p14:creationId xmlns:p14="http://schemas.microsoft.com/office/powerpoint/2010/main" val="30876884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47869-A6FC-E5C1-961C-88F0F5CDED4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0F30968-2588-F639-78A6-3981A209338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9CB7A3D-EFFD-D4B4-D1D7-6B22FFD2AE46}"/>
              </a:ext>
            </a:extLst>
          </p:cNvPr>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a:extLst>
              <a:ext uri="{FF2B5EF4-FFF2-40B4-BE49-F238E27FC236}">
                <a16:creationId xmlns:a16="http://schemas.microsoft.com/office/drawing/2014/main" id="{6423B981-5FEB-66BA-4A24-07658D1304D5}"/>
              </a:ext>
            </a:extLst>
          </p:cNvPr>
          <p:cNvSpPr>
            <a:spLocks noGrp="1"/>
          </p:cNvSpPr>
          <p:nvPr>
            <p:ph type="sldNum" sz="quarter" idx="5"/>
          </p:nvPr>
        </p:nvSpPr>
        <p:spPr/>
        <p:txBody>
          <a:bodyPr/>
          <a:lstStyle/>
          <a:p>
            <a:fld id="{61639CAE-AB21-4710-80C8-BF7B7344CF34}" type="slidenum">
              <a:rPr lang="fr-FR" smtClean="0"/>
              <a:t>15</a:t>
            </a:fld>
            <a:endParaRPr lang="fr-FR"/>
          </a:p>
        </p:txBody>
      </p:sp>
    </p:spTree>
    <p:extLst>
      <p:ext uri="{BB962C8B-B14F-4D97-AF65-F5344CB8AC3E}">
        <p14:creationId xmlns:p14="http://schemas.microsoft.com/office/powerpoint/2010/main" val="5776646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EB5E6-3029-5328-9A79-4C124B4823C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3DA0EEB-B5E2-FDC8-D918-A09603DA998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8F7D171-6F96-ACCA-9A3B-358E0B50B957}"/>
              </a:ext>
            </a:extLst>
          </p:cNvPr>
          <p:cNvSpPr>
            <a:spLocks noGrp="1"/>
          </p:cNvSpPr>
          <p:nvPr>
            <p:ph type="body" idx="1"/>
          </p:nvPr>
        </p:nvSpPr>
        <p:spPr/>
        <p:txBody>
          <a:bodyPr/>
          <a:lstStyle/>
          <a:p>
            <a:r>
              <a:rPr lang="fr-FR" dirty="0"/>
              <a:t>Deviens complexe quand on a beaucoup de modalités</a:t>
            </a:r>
            <a:endParaRPr lang="es-AR" dirty="0"/>
          </a:p>
        </p:txBody>
      </p:sp>
      <p:sp>
        <p:nvSpPr>
          <p:cNvPr id="4" name="Espace réservé du numéro de diapositive 3">
            <a:extLst>
              <a:ext uri="{FF2B5EF4-FFF2-40B4-BE49-F238E27FC236}">
                <a16:creationId xmlns:a16="http://schemas.microsoft.com/office/drawing/2014/main" id="{F0A70840-1309-9423-CBE4-A3B4F9729E79}"/>
              </a:ext>
            </a:extLst>
          </p:cNvPr>
          <p:cNvSpPr>
            <a:spLocks noGrp="1"/>
          </p:cNvSpPr>
          <p:nvPr>
            <p:ph type="sldNum" sz="quarter" idx="5"/>
          </p:nvPr>
        </p:nvSpPr>
        <p:spPr/>
        <p:txBody>
          <a:bodyPr/>
          <a:lstStyle/>
          <a:p>
            <a:fld id="{61639CAE-AB21-4710-80C8-BF7B7344CF34}" type="slidenum">
              <a:rPr lang="fr-FR" smtClean="0"/>
              <a:t>16</a:t>
            </a:fld>
            <a:endParaRPr lang="fr-FR"/>
          </a:p>
        </p:txBody>
      </p:sp>
    </p:spTree>
    <p:extLst>
      <p:ext uri="{BB962C8B-B14F-4D97-AF65-F5344CB8AC3E}">
        <p14:creationId xmlns:p14="http://schemas.microsoft.com/office/powerpoint/2010/main" val="40594433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Prendre l’image des </a:t>
            </a:r>
            <a:r>
              <a:rPr lang="fr-FR" dirty="0" err="1"/>
              <a:t>embeding</a:t>
            </a:r>
            <a:r>
              <a:rPr lang="fr-FR" dirty="0"/>
              <a:t> pour donner l’exemple</a:t>
            </a:r>
          </a:p>
          <a:p>
            <a:endParaRPr lang="fr-FR" dirty="0"/>
          </a:p>
          <a:p>
            <a:r>
              <a:rPr lang="fr-FR" dirty="0"/>
              <a:t>C’est de passé d’une modalité à une </a:t>
            </a:r>
          </a:p>
          <a:p>
            <a:endParaRPr lang="fr-FR" dirty="0"/>
          </a:p>
          <a:p>
            <a:r>
              <a:rPr lang="fr-FR" dirty="0"/>
              <a:t>autre de la traduire </a:t>
            </a:r>
          </a:p>
          <a:p>
            <a:endParaRPr lang="fr-FR" dirty="0"/>
          </a:p>
          <a:p>
            <a:r>
              <a:rPr lang="fr-FR" dirty="0"/>
              <a:t>Voir les fautes d’</a:t>
            </a:r>
            <a:r>
              <a:rPr lang="fr-FR" dirty="0" err="1"/>
              <a:t>otographes</a:t>
            </a:r>
            <a:r>
              <a:rPr lang="fr-FR" dirty="0"/>
              <a:t> </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17</a:t>
            </a:fld>
            <a:endParaRPr lang="fr-FR"/>
          </a:p>
        </p:txBody>
      </p:sp>
    </p:spTree>
    <p:extLst>
      <p:ext uri="{BB962C8B-B14F-4D97-AF65-F5344CB8AC3E}">
        <p14:creationId xmlns:p14="http://schemas.microsoft.com/office/powerpoint/2010/main" val="28336859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18</a:t>
            </a:fld>
            <a:endParaRPr lang="fr-FR"/>
          </a:p>
        </p:txBody>
      </p:sp>
    </p:spTree>
    <p:extLst>
      <p:ext uri="{BB962C8B-B14F-4D97-AF65-F5344CB8AC3E}">
        <p14:creationId xmlns:p14="http://schemas.microsoft.com/office/powerpoint/2010/main" val="2215995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20</a:t>
            </a:fld>
            <a:endParaRPr lang="fr-FR"/>
          </a:p>
        </p:txBody>
      </p:sp>
    </p:spTree>
    <p:extLst>
      <p:ext uri="{BB962C8B-B14F-4D97-AF65-F5344CB8AC3E}">
        <p14:creationId xmlns:p14="http://schemas.microsoft.com/office/powerpoint/2010/main" val="12810767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75031E-F60B-1EFA-FA16-35B30711DAE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BDAD2D7-C134-81E9-9AA6-3C89DEE4077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01A943E-418E-DFB1-9484-41DDDBC9F1D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A327BF71-3659-98F9-7300-49F2A8C84511}"/>
              </a:ext>
            </a:extLst>
          </p:cNvPr>
          <p:cNvSpPr>
            <a:spLocks noGrp="1"/>
          </p:cNvSpPr>
          <p:nvPr>
            <p:ph type="sldNum" sz="quarter" idx="5"/>
          </p:nvPr>
        </p:nvSpPr>
        <p:spPr/>
        <p:txBody>
          <a:bodyPr/>
          <a:lstStyle/>
          <a:p>
            <a:fld id="{61639CAE-AB21-4710-80C8-BF7B7344CF34}" type="slidenum">
              <a:rPr lang="fr-FR" smtClean="0"/>
              <a:t>21</a:t>
            </a:fld>
            <a:endParaRPr lang="fr-FR"/>
          </a:p>
        </p:txBody>
      </p:sp>
    </p:spTree>
    <p:extLst>
      <p:ext uri="{BB962C8B-B14F-4D97-AF65-F5344CB8AC3E}">
        <p14:creationId xmlns:p14="http://schemas.microsoft.com/office/powerpoint/2010/main" val="3311004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381D9-F3FD-59F9-BDE5-E8016B979E8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6C0367E-0D68-0C04-A573-C2A9FCEEEB0F}"/>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D386E3-52D1-9757-4A31-FE04DA03F91F}"/>
              </a:ext>
            </a:extLst>
          </p:cNvPr>
          <p:cNvSpPr>
            <a:spLocks noGrp="1"/>
          </p:cNvSpPr>
          <p:nvPr>
            <p:ph type="body" idx="1"/>
          </p:nvPr>
        </p:nvSpPr>
        <p:spPr/>
        <p:txBody>
          <a:bodyPr/>
          <a:lstStyle/>
          <a:p>
            <a:r>
              <a:rPr lang="fr-FR" dirty="0"/>
              <a:t>Ajouter les sources des articles</a:t>
            </a:r>
          </a:p>
          <a:p>
            <a:r>
              <a:rPr lang="es-AR" dirty="0" err="1"/>
              <a:t>Reduire</a:t>
            </a:r>
            <a:r>
              <a:rPr lang="es-AR" dirty="0"/>
              <a:t> le </a:t>
            </a:r>
            <a:r>
              <a:rPr lang="es-AR" dirty="0" err="1"/>
              <a:t>textes</a:t>
            </a:r>
            <a:r>
              <a:rPr lang="es-AR" dirty="0"/>
              <a:t> </a:t>
            </a:r>
          </a:p>
          <a:p>
            <a:endParaRPr lang="es-AR" dirty="0"/>
          </a:p>
        </p:txBody>
      </p:sp>
      <p:sp>
        <p:nvSpPr>
          <p:cNvPr id="4" name="Espace réservé du numéro de diapositive 3">
            <a:extLst>
              <a:ext uri="{FF2B5EF4-FFF2-40B4-BE49-F238E27FC236}">
                <a16:creationId xmlns:a16="http://schemas.microsoft.com/office/drawing/2014/main" id="{73F91C89-0907-EA4F-321A-787A44373D14}"/>
              </a:ext>
            </a:extLst>
          </p:cNvPr>
          <p:cNvSpPr>
            <a:spLocks noGrp="1"/>
          </p:cNvSpPr>
          <p:nvPr>
            <p:ph type="sldNum" sz="quarter" idx="5"/>
          </p:nvPr>
        </p:nvSpPr>
        <p:spPr/>
        <p:txBody>
          <a:bodyPr/>
          <a:lstStyle/>
          <a:p>
            <a:fld id="{61639CAE-AB21-4710-80C8-BF7B7344CF34}" type="slidenum">
              <a:rPr lang="fr-FR" smtClean="0"/>
              <a:t>22</a:t>
            </a:fld>
            <a:endParaRPr lang="fr-FR"/>
          </a:p>
        </p:txBody>
      </p:sp>
    </p:spTree>
    <p:extLst>
      <p:ext uri="{BB962C8B-B14F-4D97-AF65-F5344CB8AC3E}">
        <p14:creationId xmlns:p14="http://schemas.microsoft.com/office/powerpoint/2010/main" val="155184205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s-AR" b="1" dirty="0" err="1"/>
              <a:t>transfert</a:t>
            </a:r>
            <a:r>
              <a:rPr lang="es-AR" b="1" dirty="0"/>
              <a:t> de </a:t>
            </a:r>
            <a:r>
              <a:rPr lang="es-AR" b="1" dirty="0" err="1"/>
              <a:t>connaissance</a:t>
            </a:r>
            <a:r>
              <a:rPr lang="es-AR" b="1" dirty="0"/>
              <a:t> </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23</a:t>
            </a:fld>
            <a:endParaRPr lang="fr-FR"/>
          </a:p>
        </p:txBody>
      </p:sp>
    </p:spTree>
    <p:extLst>
      <p:ext uri="{BB962C8B-B14F-4D97-AF65-F5344CB8AC3E}">
        <p14:creationId xmlns:p14="http://schemas.microsoft.com/office/powerpoint/2010/main" val="35095956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CC645-2060-D927-FBA4-D57F001353B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B759E51-D567-D9A7-759F-9511DA2B6AE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9736FF5-B71B-C367-13BC-3FFCFEFB4A4B}"/>
              </a:ext>
            </a:extLst>
          </p:cNvPr>
          <p:cNvSpPr>
            <a:spLocks noGrp="1"/>
          </p:cNvSpPr>
          <p:nvPr>
            <p:ph type="body" idx="1"/>
          </p:nvPr>
        </p:nvSpPr>
        <p:spPr/>
        <p:txBody>
          <a:bodyPr/>
          <a:lstStyle/>
          <a:p>
            <a:r>
              <a:rPr lang="es-AR" b="1" dirty="0" err="1"/>
              <a:t>transfert</a:t>
            </a:r>
            <a:r>
              <a:rPr lang="es-AR" b="1" dirty="0"/>
              <a:t> de </a:t>
            </a:r>
            <a:r>
              <a:rPr lang="es-AR" b="1" dirty="0" err="1"/>
              <a:t>connaissance</a:t>
            </a:r>
            <a:r>
              <a:rPr lang="es-AR" b="1" dirty="0"/>
              <a:t> </a:t>
            </a:r>
          </a:p>
          <a:p>
            <a:endParaRPr lang="es-AR" b="1" dirty="0"/>
          </a:p>
          <a:p>
            <a:r>
              <a:rPr lang="es-AR" b="1" dirty="0" err="1"/>
              <a:t>Enleve</a:t>
            </a:r>
            <a:r>
              <a:rPr lang="es-AR" b="1" dirty="0"/>
              <a:t> les </a:t>
            </a:r>
            <a:r>
              <a:rPr lang="es-AR" b="1" dirty="0" err="1"/>
              <a:t>points</a:t>
            </a:r>
            <a:r>
              <a:rPr lang="es-AR" b="1" dirty="0"/>
              <a:t> </a:t>
            </a:r>
          </a:p>
        </p:txBody>
      </p:sp>
      <p:sp>
        <p:nvSpPr>
          <p:cNvPr id="4" name="Espace réservé du numéro de diapositive 3">
            <a:extLst>
              <a:ext uri="{FF2B5EF4-FFF2-40B4-BE49-F238E27FC236}">
                <a16:creationId xmlns:a16="http://schemas.microsoft.com/office/drawing/2014/main" id="{6901A3A2-0E1B-7935-D880-8CB1F70BC8AB}"/>
              </a:ext>
            </a:extLst>
          </p:cNvPr>
          <p:cNvSpPr>
            <a:spLocks noGrp="1"/>
          </p:cNvSpPr>
          <p:nvPr>
            <p:ph type="sldNum" sz="quarter" idx="5"/>
          </p:nvPr>
        </p:nvSpPr>
        <p:spPr/>
        <p:txBody>
          <a:bodyPr/>
          <a:lstStyle/>
          <a:p>
            <a:fld id="{61639CAE-AB21-4710-80C8-BF7B7344CF34}" type="slidenum">
              <a:rPr lang="fr-FR" smtClean="0"/>
              <a:t>24</a:t>
            </a:fld>
            <a:endParaRPr lang="fr-FR"/>
          </a:p>
        </p:txBody>
      </p:sp>
    </p:spTree>
    <p:extLst>
      <p:ext uri="{BB962C8B-B14F-4D97-AF65-F5344CB8AC3E}">
        <p14:creationId xmlns:p14="http://schemas.microsoft.com/office/powerpoint/2010/main" val="32830854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25</a:t>
            </a:fld>
            <a:endParaRPr lang="fr-FR"/>
          </a:p>
        </p:txBody>
      </p:sp>
    </p:spTree>
    <p:extLst>
      <p:ext uri="{BB962C8B-B14F-4D97-AF65-F5344CB8AC3E}">
        <p14:creationId xmlns:p14="http://schemas.microsoft.com/office/powerpoint/2010/main" val="29854430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BADBF-B65A-4786-AFAD-19BFABC4BFE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89BFCBF-FCB3-1743-FDA7-E47E6C523CB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5D3D4E5-167B-10C5-243B-BCF513696698}"/>
              </a:ext>
            </a:extLst>
          </p:cNvPr>
          <p:cNvSpPr>
            <a:spLocks noGrp="1"/>
          </p:cNvSpPr>
          <p:nvPr>
            <p:ph type="body" idx="1"/>
          </p:nvPr>
        </p:nvSpPr>
        <p:spPr/>
        <p:txBody>
          <a:bodyPr/>
          <a:lstStyle/>
          <a:p>
            <a:endParaRPr lang="es-AR" dirty="0"/>
          </a:p>
        </p:txBody>
      </p:sp>
      <p:sp>
        <p:nvSpPr>
          <p:cNvPr id="4" name="Espace réservé du numéro de diapositive 3">
            <a:extLst>
              <a:ext uri="{FF2B5EF4-FFF2-40B4-BE49-F238E27FC236}">
                <a16:creationId xmlns:a16="http://schemas.microsoft.com/office/drawing/2014/main" id="{0E3A7E69-B277-CA20-D357-66801CF3E3A1}"/>
              </a:ext>
            </a:extLst>
          </p:cNvPr>
          <p:cNvSpPr>
            <a:spLocks noGrp="1"/>
          </p:cNvSpPr>
          <p:nvPr>
            <p:ph type="sldNum" sz="quarter" idx="5"/>
          </p:nvPr>
        </p:nvSpPr>
        <p:spPr/>
        <p:txBody>
          <a:bodyPr/>
          <a:lstStyle/>
          <a:p>
            <a:fld id="{61639CAE-AB21-4710-80C8-BF7B7344CF34}" type="slidenum">
              <a:rPr lang="fr-FR" smtClean="0"/>
              <a:t>26</a:t>
            </a:fld>
            <a:endParaRPr lang="fr-FR"/>
          </a:p>
        </p:txBody>
      </p:sp>
    </p:spTree>
    <p:extLst>
      <p:ext uri="{BB962C8B-B14F-4D97-AF65-F5344CB8AC3E}">
        <p14:creationId xmlns:p14="http://schemas.microsoft.com/office/powerpoint/2010/main" val="41800339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6CEE7-9F7A-4B3E-A564-087E0D78B0D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4443288-EBCC-DC5B-5950-C102EAF88D9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64A1EF7-BD7C-6429-DD51-F1DFDEA03EA0}"/>
              </a:ext>
            </a:extLst>
          </p:cNvPr>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a:extLst>
              <a:ext uri="{FF2B5EF4-FFF2-40B4-BE49-F238E27FC236}">
                <a16:creationId xmlns:a16="http://schemas.microsoft.com/office/drawing/2014/main" id="{ECE4977C-C3B6-B988-C803-D61E68FF311C}"/>
              </a:ext>
            </a:extLst>
          </p:cNvPr>
          <p:cNvSpPr>
            <a:spLocks noGrp="1"/>
          </p:cNvSpPr>
          <p:nvPr>
            <p:ph type="sldNum" sz="quarter" idx="5"/>
          </p:nvPr>
        </p:nvSpPr>
        <p:spPr/>
        <p:txBody>
          <a:bodyPr/>
          <a:lstStyle/>
          <a:p>
            <a:fld id="{61639CAE-AB21-4710-80C8-BF7B7344CF34}" type="slidenum">
              <a:rPr lang="fr-FR" smtClean="0"/>
              <a:t>27</a:t>
            </a:fld>
            <a:endParaRPr lang="fr-FR"/>
          </a:p>
        </p:txBody>
      </p:sp>
    </p:spTree>
    <p:extLst>
      <p:ext uri="{BB962C8B-B14F-4D97-AF65-F5344CB8AC3E}">
        <p14:creationId xmlns:p14="http://schemas.microsoft.com/office/powerpoint/2010/main" val="192495017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83DF8-0B1C-4DDB-1868-482F3685331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3414340-C79B-5E0E-9072-DD4EF014486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8E5D84F-6420-B9EF-4F14-8149707C0EA1}"/>
              </a:ext>
            </a:extLst>
          </p:cNvPr>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a:extLst>
              <a:ext uri="{FF2B5EF4-FFF2-40B4-BE49-F238E27FC236}">
                <a16:creationId xmlns:a16="http://schemas.microsoft.com/office/drawing/2014/main" id="{C8DB9CDC-2E3C-0977-8B7C-F63B04810B60}"/>
              </a:ext>
            </a:extLst>
          </p:cNvPr>
          <p:cNvSpPr>
            <a:spLocks noGrp="1"/>
          </p:cNvSpPr>
          <p:nvPr>
            <p:ph type="sldNum" sz="quarter" idx="5"/>
          </p:nvPr>
        </p:nvSpPr>
        <p:spPr/>
        <p:txBody>
          <a:bodyPr/>
          <a:lstStyle/>
          <a:p>
            <a:fld id="{61639CAE-AB21-4710-80C8-BF7B7344CF34}" type="slidenum">
              <a:rPr lang="fr-FR" smtClean="0"/>
              <a:t>28</a:t>
            </a:fld>
            <a:endParaRPr lang="fr-FR"/>
          </a:p>
        </p:txBody>
      </p:sp>
    </p:spTree>
    <p:extLst>
      <p:ext uri="{BB962C8B-B14F-4D97-AF65-F5344CB8AC3E}">
        <p14:creationId xmlns:p14="http://schemas.microsoft.com/office/powerpoint/2010/main" val="30613148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A5570-68FD-D24D-0769-40F560BE15F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A16A099-C455-3357-FDED-B0F18D955C6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6FAD433-D0FE-8E21-9462-828CE26AD0F5}"/>
              </a:ext>
            </a:extLst>
          </p:cNvPr>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a:extLst>
              <a:ext uri="{FF2B5EF4-FFF2-40B4-BE49-F238E27FC236}">
                <a16:creationId xmlns:a16="http://schemas.microsoft.com/office/drawing/2014/main" id="{62608A15-630D-557B-28D2-C95CC1E80CCD}"/>
              </a:ext>
            </a:extLst>
          </p:cNvPr>
          <p:cNvSpPr>
            <a:spLocks noGrp="1"/>
          </p:cNvSpPr>
          <p:nvPr>
            <p:ph type="sldNum" sz="quarter" idx="5"/>
          </p:nvPr>
        </p:nvSpPr>
        <p:spPr/>
        <p:txBody>
          <a:bodyPr/>
          <a:lstStyle/>
          <a:p>
            <a:fld id="{61639CAE-AB21-4710-80C8-BF7B7344CF34}" type="slidenum">
              <a:rPr lang="fr-FR" smtClean="0"/>
              <a:t>29</a:t>
            </a:fld>
            <a:endParaRPr lang="fr-FR"/>
          </a:p>
        </p:txBody>
      </p:sp>
    </p:spTree>
    <p:extLst>
      <p:ext uri="{BB962C8B-B14F-4D97-AF65-F5344CB8AC3E}">
        <p14:creationId xmlns:p14="http://schemas.microsoft.com/office/powerpoint/2010/main" val="29094351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8D91F-4EBE-94E5-5177-DA32232371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3604C07-C911-2591-B4B0-43531FDE17E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9A5BC62-20A6-0BAC-35C3-144387945BCF}"/>
              </a:ext>
            </a:extLst>
          </p:cNvPr>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a:extLst>
              <a:ext uri="{FF2B5EF4-FFF2-40B4-BE49-F238E27FC236}">
                <a16:creationId xmlns:a16="http://schemas.microsoft.com/office/drawing/2014/main" id="{F64867FE-3C16-C280-E272-8126DE2F426A}"/>
              </a:ext>
            </a:extLst>
          </p:cNvPr>
          <p:cNvSpPr>
            <a:spLocks noGrp="1"/>
          </p:cNvSpPr>
          <p:nvPr>
            <p:ph type="sldNum" sz="quarter" idx="5"/>
          </p:nvPr>
        </p:nvSpPr>
        <p:spPr/>
        <p:txBody>
          <a:bodyPr/>
          <a:lstStyle/>
          <a:p>
            <a:fld id="{61639CAE-AB21-4710-80C8-BF7B7344CF34}" type="slidenum">
              <a:rPr lang="fr-FR" smtClean="0"/>
              <a:t>30</a:t>
            </a:fld>
            <a:endParaRPr lang="fr-FR"/>
          </a:p>
        </p:txBody>
      </p:sp>
    </p:spTree>
    <p:extLst>
      <p:ext uri="{BB962C8B-B14F-4D97-AF65-F5344CB8AC3E}">
        <p14:creationId xmlns:p14="http://schemas.microsoft.com/office/powerpoint/2010/main" val="19878380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17B72-7690-9CF3-BADA-5CF6B87B514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1004DD0-1A3E-6D11-EDFB-4BF7D27A5D0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228A72F-A3A1-6DA8-457F-D1259552DE28}"/>
              </a:ext>
            </a:extLst>
          </p:cNvPr>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a:extLst>
              <a:ext uri="{FF2B5EF4-FFF2-40B4-BE49-F238E27FC236}">
                <a16:creationId xmlns:a16="http://schemas.microsoft.com/office/drawing/2014/main" id="{0EE2A1FF-3F2B-6909-F1B9-F081CE24D10A}"/>
              </a:ext>
            </a:extLst>
          </p:cNvPr>
          <p:cNvSpPr>
            <a:spLocks noGrp="1"/>
          </p:cNvSpPr>
          <p:nvPr>
            <p:ph type="sldNum" sz="quarter" idx="5"/>
          </p:nvPr>
        </p:nvSpPr>
        <p:spPr/>
        <p:txBody>
          <a:bodyPr/>
          <a:lstStyle/>
          <a:p>
            <a:fld id="{61639CAE-AB21-4710-80C8-BF7B7344CF34}" type="slidenum">
              <a:rPr lang="fr-FR" smtClean="0"/>
              <a:t>31</a:t>
            </a:fld>
            <a:endParaRPr lang="fr-FR"/>
          </a:p>
        </p:txBody>
      </p:sp>
    </p:spTree>
    <p:extLst>
      <p:ext uri="{BB962C8B-B14F-4D97-AF65-F5344CB8AC3E}">
        <p14:creationId xmlns:p14="http://schemas.microsoft.com/office/powerpoint/2010/main" val="32749774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3BA0B-E8E5-7E47-9332-B6964F367F9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25225F2-1A75-BADF-BBDC-FEE22571CA7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AAAD303-7C01-A4E8-F428-D78ADEF9C5E5}"/>
              </a:ext>
            </a:extLst>
          </p:cNvPr>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a:extLst>
              <a:ext uri="{FF2B5EF4-FFF2-40B4-BE49-F238E27FC236}">
                <a16:creationId xmlns:a16="http://schemas.microsoft.com/office/drawing/2014/main" id="{ABD0D767-62FA-C26F-24A9-E520C3FB26A9}"/>
              </a:ext>
            </a:extLst>
          </p:cNvPr>
          <p:cNvSpPr>
            <a:spLocks noGrp="1"/>
          </p:cNvSpPr>
          <p:nvPr>
            <p:ph type="sldNum" sz="quarter" idx="5"/>
          </p:nvPr>
        </p:nvSpPr>
        <p:spPr/>
        <p:txBody>
          <a:bodyPr/>
          <a:lstStyle/>
          <a:p>
            <a:fld id="{61639CAE-AB21-4710-80C8-BF7B7344CF34}" type="slidenum">
              <a:rPr lang="fr-FR" smtClean="0"/>
              <a:t>32</a:t>
            </a:fld>
            <a:endParaRPr lang="fr-FR"/>
          </a:p>
        </p:txBody>
      </p:sp>
    </p:spTree>
    <p:extLst>
      <p:ext uri="{BB962C8B-B14F-4D97-AF65-F5344CB8AC3E}">
        <p14:creationId xmlns:p14="http://schemas.microsoft.com/office/powerpoint/2010/main" val="248572714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F5D43-D91B-CF2F-81A6-07D6D1F0D23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25E228A-D6FF-1DE4-6CC6-66D68656ED7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EDA709C-CF5C-7DA9-3C5E-7E89AEEEFD1F}"/>
              </a:ext>
            </a:extLst>
          </p:cNvPr>
          <p:cNvSpPr>
            <a:spLocks noGrp="1"/>
          </p:cNvSpPr>
          <p:nvPr>
            <p:ph type="body" idx="1"/>
          </p:nvPr>
        </p:nvSpPr>
        <p:spPr/>
        <p:txBody>
          <a:bodyPr/>
          <a:lstStyle/>
          <a:p>
            <a:r>
              <a:rPr lang="fr-FR" dirty="0"/>
              <a:t>S</a:t>
            </a:r>
            <a:r>
              <a:rPr lang="fr-FR" b="1" dirty="0"/>
              <a:t>1 : similarité sémantique</a:t>
            </a:r>
          </a:p>
          <a:p>
            <a:r>
              <a:rPr lang="fr-FR" dirty="0"/>
              <a:t>Le système peut utiliser une mesure de similarité :</a:t>
            </a:r>
          </a:p>
          <a:p>
            <a:r>
              <a:rPr lang="fr-FR" dirty="0"/>
              <a:t>Il extrait la “signification” de la phrase : </a:t>
            </a:r>
            <a:r>
              <a:rPr lang="fr-FR" i="1" dirty="0"/>
              <a:t>piéton + traverser + danger</a:t>
            </a:r>
            <a:endParaRPr lang="fr-FR" dirty="0"/>
          </a:p>
          <a:p>
            <a:r>
              <a:rPr lang="fr-FR" dirty="0"/>
              <a:t>Il détecte dans la vidéo les moments où il y a réellement un piéton qui traverse</a:t>
            </a:r>
          </a:p>
          <a:p>
            <a:r>
              <a:rPr lang="fr-FR" dirty="0"/>
              <a:t>➡️ Il aligne l’audio avec </a:t>
            </a:r>
            <a:r>
              <a:rPr lang="fr-FR" b="1" dirty="0"/>
              <a:t>le moment le plus cohérent sémantiquement</a:t>
            </a:r>
            <a:r>
              <a:rPr lang="fr-FR" dirty="0"/>
              <a:t>, même si le timestamp brut est légèrement faux.</a:t>
            </a:r>
          </a:p>
          <a:p>
            <a:endParaRPr lang="fr-FR" dirty="0"/>
          </a:p>
          <a:p>
            <a:r>
              <a:rPr lang="fr-FR" b="1" dirty="0"/>
              <a:t>Solution 2 : graphe de connaissances</a:t>
            </a:r>
          </a:p>
          <a:p>
            <a:r>
              <a:rPr lang="fr-FR" dirty="0"/>
              <a:t>Un graphe de connaissances peut aider à faire le lien entre concepts :</a:t>
            </a:r>
          </a:p>
          <a:p>
            <a:r>
              <a:rPr lang="fr-FR" dirty="0"/>
              <a:t>“piéton” est lié à “passage piéton”</a:t>
            </a:r>
          </a:p>
          <a:p>
            <a:r>
              <a:rPr lang="fr-FR" dirty="0"/>
              <a:t>“passage piéton” est lié à “intersection”</a:t>
            </a:r>
          </a:p>
          <a:p>
            <a:r>
              <a:rPr lang="fr-FR" dirty="0"/>
              <a:t>“intersection” est lié à “feu rouge”</a:t>
            </a:r>
          </a:p>
          <a:p>
            <a:r>
              <a:rPr lang="fr-FR" dirty="0"/>
              <a:t>➡️ Même si l’image ne montre pas clairement “un piéton”, le contexte (passage piéton, intersection) augmente la probabilité que ce soit le bon moment.</a:t>
            </a:r>
          </a:p>
          <a:p>
            <a:endParaRPr lang="fr-FR" dirty="0"/>
          </a:p>
        </p:txBody>
      </p:sp>
      <p:sp>
        <p:nvSpPr>
          <p:cNvPr id="4" name="Espace réservé du numéro de diapositive 3">
            <a:extLst>
              <a:ext uri="{FF2B5EF4-FFF2-40B4-BE49-F238E27FC236}">
                <a16:creationId xmlns:a16="http://schemas.microsoft.com/office/drawing/2014/main" id="{A3884BDB-CF24-CC73-172B-8F9D1851D7F1}"/>
              </a:ext>
            </a:extLst>
          </p:cNvPr>
          <p:cNvSpPr>
            <a:spLocks noGrp="1"/>
          </p:cNvSpPr>
          <p:nvPr>
            <p:ph type="sldNum" sz="quarter" idx="5"/>
          </p:nvPr>
        </p:nvSpPr>
        <p:spPr/>
        <p:txBody>
          <a:bodyPr/>
          <a:lstStyle/>
          <a:p>
            <a:fld id="{61639CAE-AB21-4710-80C8-BF7B7344CF34}" type="slidenum">
              <a:rPr lang="fr-FR" smtClean="0"/>
              <a:t>33</a:t>
            </a:fld>
            <a:endParaRPr lang="fr-FR"/>
          </a:p>
        </p:txBody>
      </p:sp>
    </p:spTree>
    <p:extLst>
      <p:ext uri="{BB962C8B-B14F-4D97-AF65-F5344CB8AC3E}">
        <p14:creationId xmlns:p14="http://schemas.microsoft.com/office/powerpoint/2010/main" val="70387734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Multimodal mettre slide à  la fin ou  possiblement au  début dans l’introduction </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35</a:t>
            </a:fld>
            <a:endParaRPr lang="fr-FR"/>
          </a:p>
        </p:txBody>
      </p:sp>
    </p:spTree>
    <p:extLst>
      <p:ext uri="{BB962C8B-B14F-4D97-AF65-F5344CB8AC3E}">
        <p14:creationId xmlns:p14="http://schemas.microsoft.com/office/powerpoint/2010/main" val="41872299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38</a:t>
            </a:fld>
            <a:endParaRPr lang="fr-FR"/>
          </a:p>
        </p:txBody>
      </p:sp>
    </p:spTree>
    <p:extLst>
      <p:ext uri="{BB962C8B-B14F-4D97-AF65-F5344CB8AC3E}">
        <p14:creationId xmlns:p14="http://schemas.microsoft.com/office/powerpoint/2010/main" val="2933417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52FEF21-BE07-C767-6D06-CA7AC7F61F8E}"/>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AB6A65D8-4228-BBC1-C68B-B7438AA507B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8481885A-1A2C-3C19-7326-77E968DF8130}"/>
              </a:ext>
            </a:extLst>
          </p:cNvPr>
          <p:cNvSpPr>
            <a:spLocks noGrp="1"/>
          </p:cNvSpPr>
          <p:nvPr>
            <p:ph type="dt" sz="half" idx="10"/>
          </p:nvPr>
        </p:nvSpPr>
        <p:spPr/>
        <p:txBody>
          <a:bodyPr/>
          <a:lstStyle/>
          <a:p>
            <a:fld id="{11F52F01-F947-41D9-BA07-76A29AF3FB3C}" type="datetime1">
              <a:rPr lang="fr-FR" smtClean="0"/>
              <a:t>22/01/2026</a:t>
            </a:fld>
            <a:endParaRPr lang="fr-FR"/>
          </a:p>
        </p:txBody>
      </p:sp>
      <p:sp>
        <p:nvSpPr>
          <p:cNvPr id="5" name="Espace réservé du pied de page 4">
            <a:extLst>
              <a:ext uri="{FF2B5EF4-FFF2-40B4-BE49-F238E27FC236}">
                <a16:creationId xmlns:a16="http://schemas.microsoft.com/office/drawing/2014/main" id="{B137D759-0697-C512-8DB1-6F74DB5F193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A06B875-45CF-958A-E98F-D899BE5DA998}"/>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33792556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4731ED-D666-E47F-6968-876ED868218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A7484E6-C068-F46C-C254-EE9DEA616363}"/>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F8AE677-3ADC-2392-6A8A-9291FD113519}"/>
              </a:ext>
            </a:extLst>
          </p:cNvPr>
          <p:cNvSpPr>
            <a:spLocks noGrp="1"/>
          </p:cNvSpPr>
          <p:nvPr>
            <p:ph type="dt" sz="half" idx="10"/>
          </p:nvPr>
        </p:nvSpPr>
        <p:spPr/>
        <p:txBody>
          <a:bodyPr/>
          <a:lstStyle/>
          <a:p>
            <a:fld id="{76421966-8986-482C-90C2-62BF1A11D36D}" type="datetime1">
              <a:rPr lang="fr-FR" smtClean="0"/>
              <a:t>22/01/2026</a:t>
            </a:fld>
            <a:endParaRPr lang="fr-FR"/>
          </a:p>
        </p:txBody>
      </p:sp>
      <p:sp>
        <p:nvSpPr>
          <p:cNvPr id="5" name="Espace réservé du pied de page 4">
            <a:extLst>
              <a:ext uri="{FF2B5EF4-FFF2-40B4-BE49-F238E27FC236}">
                <a16:creationId xmlns:a16="http://schemas.microsoft.com/office/drawing/2014/main" id="{6739F935-51D3-7B5E-860F-FE0FD0DE85F4}"/>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556D72D-B83D-8F15-0917-19DF133B9A2D}"/>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7101560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495BD6-4F5A-47DF-00A5-BCFE842B2A9F}"/>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8E33194D-A5A5-7F53-E6BB-10ABC19FC6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A285A67-7AE2-096A-5849-0B2C8DDF8EFB}"/>
              </a:ext>
            </a:extLst>
          </p:cNvPr>
          <p:cNvSpPr>
            <a:spLocks noGrp="1"/>
          </p:cNvSpPr>
          <p:nvPr>
            <p:ph type="dt" sz="half" idx="10"/>
          </p:nvPr>
        </p:nvSpPr>
        <p:spPr/>
        <p:txBody>
          <a:bodyPr/>
          <a:lstStyle/>
          <a:p>
            <a:fld id="{E4A31AD7-4506-4F25-A60F-0300DAE3D063}" type="datetime1">
              <a:rPr lang="fr-FR" smtClean="0"/>
              <a:t>22/01/2026</a:t>
            </a:fld>
            <a:endParaRPr lang="fr-FR"/>
          </a:p>
        </p:txBody>
      </p:sp>
      <p:sp>
        <p:nvSpPr>
          <p:cNvPr id="5" name="Espace réservé du pied de page 4">
            <a:extLst>
              <a:ext uri="{FF2B5EF4-FFF2-40B4-BE49-F238E27FC236}">
                <a16:creationId xmlns:a16="http://schemas.microsoft.com/office/drawing/2014/main" id="{A5D2372D-4AB3-7667-452B-2AE5087D893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59139E3-1049-FA9B-1312-C56D5D1DEFD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5156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DEE8B1-49F8-B7C7-D323-150DCDCDA395}"/>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D31B1F-AC0F-7891-4034-0A655837095E}"/>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3FF2C907-CD58-FFD9-B1CF-A5A67B7D6002}"/>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C62277E3-BC90-29E6-8592-24A5098ADC15}"/>
              </a:ext>
            </a:extLst>
          </p:cNvPr>
          <p:cNvSpPr>
            <a:spLocks noGrp="1"/>
          </p:cNvSpPr>
          <p:nvPr>
            <p:ph type="dt" sz="half" idx="10"/>
          </p:nvPr>
        </p:nvSpPr>
        <p:spPr/>
        <p:txBody>
          <a:bodyPr/>
          <a:lstStyle/>
          <a:p>
            <a:fld id="{FDC9F305-6BE9-477E-B049-8DB9C44E0473}" type="datetime1">
              <a:rPr lang="fr-FR" smtClean="0"/>
              <a:t>22/01/2026</a:t>
            </a:fld>
            <a:endParaRPr lang="fr-FR"/>
          </a:p>
        </p:txBody>
      </p:sp>
      <p:sp>
        <p:nvSpPr>
          <p:cNvPr id="6" name="Espace réservé du pied de page 5">
            <a:extLst>
              <a:ext uri="{FF2B5EF4-FFF2-40B4-BE49-F238E27FC236}">
                <a16:creationId xmlns:a16="http://schemas.microsoft.com/office/drawing/2014/main" id="{C547F5B8-788B-26CD-F07F-B5D3227028E4}"/>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426BD32-5FFD-C238-F0E0-E0CB1580EEC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7650939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B555028-61BB-4707-4BF2-DB1C33DF2B5D}"/>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27381BCD-72BE-027A-B773-747AC020F90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F379EBCB-D800-8B45-9515-D356BCB3C59B}"/>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D26BCCF-1628-A962-4A05-F4E794F1983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0F91449E-A6EA-42E9-1133-ECAA092C3F1C}"/>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2BC8F80D-B5B7-5163-C849-C07CAA28AAF3}"/>
              </a:ext>
            </a:extLst>
          </p:cNvPr>
          <p:cNvSpPr>
            <a:spLocks noGrp="1"/>
          </p:cNvSpPr>
          <p:nvPr>
            <p:ph type="dt" sz="half" idx="10"/>
          </p:nvPr>
        </p:nvSpPr>
        <p:spPr/>
        <p:txBody>
          <a:bodyPr/>
          <a:lstStyle/>
          <a:p>
            <a:fld id="{2BE00478-2532-4426-A347-BBB69087F0B3}" type="datetime1">
              <a:rPr lang="fr-FR" smtClean="0"/>
              <a:t>22/01/2026</a:t>
            </a:fld>
            <a:endParaRPr lang="fr-FR"/>
          </a:p>
        </p:txBody>
      </p:sp>
      <p:sp>
        <p:nvSpPr>
          <p:cNvPr id="8" name="Espace réservé du pied de page 7">
            <a:extLst>
              <a:ext uri="{FF2B5EF4-FFF2-40B4-BE49-F238E27FC236}">
                <a16:creationId xmlns:a16="http://schemas.microsoft.com/office/drawing/2014/main" id="{BB575822-4A04-C0C2-44DE-22C30D84F8A3}"/>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9E6E4F87-6DDC-93D7-A2B3-3CA8A6647EB5}"/>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9012840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C50798F-34EA-C7AF-C7E8-2ACE51151560}"/>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3B3AEEC2-CDC1-942E-AE90-35C538304F83}"/>
              </a:ext>
            </a:extLst>
          </p:cNvPr>
          <p:cNvSpPr>
            <a:spLocks noGrp="1"/>
          </p:cNvSpPr>
          <p:nvPr>
            <p:ph type="dt" sz="half" idx="10"/>
          </p:nvPr>
        </p:nvSpPr>
        <p:spPr/>
        <p:txBody>
          <a:bodyPr/>
          <a:lstStyle/>
          <a:p>
            <a:fld id="{08B6C776-B065-4BFE-A3E9-F437B6796D90}" type="datetime1">
              <a:rPr lang="fr-FR" smtClean="0"/>
              <a:t>22/01/2026</a:t>
            </a:fld>
            <a:endParaRPr lang="fr-FR"/>
          </a:p>
        </p:txBody>
      </p:sp>
      <p:sp>
        <p:nvSpPr>
          <p:cNvPr id="4" name="Espace réservé du pied de page 3">
            <a:extLst>
              <a:ext uri="{FF2B5EF4-FFF2-40B4-BE49-F238E27FC236}">
                <a16:creationId xmlns:a16="http://schemas.microsoft.com/office/drawing/2014/main" id="{71A28256-6E06-B150-0AE9-3E664B4B27D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D5F77DEC-5C15-A48B-F1B9-B1956FE6B227}"/>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10377660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77E66B2-7B3A-B9F5-80DA-A1B3989AEBCA}"/>
              </a:ext>
            </a:extLst>
          </p:cNvPr>
          <p:cNvSpPr>
            <a:spLocks noGrp="1"/>
          </p:cNvSpPr>
          <p:nvPr>
            <p:ph type="dt" sz="half" idx="10"/>
          </p:nvPr>
        </p:nvSpPr>
        <p:spPr/>
        <p:txBody>
          <a:bodyPr/>
          <a:lstStyle/>
          <a:p>
            <a:fld id="{085604E2-3368-4A8D-80EB-F1000403030A}" type="datetime1">
              <a:rPr lang="fr-FR" smtClean="0"/>
              <a:t>22/01/2026</a:t>
            </a:fld>
            <a:endParaRPr lang="fr-FR"/>
          </a:p>
        </p:txBody>
      </p:sp>
      <p:sp>
        <p:nvSpPr>
          <p:cNvPr id="3" name="Espace réservé du pied de page 2">
            <a:extLst>
              <a:ext uri="{FF2B5EF4-FFF2-40B4-BE49-F238E27FC236}">
                <a16:creationId xmlns:a16="http://schemas.microsoft.com/office/drawing/2014/main" id="{DA890969-6C25-7E22-D1D2-C088504539C0}"/>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75E38297-A3C8-FB90-D231-95F2E0DD2BFB}"/>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56371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70F2BF0-E471-2BF8-795E-87D6AFD03BB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89810BBD-9A55-AD92-1453-C33D9916EA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942DDD96-CF79-65BA-1588-C8B405C275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CD88BF7-2719-FCAD-13B7-4B5492A1A6C1}"/>
              </a:ext>
            </a:extLst>
          </p:cNvPr>
          <p:cNvSpPr>
            <a:spLocks noGrp="1"/>
          </p:cNvSpPr>
          <p:nvPr>
            <p:ph type="dt" sz="half" idx="10"/>
          </p:nvPr>
        </p:nvSpPr>
        <p:spPr/>
        <p:txBody>
          <a:bodyPr/>
          <a:lstStyle/>
          <a:p>
            <a:fld id="{D4EEA691-572F-4F04-BC85-BD56FDB68B16}" type="datetime1">
              <a:rPr lang="fr-FR" smtClean="0"/>
              <a:t>22/01/2026</a:t>
            </a:fld>
            <a:endParaRPr lang="fr-FR"/>
          </a:p>
        </p:txBody>
      </p:sp>
      <p:sp>
        <p:nvSpPr>
          <p:cNvPr id="6" name="Espace réservé du pied de page 5">
            <a:extLst>
              <a:ext uri="{FF2B5EF4-FFF2-40B4-BE49-F238E27FC236}">
                <a16:creationId xmlns:a16="http://schemas.microsoft.com/office/drawing/2014/main" id="{AD550B3B-6EED-4C5A-11BF-A10057F0CD4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C65A815-A939-069E-9B43-22718216DA41}"/>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3817355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792DE17-34A0-0FAA-C27F-9ACB82962FF2}"/>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F79FB5BC-2203-BE1A-83F2-AC126DE4B7D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F82EDC98-2130-1FD8-5624-C090E19632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147D0A9-F84A-00B4-7130-4D8BF5C042F9}"/>
              </a:ext>
            </a:extLst>
          </p:cNvPr>
          <p:cNvSpPr>
            <a:spLocks noGrp="1"/>
          </p:cNvSpPr>
          <p:nvPr>
            <p:ph type="dt" sz="half" idx="10"/>
          </p:nvPr>
        </p:nvSpPr>
        <p:spPr/>
        <p:txBody>
          <a:bodyPr/>
          <a:lstStyle/>
          <a:p>
            <a:fld id="{F51E280F-F899-4FD0-A249-C2535D392737}" type="datetime1">
              <a:rPr lang="fr-FR" smtClean="0"/>
              <a:t>22/01/2026</a:t>
            </a:fld>
            <a:endParaRPr lang="fr-FR"/>
          </a:p>
        </p:txBody>
      </p:sp>
      <p:sp>
        <p:nvSpPr>
          <p:cNvPr id="6" name="Espace réservé du pied de page 5">
            <a:extLst>
              <a:ext uri="{FF2B5EF4-FFF2-40B4-BE49-F238E27FC236}">
                <a16:creationId xmlns:a16="http://schemas.microsoft.com/office/drawing/2014/main" id="{60ADC480-639E-252B-C8C5-AE86E77F281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67E4955-EEE0-04A6-0E28-9EABCCC7FE19}"/>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12139944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75A681-4CA9-BB0C-4BFC-542EB03BA904}"/>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01771ADB-7713-8915-9C2B-8CB7EC089794}"/>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0885611-0EC6-1147-0D66-131556F43D7E}"/>
              </a:ext>
            </a:extLst>
          </p:cNvPr>
          <p:cNvSpPr>
            <a:spLocks noGrp="1"/>
          </p:cNvSpPr>
          <p:nvPr>
            <p:ph type="dt" sz="half" idx="10"/>
          </p:nvPr>
        </p:nvSpPr>
        <p:spPr/>
        <p:txBody>
          <a:bodyPr/>
          <a:lstStyle/>
          <a:p>
            <a:fld id="{FE6FA391-0CE9-40D0-A2F7-85DBD7240798}" type="datetime1">
              <a:rPr lang="fr-FR" smtClean="0"/>
              <a:t>22/01/2026</a:t>
            </a:fld>
            <a:endParaRPr lang="fr-FR"/>
          </a:p>
        </p:txBody>
      </p:sp>
      <p:sp>
        <p:nvSpPr>
          <p:cNvPr id="5" name="Espace réservé du pied de page 4">
            <a:extLst>
              <a:ext uri="{FF2B5EF4-FFF2-40B4-BE49-F238E27FC236}">
                <a16:creationId xmlns:a16="http://schemas.microsoft.com/office/drawing/2014/main" id="{F9864813-959F-EF55-E4A4-F78010EBDA9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5E24510-22FB-000E-E129-9DE2E8EA8A0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841167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9CC24598-E7BA-754B-486F-BEB67379ABDB}"/>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22E47A81-FC0C-D5A1-5C5A-E069BAE668D6}"/>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9977DE5-ACC5-43E7-3EA3-1D9A3EEF1812}"/>
              </a:ext>
            </a:extLst>
          </p:cNvPr>
          <p:cNvSpPr>
            <a:spLocks noGrp="1"/>
          </p:cNvSpPr>
          <p:nvPr>
            <p:ph type="dt" sz="half" idx="10"/>
          </p:nvPr>
        </p:nvSpPr>
        <p:spPr/>
        <p:txBody>
          <a:bodyPr/>
          <a:lstStyle/>
          <a:p>
            <a:fld id="{81B1AECE-E014-45BC-B18F-7BDB4D69CDE5}" type="datetime1">
              <a:rPr lang="fr-FR" smtClean="0"/>
              <a:t>22/01/2026</a:t>
            </a:fld>
            <a:endParaRPr lang="fr-FR"/>
          </a:p>
        </p:txBody>
      </p:sp>
      <p:sp>
        <p:nvSpPr>
          <p:cNvPr id="5" name="Espace réservé du pied de page 4">
            <a:extLst>
              <a:ext uri="{FF2B5EF4-FFF2-40B4-BE49-F238E27FC236}">
                <a16:creationId xmlns:a16="http://schemas.microsoft.com/office/drawing/2014/main" id="{DD618474-730F-7697-0270-51726F23479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AF35F53-8A2B-16A4-DF94-5CC8908881BC}"/>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573715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45188544-5627-BEB8-E1A9-9F258A7735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1CD1928C-0617-D19F-6634-73737EF6ABC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054FEFD-22C9-B210-98A1-EBB5ABFC8C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49E18-1044-428F-89F4-DDEB76B54A54}" type="datetime1">
              <a:rPr lang="fr-FR" smtClean="0"/>
              <a:t>22/01/2026</a:t>
            </a:fld>
            <a:endParaRPr lang="fr-FR"/>
          </a:p>
        </p:txBody>
      </p:sp>
      <p:sp>
        <p:nvSpPr>
          <p:cNvPr id="5" name="Espace réservé du pied de page 4">
            <a:extLst>
              <a:ext uri="{FF2B5EF4-FFF2-40B4-BE49-F238E27FC236}">
                <a16:creationId xmlns:a16="http://schemas.microsoft.com/office/drawing/2014/main" id="{224CB006-5F5C-3788-892E-0936FBD5204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F1FDBCB-0611-9C7D-2E28-A6D54D7C50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07E23-5D66-4BDA-857C-D8615BC30D33}" type="slidenum">
              <a:rPr lang="fr-FR" smtClean="0"/>
              <a:t>‹N°›</a:t>
            </a:fld>
            <a:endParaRPr lang="fr-FR"/>
          </a:p>
        </p:txBody>
      </p:sp>
    </p:spTree>
    <p:extLst>
      <p:ext uri="{BB962C8B-B14F-4D97-AF65-F5344CB8AC3E}">
        <p14:creationId xmlns:p14="http://schemas.microsoft.com/office/powerpoint/2010/main" val="29756265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24.sv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s://www.youtube.com/watch?v=kixc1mh55yY"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77D6B2E-37A3-429E-A37C-F30ED64872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723" y="-1"/>
            <a:ext cx="12225953" cy="6868071"/>
          </a:xfrm>
          <a:prstGeom prst="rect">
            <a:avLst/>
          </a:prstGeom>
          <a:gradFill>
            <a:gsLst>
              <a:gs pos="0">
                <a:srgbClr val="000000"/>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41959" y="-3"/>
            <a:ext cx="11772269" cy="6868074"/>
          </a:xfrm>
          <a:prstGeom prst="rect">
            <a:avLst/>
          </a:prstGeom>
          <a:gradFill>
            <a:gsLst>
              <a:gs pos="21000">
                <a:schemeClr val="accent1">
                  <a:lumMod val="50000"/>
                  <a:alpha val="83000"/>
                </a:schemeClr>
              </a:gs>
              <a:gs pos="100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5200" y="0"/>
            <a:ext cx="3623374" cy="6868072"/>
          </a:xfrm>
          <a:prstGeom prst="rect">
            <a:avLst/>
          </a:prstGeom>
          <a:gradFill>
            <a:gsLst>
              <a:gs pos="0">
                <a:schemeClr val="accent1">
                  <a:lumMod val="75000"/>
                  <a:alpha val="0"/>
                </a:schemeClr>
              </a:gs>
              <a:gs pos="99000">
                <a:srgbClr val="000000">
                  <a:alpha val="41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064D5D5-227B-4F66-9AEA-46F570E793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5875" y="-3"/>
            <a:ext cx="12233581" cy="6868076"/>
          </a:xfrm>
          <a:prstGeom prst="rect">
            <a:avLst/>
          </a:prstGeom>
          <a:gradFill>
            <a:gsLst>
              <a:gs pos="3000">
                <a:schemeClr val="accent1">
                  <a:lumMod val="75000"/>
                  <a:alpha val="0"/>
                </a:schemeClr>
              </a:gs>
              <a:gs pos="100000">
                <a:srgbClr val="000000">
                  <a:alpha val="73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46B67A4-D328-4747-A82B-65E84FA46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484334" y="-861824"/>
            <a:ext cx="6861931" cy="8597859"/>
          </a:xfrm>
          <a:prstGeom prst="rect">
            <a:avLst/>
          </a:prstGeom>
          <a:gradFill>
            <a:gsLst>
              <a:gs pos="3000">
                <a:schemeClr val="accent1">
                  <a:lumMod val="75000"/>
                  <a:alpha val="0"/>
                </a:schemeClr>
              </a:gs>
              <a:gs pos="100000">
                <a:srgbClr val="000000">
                  <a:alpha val="27000"/>
                </a:srgb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993193">
            <a:off x="1186972" y="1089049"/>
            <a:ext cx="4967533" cy="4988390"/>
          </a:xfrm>
          <a:prstGeom prst="ellipse">
            <a:avLst/>
          </a:prstGeom>
          <a:gradFill>
            <a:gsLst>
              <a:gs pos="0">
                <a:schemeClr val="accent1">
                  <a:alpha val="26000"/>
                </a:schemeClr>
              </a:gs>
              <a:gs pos="85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16D03FA7-3D73-F860-D803-F3FD4CEA0C4B}"/>
              </a:ext>
            </a:extLst>
          </p:cNvPr>
          <p:cNvSpPr>
            <a:spLocks noGrp="1"/>
          </p:cNvSpPr>
          <p:nvPr>
            <p:ph type="title"/>
          </p:nvPr>
        </p:nvSpPr>
        <p:spPr>
          <a:xfrm>
            <a:off x="4162567" y="818984"/>
            <a:ext cx="6714699" cy="3178689"/>
          </a:xfrm>
        </p:spPr>
        <p:txBody>
          <a:bodyPr vert="horz" lIns="91440" tIns="45720" rIns="91440" bIns="45720" rtlCol="0" anchor="b">
            <a:normAutofit/>
          </a:bodyPr>
          <a:lstStyle/>
          <a:p>
            <a:r>
              <a:rPr lang="en-US" sz="4800" kern="1200">
                <a:solidFill>
                  <a:srgbClr val="FFFFFF"/>
                </a:solidFill>
                <a:latin typeface="+mj-lt"/>
                <a:ea typeface="+mj-ea"/>
                <a:cs typeface="+mj-cs"/>
              </a:rPr>
              <a:t>La Multimodalité</a:t>
            </a:r>
          </a:p>
        </p:txBody>
      </p:sp>
      <p:sp>
        <p:nvSpPr>
          <p:cNvPr id="23" name="Rectangle 22">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4490110"/>
            <a:ext cx="12217710" cy="2377962"/>
          </a:xfrm>
          <a:prstGeom prst="rect">
            <a:avLst/>
          </a:prstGeom>
          <a:gradFill>
            <a:gsLst>
              <a:gs pos="0">
                <a:schemeClr val="accent1">
                  <a:lumMod val="75000"/>
                  <a:alpha val="50000"/>
                </a:schemeClr>
              </a:gs>
              <a:gs pos="99000">
                <a:srgbClr val="000000">
                  <a:alpha val="34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Espace réservé du numéro de diapositive 3">
            <a:extLst>
              <a:ext uri="{FF2B5EF4-FFF2-40B4-BE49-F238E27FC236}">
                <a16:creationId xmlns:a16="http://schemas.microsoft.com/office/drawing/2014/main" id="{BE0DD1E2-9457-87AC-C4AE-42768AAB7B7B}"/>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rgbClr val="FFFFFF"/>
                </a:solidFill>
              </a:rPr>
              <a:pPr>
                <a:spcAft>
                  <a:spcPts val="600"/>
                </a:spcAft>
              </a:pPr>
              <a:t>1</a:t>
            </a:fld>
            <a:endParaRPr lang="en-US" sz="1100">
              <a:solidFill>
                <a:srgbClr val="FFFFFF"/>
              </a:solidFill>
            </a:endParaRPr>
          </a:p>
        </p:txBody>
      </p:sp>
    </p:spTree>
    <p:extLst>
      <p:ext uri="{BB962C8B-B14F-4D97-AF65-F5344CB8AC3E}">
        <p14:creationId xmlns:p14="http://schemas.microsoft.com/office/powerpoint/2010/main" val="34803278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rrière-plan de carte de circuit imprimé">
            <a:extLst>
              <a:ext uri="{FF2B5EF4-FFF2-40B4-BE49-F238E27FC236}">
                <a16:creationId xmlns:a16="http://schemas.microsoft.com/office/drawing/2014/main" id="{40DA87CF-CC19-9877-2794-4F5A3A05EC97}"/>
              </a:ext>
            </a:extLst>
          </p:cNvPr>
          <p:cNvPicPr>
            <a:picLocks noChangeAspect="1"/>
          </p:cNvPicPr>
          <p:nvPr/>
        </p:nvPicPr>
        <p:blipFill>
          <a:blip r:embed="rId3"/>
          <a:srcRect r="6237"/>
          <a:stretch>
            <a:fillRect/>
          </a:stretch>
        </p:blipFill>
        <p:spPr>
          <a:xfrm>
            <a:off x="1" y="10"/>
            <a:ext cx="9669642" cy="6857990"/>
          </a:xfrm>
          <a:prstGeom prst="rect">
            <a:avLst/>
          </a:prstGeom>
        </p:spPr>
      </p:pic>
      <p:sp>
        <p:nvSpPr>
          <p:cNvPr id="19" name="Rectangle 18">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Espace réservé du contenu 2">
            <a:extLst>
              <a:ext uri="{FF2B5EF4-FFF2-40B4-BE49-F238E27FC236}">
                <a16:creationId xmlns:a16="http://schemas.microsoft.com/office/drawing/2014/main" id="{962B5EC8-D024-B2A3-AE7B-C5A7DCB34128}"/>
              </a:ext>
            </a:extLst>
          </p:cNvPr>
          <p:cNvSpPr>
            <a:spLocks noGrp="1"/>
          </p:cNvSpPr>
          <p:nvPr>
            <p:ph idx="1"/>
          </p:nvPr>
        </p:nvSpPr>
        <p:spPr>
          <a:xfrm>
            <a:off x="7531610" y="2434201"/>
            <a:ext cx="3822189" cy="3742762"/>
          </a:xfrm>
        </p:spPr>
        <p:txBody>
          <a:bodyPr>
            <a:normAutofit/>
          </a:bodyPr>
          <a:lstStyle/>
          <a:p>
            <a:r>
              <a:rPr lang="fr-FR" sz="2000" dirty="0"/>
              <a:t>La multimodalité</a:t>
            </a:r>
          </a:p>
          <a:p>
            <a:r>
              <a:rPr lang="fr-FR" sz="2000" dirty="0"/>
              <a:t>La fusion</a:t>
            </a:r>
          </a:p>
          <a:p>
            <a:r>
              <a:rPr lang="fr-FR" sz="2000" dirty="0"/>
              <a:t>Data </a:t>
            </a:r>
            <a:r>
              <a:rPr lang="fr-FR" sz="2000" dirty="0" err="1"/>
              <a:t>Representation</a:t>
            </a:r>
            <a:endParaRPr lang="fr-FR" sz="2000" dirty="0"/>
          </a:p>
          <a:p>
            <a:r>
              <a:rPr lang="fr-FR" sz="2000" dirty="0"/>
              <a:t>Data Translation</a:t>
            </a:r>
          </a:p>
          <a:p>
            <a:r>
              <a:rPr lang="fr-FR" sz="2000" dirty="0"/>
              <a:t>Data </a:t>
            </a:r>
            <a:r>
              <a:rPr lang="fr-FR" sz="2000" dirty="0" err="1"/>
              <a:t>Alignment</a:t>
            </a:r>
            <a:endParaRPr lang="fr-FR" sz="2000" dirty="0"/>
          </a:p>
          <a:p>
            <a:r>
              <a:rPr lang="fr-FR" sz="2000" dirty="0"/>
              <a:t>Le </a:t>
            </a:r>
            <a:r>
              <a:rPr lang="fr-FR" sz="2000" dirty="0" err="1"/>
              <a:t>co-learning</a:t>
            </a:r>
            <a:endParaRPr lang="fr-FR" sz="2000" dirty="0"/>
          </a:p>
          <a:p>
            <a:r>
              <a:rPr lang="en-US" sz="2000" dirty="0" err="1"/>
              <a:t>Défis</a:t>
            </a:r>
            <a:r>
              <a:rPr lang="en-US" sz="2000" dirty="0"/>
              <a:t> </a:t>
            </a:r>
            <a:r>
              <a:rPr lang="en-US" sz="2000" dirty="0" err="1"/>
              <a:t>ouverts</a:t>
            </a:r>
            <a:r>
              <a:rPr lang="en-US" sz="2000" dirty="0"/>
              <a:t> et solutions possibles</a:t>
            </a:r>
            <a:endParaRPr lang="fr-FR" sz="2000" dirty="0"/>
          </a:p>
          <a:p>
            <a:r>
              <a:rPr lang="fr-FR" sz="2000" dirty="0"/>
              <a:t>Domaines d’applications</a:t>
            </a:r>
          </a:p>
        </p:txBody>
      </p:sp>
      <p:sp>
        <p:nvSpPr>
          <p:cNvPr id="4" name="Espace réservé du numéro de diapositive 3">
            <a:extLst>
              <a:ext uri="{FF2B5EF4-FFF2-40B4-BE49-F238E27FC236}">
                <a16:creationId xmlns:a16="http://schemas.microsoft.com/office/drawing/2014/main" id="{51D2A657-B0EB-5916-15EB-E333F724F210}"/>
              </a:ext>
            </a:extLst>
          </p:cNvPr>
          <p:cNvSpPr>
            <a:spLocks noGrp="1"/>
          </p:cNvSpPr>
          <p:nvPr>
            <p:ph type="sldNum" sz="quarter" idx="12"/>
          </p:nvPr>
        </p:nvSpPr>
        <p:spPr>
          <a:xfrm>
            <a:off x="8610600" y="6356350"/>
            <a:ext cx="2743200" cy="365125"/>
          </a:xfrm>
        </p:spPr>
        <p:txBody>
          <a:bodyPr>
            <a:normAutofit/>
          </a:bodyPr>
          <a:lstStyle/>
          <a:p>
            <a:pPr>
              <a:spcAft>
                <a:spcPts val="600"/>
              </a:spcAft>
            </a:pPr>
            <a:fld id="{BBC07E23-5D66-4BDA-857C-D8615BC30D33}" type="slidenum">
              <a:rPr lang="fr-FR"/>
              <a:pPr>
                <a:spcAft>
                  <a:spcPts val="600"/>
                </a:spcAft>
              </a:pPr>
              <a:t>2</a:t>
            </a:fld>
            <a:endParaRPr lang="fr-FR"/>
          </a:p>
        </p:txBody>
      </p:sp>
    </p:spTree>
    <p:extLst>
      <p:ext uri="{BB962C8B-B14F-4D97-AF65-F5344CB8AC3E}">
        <p14:creationId xmlns:p14="http://schemas.microsoft.com/office/powerpoint/2010/main" val="39799756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re 1">
            <a:extLst>
              <a:ext uri="{FF2B5EF4-FFF2-40B4-BE49-F238E27FC236}">
                <a16:creationId xmlns:a16="http://schemas.microsoft.com/office/drawing/2014/main" id="{19DA5FD2-2F28-9B11-54FF-5A2FEAC21832}"/>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fr-FR" sz="4000" dirty="0">
                <a:solidFill>
                  <a:schemeClr val="bg1"/>
                </a:solidFill>
              </a:rPr>
              <a:t>Modalité</a:t>
            </a:r>
            <a:endParaRPr lang="en-US" sz="4000" kern="1200" dirty="0">
              <a:solidFill>
                <a:schemeClr val="bg1"/>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FD8B7B88-95CE-3785-7A81-E58EEA8F0B6A}"/>
              </a:ext>
            </a:extLst>
          </p:cNvPr>
          <p:cNvSpPr>
            <a:spLocks noGrp="1"/>
          </p:cNvSpPr>
          <p:nvPr>
            <p:ph type="sldNum" sz="quarter" idx="12"/>
          </p:nvPr>
        </p:nvSpPr>
        <p:spPr/>
        <p:txBody>
          <a:bodyPr/>
          <a:lstStyle/>
          <a:p>
            <a:fld id="{BBC07E23-5D66-4BDA-857C-D8615BC30D33}" type="slidenum">
              <a:rPr lang="fr-FR" smtClean="0"/>
              <a:t>3</a:t>
            </a:fld>
            <a:endParaRPr lang="fr-FR"/>
          </a:p>
        </p:txBody>
      </p:sp>
      <p:graphicFrame>
        <p:nvGraphicFramePr>
          <p:cNvPr id="7" name="Espace réservé du contenu 2">
            <a:extLst>
              <a:ext uri="{FF2B5EF4-FFF2-40B4-BE49-F238E27FC236}">
                <a16:creationId xmlns:a16="http://schemas.microsoft.com/office/drawing/2014/main" id="{BEFFD754-9DC3-7DEB-4460-DCAA505ED271}"/>
              </a:ext>
            </a:extLst>
          </p:cNvPr>
          <p:cNvGraphicFramePr>
            <a:graphicFrameLocks/>
          </p:cNvGraphicFramePr>
          <p:nvPr>
            <p:extLst>
              <p:ext uri="{D42A27DB-BD31-4B8C-83A1-F6EECF244321}">
                <p14:modId xmlns:p14="http://schemas.microsoft.com/office/powerpoint/2010/main" val="170263927"/>
              </p:ext>
            </p:extLst>
          </p:nvPr>
        </p:nvGraphicFramePr>
        <p:xfrm>
          <a:off x="5303520" y="676656"/>
          <a:ext cx="6364224" cy="55138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406466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Espace réservé du contenu 5" descr="Une image contenant cercle, texte, diagramme, capture d’écran&#10;&#10;Le contenu généré par l’IA peut être incorrect.">
            <a:extLst>
              <a:ext uri="{FF2B5EF4-FFF2-40B4-BE49-F238E27FC236}">
                <a16:creationId xmlns:a16="http://schemas.microsoft.com/office/drawing/2014/main" id="{D9C1425A-61FE-9953-C009-595773A3BC8F}"/>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2090" b="85"/>
          <a:stretch>
            <a:fillRect/>
          </a:stretch>
        </p:blipFill>
        <p:spPr>
          <a:xfrm>
            <a:off x="20" y="10"/>
            <a:ext cx="12191980" cy="6857990"/>
          </a:xfrm>
          <a:prstGeom prst="rect">
            <a:avLst/>
          </a:prstGeom>
        </p:spPr>
      </p:pic>
      <p:sp>
        <p:nvSpPr>
          <p:cNvPr id="12" name="Rectangle 11">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7553D618-21D5-B52D-6309-A783583768FB}"/>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lang="en-US" sz="3600">
                <a:solidFill>
                  <a:schemeClr val="tx1">
                    <a:lumMod val="85000"/>
                    <a:lumOff val="15000"/>
                  </a:schemeClr>
                </a:solidFill>
              </a:rPr>
              <a:t>La multimodalité: </a:t>
            </a:r>
          </a:p>
        </p:txBody>
      </p:sp>
      <p:cxnSp>
        <p:nvCxnSpPr>
          <p:cNvPr id="14" name="Straight Connector 13">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
        <p:nvSpPr>
          <p:cNvPr id="4" name="Espace réservé du numéro de diapositive 3">
            <a:extLst>
              <a:ext uri="{FF2B5EF4-FFF2-40B4-BE49-F238E27FC236}">
                <a16:creationId xmlns:a16="http://schemas.microsoft.com/office/drawing/2014/main" id="{977D760F-65A3-B682-D2A8-D583AA6DB500}"/>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defTabSz="457200">
              <a:spcAft>
                <a:spcPts val="600"/>
              </a:spcAft>
            </a:pPr>
            <a:fld id="{BBC07E23-5D66-4BDA-857C-D8615BC30D33}" type="slidenum">
              <a:rPr lang="en-US">
                <a:solidFill>
                  <a:srgbClr val="FFFFFF"/>
                </a:solidFill>
              </a:rPr>
              <a:pPr defTabSz="457200">
                <a:spcAft>
                  <a:spcPts val="600"/>
                </a:spcAft>
              </a:pPr>
              <a:t>4</a:t>
            </a:fld>
            <a:endParaRPr lang="en-US">
              <a:solidFill>
                <a:srgbClr val="FFFFFF"/>
              </a:solidFill>
            </a:endParaRPr>
          </a:p>
        </p:txBody>
      </p:sp>
    </p:spTree>
    <p:extLst>
      <p:ext uri="{BB962C8B-B14F-4D97-AF65-F5344CB8AC3E}">
        <p14:creationId xmlns:p14="http://schemas.microsoft.com/office/powerpoint/2010/main" val="22649908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79259912-2B72-B1D7-8A2E-C593972E6DA7}"/>
              </a:ext>
            </a:extLst>
          </p:cNvPr>
          <p:cNvSpPr>
            <a:spLocks noGrp="1"/>
          </p:cNvSpPr>
          <p:nvPr>
            <p:ph type="title"/>
          </p:nvPr>
        </p:nvSpPr>
        <p:spPr>
          <a:xfrm>
            <a:off x="1383564" y="348865"/>
            <a:ext cx="9718111" cy="1576446"/>
          </a:xfrm>
        </p:spPr>
        <p:txBody>
          <a:bodyPr anchor="ctr">
            <a:normAutofit/>
          </a:bodyPr>
          <a:lstStyle/>
          <a:p>
            <a:r>
              <a:rPr lang="fr-FR" sz="4000" dirty="0">
                <a:solidFill>
                  <a:srgbClr val="FFFFFF"/>
                </a:solidFill>
              </a:rPr>
              <a:t>Les 5 clefs de la multimodalité</a:t>
            </a:r>
          </a:p>
        </p:txBody>
      </p:sp>
      <p:graphicFrame>
        <p:nvGraphicFramePr>
          <p:cNvPr id="25" name="Rectangle 1">
            <a:extLst>
              <a:ext uri="{FF2B5EF4-FFF2-40B4-BE49-F238E27FC236}">
                <a16:creationId xmlns:a16="http://schemas.microsoft.com/office/drawing/2014/main" id="{B0752E3E-493A-A3E9-E38E-46AEC92DA971}"/>
              </a:ext>
            </a:extLst>
          </p:cNvPr>
          <p:cNvGraphicFramePr>
            <a:graphicFrameLocks noGrp="1"/>
          </p:cNvGraphicFramePr>
          <p:nvPr>
            <p:ph idx="1"/>
            <p:extLst>
              <p:ext uri="{D42A27DB-BD31-4B8C-83A1-F6EECF244321}">
                <p14:modId xmlns:p14="http://schemas.microsoft.com/office/powerpoint/2010/main" val="2507252703"/>
              </p:ext>
            </p:extLst>
          </p:nvPr>
        </p:nvGraphicFramePr>
        <p:xfrm>
          <a:off x="644056" y="2615979"/>
          <a:ext cx="10927829" cy="37390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Espace réservé du numéro de diapositive 3">
            <a:extLst>
              <a:ext uri="{FF2B5EF4-FFF2-40B4-BE49-F238E27FC236}">
                <a16:creationId xmlns:a16="http://schemas.microsoft.com/office/drawing/2014/main" id="{60C41CF1-5808-22FC-DA02-ED4AA38172F6}"/>
              </a:ext>
            </a:extLst>
          </p:cNvPr>
          <p:cNvSpPr>
            <a:spLocks noGrp="1"/>
          </p:cNvSpPr>
          <p:nvPr>
            <p:ph type="sldNum" sz="quarter" idx="12"/>
          </p:nvPr>
        </p:nvSpPr>
        <p:spPr/>
        <p:txBody>
          <a:bodyPr/>
          <a:lstStyle/>
          <a:p>
            <a:fld id="{BBC07E23-5D66-4BDA-857C-D8615BC30D33}" type="slidenum">
              <a:rPr lang="fr-FR" smtClean="0"/>
              <a:t>5</a:t>
            </a:fld>
            <a:endParaRPr lang="fr-FR"/>
          </a:p>
        </p:txBody>
      </p:sp>
    </p:spTree>
    <p:extLst>
      <p:ext uri="{BB962C8B-B14F-4D97-AF65-F5344CB8AC3E}">
        <p14:creationId xmlns:p14="http://schemas.microsoft.com/office/powerpoint/2010/main" val="891168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D02E03-608B-BAB0-9131-7BF1B92335ED}"/>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5D13F-2E0E-288E-817F-6703C3BA3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7F188A7-8ED3-CB6E-DAA4-1AED744B09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05F04C99-DBA0-5539-3685-D0ED65B872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3C20F72-1E6A-9DB8-3B10-526ACBA55F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8278FD0-A69A-D947-1FE0-316226A54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re 1">
            <a:extLst>
              <a:ext uri="{FF2B5EF4-FFF2-40B4-BE49-F238E27FC236}">
                <a16:creationId xmlns:a16="http://schemas.microsoft.com/office/drawing/2014/main" id="{ACC4091A-588E-EA00-3AE7-8D5B43A2AFDE}"/>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La fusion</a:t>
            </a:r>
          </a:p>
        </p:txBody>
      </p:sp>
      <p:pic>
        <p:nvPicPr>
          <p:cNvPr id="4" name="Espace réservé du contenu 3" descr="Une image contenant texte, capture d’écran, Police, nombre&#10;&#10;Le contenu généré par l’IA peut être incorrect.">
            <a:extLst>
              <a:ext uri="{FF2B5EF4-FFF2-40B4-BE49-F238E27FC236}">
                <a16:creationId xmlns:a16="http://schemas.microsoft.com/office/drawing/2014/main" id="{EE53AA58-A767-4E7F-556A-EE40D4A9E6F8}"/>
              </a:ext>
            </a:extLst>
          </p:cNvPr>
          <p:cNvPicPr>
            <a:picLocks noGrp="1" noChangeAspect="1"/>
          </p:cNvPicPr>
          <p:nvPr>
            <p:ph idx="1"/>
          </p:nvPr>
        </p:nvPicPr>
        <p:blipFill>
          <a:blip r:embed="rId3"/>
          <a:stretch>
            <a:fillRect/>
          </a:stretch>
        </p:blipFill>
        <p:spPr>
          <a:xfrm>
            <a:off x="4502428" y="1396759"/>
            <a:ext cx="7225748" cy="4064482"/>
          </a:xfrm>
          <a:prstGeom prst="rect">
            <a:avLst/>
          </a:prstGeom>
        </p:spPr>
      </p:pic>
      <p:sp>
        <p:nvSpPr>
          <p:cNvPr id="5" name="Espace réservé du numéro de diapositive 4">
            <a:extLst>
              <a:ext uri="{FF2B5EF4-FFF2-40B4-BE49-F238E27FC236}">
                <a16:creationId xmlns:a16="http://schemas.microsoft.com/office/drawing/2014/main" id="{CD20897E-A921-8B97-7206-0C93D263AA31}"/>
              </a:ext>
            </a:extLst>
          </p:cNvPr>
          <p:cNvSpPr>
            <a:spLocks noGrp="1"/>
          </p:cNvSpPr>
          <p:nvPr>
            <p:ph type="sldNum" sz="quarter" idx="12"/>
          </p:nvPr>
        </p:nvSpPr>
        <p:spPr/>
        <p:txBody>
          <a:bodyPr/>
          <a:lstStyle/>
          <a:p>
            <a:fld id="{BBC07E23-5D66-4BDA-857C-D8615BC30D33}" type="slidenum">
              <a:rPr lang="fr-FR" smtClean="0"/>
              <a:t>6</a:t>
            </a:fld>
            <a:endParaRPr lang="fr-FR"/>
          </a:p>
        </p:txBody>
      </p:sp>
    </p:spTree>
    <p:extLst>
      <p:ext uri="{BB962C8B-B14F-4D97-AF65-F5344CB8AC3E}">
        <p14:creationId xmlns:p14="http://schemas.microsoft.com/office/powerpoint/2010/main" val="26817414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7CA16D-5769-48EF-CA4C-73F741AD102D}"/>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58E2EEF1-A01C-8EFD-9DE0-E73F8FFB4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649E5A1-38A3-B04D-4025-5A2DB0135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3C384252-5B83-F3BB-179D-53E730578E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73ED89E3-27EC-288E-7990-4131F037E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319A4C64-AB5F-42F9-2A44-7A5FD99EA736}"/>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Model unimodal </a:t>
            </a:r>
          </a:p>
        </p:txBody>
      </p:sp>
      <p:sp>
        <p:nvSpPr>
          <p:cNvPr id="5" name="Espace réservé du numéro de diapositive 4">
            <a:extLst>
              <a:ext uri="{FF2B5EF4-FFF2-40B4-BE49-F238E27FC236}">
                <a16:creationId xmlns:a16="http://schemas.microsoft.com/office/drawing/2014/main" id="{404B20A7-78C2-4A32-9AC5-27E03B20C291}"/>
              </a:ext>
            </a:extLst>
          </p:cNvPr>
          <p:cNvSpPr>
            <a:spLocks noGrp="1"/>
          </p:cNvSpPr>
          <p:nvPr>
            <p:ph type="sldNum" sz="quarter" idx="12"/>
          </p:nvPr>
        </p:nvSpPr>
        <p:spPr/>
        <p:txBody>
          <a:bodyPr/>
          <a:lstStyle/>
          <a:p>
            <a:fld id="{BBC07E23-5D66-4BDA-857C-D8615BC30D33}" type="slidenum">
              <a:rPr lang="fr-FR" smtClean="0"/>
              <a:t>7</a:t>
            </a:fld>
            <a:endParaRPr lang="fr-FR"/>
          </a:p>
        </p:txBody>
      </p:sp>
      <p:pic>
        <p:nvPicPr>
          <p:cNvPr id="8" name="Image 7" descr="Une image contenant texte, chien, capture d’écran&#10;&#10;Le contenu généré par l’IA peut être incorrect.">
            <a:extLst>
              <a:ext uri="{FF2B5EF4-FFF2-40B4-BE49-F238E27FC236}">
                <a16:creationId xmlns:a16="http://schemas.microsoft.com/office/drawing/2014/main" id="{8D7EC4CA-3865-B300-1EC3-969ECE0A2494}"/>
              </a:ext>
            </a:extLst>
          </p:cNvPr>
          <p:cNvPicPr>
            <a:picLocks noChangeAspect="1"/>
          </p:cNvPicPr>
          <p:nvPr/>
        </p:nvPicPr>
        <p:blipFill>
          <a:blip r:embed="rId3"/>
          <a:stretch>
            <a:fillRect/>
          </a:stretch>
        </p:blipFill>
        <p:spPr>
          <a:xfrm>
            <a:off x="1480491" y="3108783"/>
            <a:ext cx="9231013" cy="1714739"/>
          </a:xfrm>
          <a:prstGeom prst="rect">
            <a:avLst/>
          </a:prstGeom>
        </p:spPr>
      </p:pic>
    </p:spTree>
    <p:extLst>
      <p:ext uri="{BB962C8B-B14F-4D97-AF65-F5344CB8AC3E}">
        <p14:creationId xmlns:p14="http://schemas.microsoft.com/office/powerpoint/2010/main" val="553003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172AF66E-B9AA-06A7-9A7D-EA6E5CCDEE82}"/>
              </a:ext>
            </a:extLst>
          </p:cNvPr>
          <p:cNvSpPr>
            <a:spLocks noGrp="1"/>
          </p:cNvSpPr>
          <p:nvPr>
            <p:ph type="title"/>
          </p:nvPr>
        </p:nvSpPr>
        <p:spPr>
          <a:xfrm>
            <a:off x="1383564" y="348865"/>
            <a:ext cx="9718111" cy="1576446"/>
          </a:xfrm>
        </p:spPr>
        <p:txBody>
          <a:bodyPr anchor="ctr">
            <a:normAutofit/>
          </a:bodyPr>
          <a:lstStyle/>
          <a:p>
            <a:r>
              <a:rPr lang="fr-FR" sz="4000">
                <a:solidFill>
                  <a:srgbClr val="FFFFFF"/>
                </a:solidFill>
              </a:rPr>
              <a:t>Les méthodes de fusion</a:t>
            </a:r>
          </a:p>
        </p:txBody>
      </p:sp>
      <p:graphicFrame>
        <p:nvGraphicFramePr>
          <p:cNvPr id="5" name="Espace réservé du contenu 2">
            <a:extLst>
              <a:ext uri="{FF2B5EF4-FFF2-40B4-BE49-F238E27FC236}">
                <a16:creationId xmlns:a16="http://schemas.microsoft.com/office/drawing/2014/main" id="{890679FC-A84E-3CDA-DCFD-B7F6B4E2C3E0}"/>
              </a:ext>
            </a:extLst>
          </p:cNvPr>
          <p:cNvGraphicFramePr>
            <a:graphicFrameLocks noGrp="1"/>
          </p:cNvGraphicFramePr>
          <p:nvPr>
            <p:ph idx="1"/>
            <p:extLst>
              <p:ext uri="{D42A27DB-BD31-4B8C-83A1-F6EECF244321}">
                <p14:modId xmlns:p14="http://schemas.microsoft.com/office/powerpoint/2010/main" val="3785532602"/>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Espace réservé du numéro de diapositive 3">
            <a:extLst>
              <a:ext uri="{FF2B5EF4-FFF2-40B4-BE49-F238E27FC236}">
                <a16:creationId xmlns:a16="http://schemas.microsoft.com/office/drawing/2014/main" id="{44199317-AFC1-78B7-9E3E-933D8F309A79}"/>
              </a:ext>
            </a:extLst>
          </p:cNvPr>
          <p:cNvSpPr>
            <a:spLocks noGrp="1"/>
          </p:cNvSpPr>
          <p:nvPr>
            <p:ph type="sldNum" sz="quarter" idx="12"/>
          </p:nvPr>
        </p:nvSpPr>
        <p:spPr/>
        <p:txBody>
          <a:bodyPr/>
          <a:lstStyle/>
          <a:p>
            <a:fld id="{BBC07E23-5D66-4BDA-857C-D8615BC30D33}" type="slidenum">
              <a:rPr lang="fr-FR" smtClean="0"/>
              <a:t>8</a:t>
            </a:fld>
            <a:endParaRPr lang="fr-FR"/>
          </a:p>
        </p:txBody>
      </p:sp>
    </p:spTree>
    <p:extLst>
      <p:ext uri="{BB962C8B-B14F-4D97-AF65-F5344CB8AC3E}">
        <p14:creationId xmlns:p14="http://schemas.microsoft.com/office/powerpoint/2010/main" val="23578255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55ED729F-41EA-8387-A66D-AD9D5E5D5CCC}"/>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Early  Fusion</a:t>
            </a:r>
          </a:p>
        </p:txBody>
      </p:sp>
      <p:sp>
        <p:nvSpPr>
          <p:cNvPr id="5" name="Espace réservé du numéro de diapositive 4">
            <a:extLst>
              <a:ext uri="{FF2B5EF4-FFF2-40B4-BE49-F238E27FC236}">
                <a16:creationId xmlns:a16="http://schemas.microsoft.com/office/drawing/2014/main" id="{1376BBDB-7C7F-A1A1-C862-90EE7BE4301F}"/>
              </a:ext>
            </a:extLst>
          </p:cNvPr>
          <p:cNvSpPr>
            <a:spLocks noGrp="1"/>
          </p:cNvSpPr>
          <p:nvPr>
            <p:ph type="sldNum" sz="quarter" idx="12"/>
          </p:nvPr>
        </p:nvSpPr>
        <p:spPr/>
        <p:txBody>
          <a:bodyPr/>
          <a:lstStyle/>
          <a:p>
            <a:fld id="{BBC07E23-5D66-4BDA-857C-D8615BC30D33}" type="slidenum">
              <a:rPr lang="fr-FR" smtClean="0"/>
              <a:t>9</a:t>
            </a:fld>
            <a:endParaRPr lang="fr-FR"/>
          </a:p>
        </p:txBody>
      </p:sp>
      <p:pic>
        <p:nvPicPr>
          <p:cNvPr id="8" name="Image 7" descr="Une image contenant texte, capture d’écran&#10;&#10;Le contenu généré par l’IA peut être incorrect.">
            <a:extLst>
              <a:ext uri="{FF2B5EF4-FFF2-40B4-BE49-F238E27FC236}">
                <a16:creationId xmlns:a16="http://schemas.microsoft.com/office/drawing/2014/main" id="{3A6D3E72-A02D-0855-21D5-47361B67D71E}"/>
              </a:ext>
            </a:extLst>
          </p:cNvPr>
          <p:cNvPicPr>
            <a:picLocks noChangeAspect="1"/>
          </p:cNvPicPr>
          <p:nvPr/>
        </p:nvPicPr>
        <p:blipFill>
          <a:blip r:embed="rId3"/>
          <a:stretch>
            <a:fillRect/>
          </a:stretch>
        </p:blipFill>
        <p:spPr>
          <a:xfrm>
            <a:off x="951780" y="1905908"/>
            <a:ext cx="10288436" cy="4448796"/>
          </a:xfrm>
          <a:prstGeom prst="rect">
            <a:avLst/>
          </a:prstGeom>
        </p:spPr>
      </p:pic>
    </p:spTree>
    <p:extLst>
      <p:ext uri="{BB962C8B-B14F-4D97-AF65-F5344CB8AC3E}">
        <p14:creationId xmlns:p14="http://schemas.microsoft.com/office/powerpoint/2010/main" val="29398218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6F12F2-5CD7-B8F4-91DB-A78DB2DEE0DC}"/>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FA296A9-3C03-C0D4-9712-0FB73BB85F96}"/>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Deep  Fusion</a:t>
            </a:r>
          </a:p>
        </p:txBody>
      </p:sp>
      <p:sp>
        <p:nvSpPr>
          <p:cNvPr id="5" name="Espace réservé du numéro de diapositive 4">
            <a:extLst>
              <a:ext uri="{FF2B5EF4-FFF2-40B4-BE49-F238E27FC236}">
                <a16:creationId xmlns:a16="http://schemas.microsoft.com/office/drawing/2014/main" id="{00AD0C1F-D5AB-3659-605B-20788BFA7B5F}"/>
              </a:ext>
            </a:extLst>
          </p:cNvPr>
          <p:cNvSpPr>
            <a:spLocks noGrp="1"/>
          </p:cNvSpPr>
          <p:nvPr>
            <p:ph type="sldNum" sz="quarter" idx="12"/>
          </p:nvPr>
        </p:nvSpPr>
        <p:spPr/>
        <p:txBody>
          <a:bodyPr/>
          <a:lstStyle/>
          <a:p>
            <a:fld id="{BBC07E23-5D66-4BDA-857C-D8615BC30D33}" type="slidenum">
              <a:rPr lang="fr-FR" smtClean="0"/>
              <a:t>10</a:t>
            </a:fld>
            <a:endParaRPr lang="fr-FR"/>
          </a:p>
        </p:txBody>
      </p:sp>
      <p:pic>
        <p:nvPicPr>
          <p:cNvPr id="4" name="Image 3" descr="Une image contenant texte, capture d’écran&#10;&#10;Le contenu généré par l’IA peut être incorrect.">
            <a:extLst>
              <a:ext uri="{FF2B5EF4-FFF2-40B4-BE49-F238E27FC236}">
                <a16:creationId xmlns:a16="http://schemas.microsoft.com/office/drawing/2014/main" id="{61829686-D7AD-BFFD-CEA6-367446A3E186}"/>
              </a:ext>
            </a:extLst>
          </p:cNvPr>
          <p:cNvPicPr>
            <a:picLocks noChangeAspect="1"/>
          </p:cNvPicPr>
          <p:nvPr/>
        </p:nvPicPr>
        <p:blipFill>
          <a:blip r:embed="rId2"/>
          <a:stretch>
            <a:fillRect/>
          </a:stretch>
        </p:blipFill>
        <p:spPr>
          <a:xfrm>
            <a:off x="1232807" y="1907554"/>
            <a:ext cx="9726382" cy="4448796"/>
          </a:xfrm>
          <a:prstGeom prst="rect">
            <a:avLst/>
          </a:prstGeom>
        </p:spPr>
      </p:pic>
    </p:spTree>
    <p:extLst>
      <p:ext uri="{BB962C8B-B14F-4D97-AF65-F5344CB8AC3E}">
        <p14:creationId xmlns:p14="http://schemas.microsoft.com/office/powerpoint/2010/main" val="4416888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BD2A36-0FDB-AD4C-283E-66EFC3BC0D0E}"/>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A9CA998-3388-00F8-6082-DC640591A36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Late  Fusion</a:t>
            </a:r>
          </a:p>
        </p:txBody>
      </p:sp>
      <p:sp>
        <p:nvSpPr>
          <p:cNvPr id="5" name="Espace réservé du numéro de diapositive 4">
            <a:extLst>
              <a:ext uri="{FF2B5EF4-FFF2-40B4-BE49-F238E27FC236}">
                <a16:creationId xmlns:a16="http://schemas.microsoft.com/office/drawing/2014/main" id="{5FDF3D5D-7F76-B069-32E8-D2E19570FF7C}"/>
              </a:ext>
            </a:extLst>
          </p:cNvPr>
          <p:cNvSpPr>
            <a:spLocks noGrp="1"/>
          </p:cNvSpPr>
          <p:nvPr>
            <p:ph type="sldNum" sz="quarter" idx="12"/>
          </p:nvPr>
        </p:nvSpPr>
        <p:spPr/>
        <p:txBody>
          <a:bodyPr/>
          <a:lstStyle/>
          <a:p>
            <a:fld id="{BBC07E23-5D66-4BDA-857C-D8615BC30D33}" type="slidenum">
              <a:rPr lang="fr-FR" smtClean="0"/>
              <a:t>11</a:t>
            </a:fld>
            <a:endParaRPr lang="fr-FR"/>
          </a:p>
        </p:txBody>
      </p:sp>
      <p:pic>
        <p:nvPicPr>
          <p:cNvPr id="4" name="Image 3" descr="Une image contenant texte, capture d’écran, chien&#10;&#10;Le contenu généré par l’IA peut être incorrect.">
            <a:extLst>
              <a:ext uri="{FF2B5EF4-FFF2-40B4-BE49-F238E27FC236}">
                <a16:creationId xmlns:a16="http://schemas.microsoft.com/office/drawing/2014/main" id="{4AF1D286-4F87-3E48-4462-AFDDD9E94466}"/>
              </a:ext>
            </a:extLst>
          </p:cNvPr>
          <p:cNvPicPr>
            <a:picLocks noChangeAspect="1"/>
          </p:cNvPicPr>
          <p:nvPr/>
        </p:nvPicPr>
        <p:blipFill>
          <a:blip r:embed="rId2"/>
          <a:stretch>
            <a:fillRect/>
          </a:stretch>
        </p:blipFill>
        <p:spPr>
          <a:xfrm>
            <a:off x="1480491" y="1822348"/>
            <a:ext cx="9231013" cy="4439270"/>
          </a:xfrm>
          <a:prstGeom prst="rect">
            <a:avLst/>
          </a:prstGeom>
        </p:spPr>
      </p:pic>
    </p:spTree>
    <p:extLst>
      <p:ext uri="{BB962C8B-B14F-4D97-AF65-F5344CB8AC3E}">
        <p14:creationId xmlns:p14="http://schemas.microsoft.com/office/powerpoint/2010/main" val="33927063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ADB575-138F-05A5-1719-D03AD3D0AC56}"/>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9EDD3ADE-A832-94C0-CD21-41C726C36D02}"/>
              </a:ext>
            </a:extLst>
          </p:cNvPr>
          <p:cNvSpPr>
            <a:spLocks noGrp="1"/>
          </p:cNvSpPr>
          <p:nvPr>
            <p:ph type="title"/>
          </p:nvPr>
        </p:nvSpPr>
        <p:spPr>
          <a:xfrm>
            <a:off x="669896" y="257977"/>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Hybrid  Fusion</a:t>
            </a:r>
          </a:p>
        </p:txBody>
      </p:sp>
      <p:sp>
        <p:nvSpPr>
          <p:cNvPr id="5" name="Espace réservé du numéro de diapositive 4">
            <a:extLst>
              <a:ext uri="{FF2B5EF4-FFF2-40B4-BE49-F238E27FC236}">
                <a16:creationId xmlns:a16="http://schemas.microsoft.com/office/drawing/2014/main" id="{9F9A99F0-374E-0D09-BF80-1BE333CA60C4}"/>
              </a:ext>
            </a:extLst>
          </p:cNvPr>
          <p:cNvSpPr>
            <a:spLocks noGrp="1"/>
          </p:cNvSpPr>
          <p:nvPr>
            <p:ph type="sldNum" sz="quarter" idx="12"/>
          </p:nvPr>
        </p:nvSpPr>
        <p:spPr/>
        <p:txBody>
          <a:bodyPr/>
          <a:lstStyle/>
          <a:p>
            <a:fld id="{BBC07E23-5D66-4BDA-857C-D8615BC30D33}" type="slidenum">
              <a:rPr lang="fr-FR" smtClean="0"/>
              <a:t>12</a:t>
            </a:fld>
            <a:endParaRPr lang="fr-FR"/>
          </a:p>
        </p:txBody>
      </p:sp>
      <p:pic>
        <p:nvPicPr>
          <p:cNvPr id="6" name="Image 5" descr="Une image contenant texte, capture d’écran, chien&#10;&#10;Le contenu généré par l’IA peut être incorrect.">
            <a:extLst>
              <a:ext uri="{FF2B5EF4-FFF2-40B4-BE49-F238E27FC236}">
                <a16:creationId xmlns:a16="http://schemas.microsoft.com/office/drawing/2014/main" id="{18BF3DFB-6C59-F2D6-B1DC-9001D6C9F711}"/>
              </a:ext>
            </a:extLst>
          </p:cNvPr>
          <p:cNvPicPr>
            <a:picLocks noChangeAspect="1"/>
          </p:cNvPicPr>
          <p:nvPr/>
        </p:nvPicPr>
        <p:blipFill>
          <a:blip r:embed="rId3"/>
          <a:stretch>
            <a:fillRect/>
          </a:stretch>
        </p:blipFill>
        <p:spPr>
          <a:xfrm>
            <a:off x="1528123" y="1822348"/>
            <a:ext cx="9135750" cy="4448796"/>
          </a:xfrm>
          <a:prstGeom prst="rect">
            <a:avLst/>
          </a:prstGeom>
        </p:spPr>
      </p:pic>
    </p:spTree>
    <p:extLst>
      <p:ext uri="{BB962C8B-B14F-4D97-AF65-F5344CB8AC3E}">
        <p14:creationId xmlns:p14="http://schemas.microsoft.com/office/powerpoint/2010/main" val="33319814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AEF3DD86-2D5A-9894-9452-C530E63942BF}"/>
              </a:ext>
            </a:extLst>
          </p:cNvPr>
          <p:cNvSpPr>
            <a:spLocks noGrp="1"/>
          </p:cNvSpPr>
          <p:nvPr>
            <p:ph type="title"/>
          </p:nvPr>
        </p:nvSpPr>
        <p:spPr>
          <a:xfrm>
            <a:off x="1383564" y="348865"/>
            <a:ext cx="9718111" cy="1576446"/>
          </a:xfrm>
        </p:spPr>
        <p:txBody>
          <a:bodyPr anchor="ctr">
            <a:normAutofit/>
          </a:bodyPr>
          <a:lstStyle/>
          <a:p>
            <a:r>
              <a:rPr lang="fr-FR" sz="4000" dirty="0">
                <a:solidFill>
                  <a:srgbClr val="FFFFFF"/>
                </a:solidFill>
              </a:rPr>
              <a:t>Technologies de Fusion</a:t>
            </a:r>
          </a:p>
        </p:txBody>
      </p:sp>
      <p:graphicFrame>
        <p:nvGraphicFramePr>
          <p:cNvPr id="5" name="Espace réservé du contenu 2">
            <a:extLst>
              <a:ext uri="{FF2B5EF4-FFF2-40B4-BE49-F238E27FC236}">
                <a16:creationId xmlns:a16="http://schemas.microsoft.com/office/drawing/2014/main" id="{FFC0724E-F78B-1599-0BE3-7BFA9B85D9E1}"/>
              </a:ext>
            </a:extLst>
          </p:cNvPr>
          <p:cNvGraphicFramePr>
            <a:graphicFrameLocks noGrp="1"/>
          </p:cNvGraphicFramePr>
          <p:nvPr>
            <p:ph idx="1"/>
            <p:extLst>
              <p:ext uri="{D42A27DB-BD31-4B8C-83A1-F6EECF244321}">
                <p14:modId xmlns:p14="http://schemas.microsoft.com/office/powerpoint/2010/main" val="2605109461"/>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Espace réservé du numéro de diapositive 3">
            <a:extLst>
              <a:ext uri="{FF2B5EF4-FFF2-40B4-BE49-F238E27FC236}">
                <a16:creationId xmlns:a16="http://schemas.microsoft.com/office/drawing/2014/main" id="{B41B5C15-A131-E598-A156-3BA90FE00DE5}"/>
              </a:ext>
            </a:extLst>
          </p:cNvPr>
          <p:cNvSpPr>
            <a:spLocks noGrp="1"/>
          </p:cNvSpPr>
          <p:nvPr>
            <p:ph type="sldNum" sz="quarter" idx="12"/>
          </p:nvPr>
        </p:nvSpPr>
        <p:spPr/>
        <p:txBody>
          <a:bodyPr/>
          <a:lstStyle/>
          <a:p>
            <a:fld id="{BBC07E23-5D66-4BDA-857C-D8615BC30D33}" type="slidenum">
              <a:rPr lang="fr-FR" smtClean="0"/>
              <a:t>13</a:t>
            </a:fld>
            <a:endParaRPr lang="fr-FR"/>
          </a:p>
        </p:txBody>
      </p:sp>
    </p:spTree>
    <p:extLst>
      <p:ext uri="{BB962C8B-B14F-4D97-AF65-F5344CB8AC3E}">
        <p14:creationId xmlns:p14="http://schemas.microsoft.com/office/powerpoint/2010/main" val="15830895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CD6DD8F-A0FA-BAE5-E36D-E2E238B0F4AE}"/>
              </a:ext>
            </a:extLst>
          </p:cNvPr>
          <p:cNvSpPr>
            <a:spLocks noGrp="1"/>
          </p:cNvSpPr>
          <p:nvPr>
            <p:ph type="title"/>
          </p:nvPr>
        </p:nvSpPr>
        <p:spPr>
          <a:xfrm>
            <a:off x="1136397" y="502020"/>
            <a:ext cx="5323715" cy="1642970"/>
          </a:xfrm>
        </p:spPr>
        <p:txBody>
          <a:bodyPr vert="horz" lIns="91440" tIns="45720" rIns="91440" bIns="45720" rtlCol="0" anchor="b">
            <a:normAutofit/>
          </a:bodyPr>
          <a:lstStyle/>
          <a:p>
            <a:r>
              <a:rPr lang="en-US" sz="4000" kern="1200" dirty="0">
                <a:solidFill>
                  <a:schemeClr val="tx1"/>
                </a:solidFill>
                <a:latin typeface="+mj-lt"/>
                <a:ea typeface="+mj-ea"/>
                <a:cs typeface="+mj-cs"/>
              </a:rPr>
              <a:t>Data Representation:</a:t>
            </a:r>
          </a:p>
        </p:txBody>
      </p:sp>
      <p:sp>
        <p:nvSpPr>
          <p:cNvPr id="6" name="Espace réservé du contenu 2">
            <a:extLst>
              <a:ext uri="{FF2B5EF4-FFF2-40B4-BE49-F238E27FC236}">
                <a16:creationId xmlns:a16="http://schemas.microsoft.com/office/drawing/2014/main" id="{DDC4E616-B944-E50B-DE25-D9491B703713}"/>
              </a:ext>
            </a:extLst>
          </p:cNvPr>
          <p:cNvSpPr txBox="1">
            <a:spLocks/>
          </p:cNvSpPr>
          <p:nvPr/>
        </p:nvSpPr>
        <p:spPr>
          <a:xfrm>
            <a:off x="1144923" y="2405894"/>
            <a:ext cx="5315189" cy="3535083"/>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100" dirty="0"/>
              <a:t>A pour but de réduire l’hétérogénéité entres les modalités.</a:t>
            </a:r>
            <a:r>
              <a:rPr lang="fr-FR" dirty="0"/>
              <a:t> </a:t>
            </a:r>
          </a:p>
          <a:p>
            <a:pPr marL="0" indent="0">
              <a:buNone/>
            </a:pPr>
            <a:r>
              <a:rPr lang="en-US" sz="2000" b="1" dirty="0"/>
              <a:t>Joint Representation:</a:t>
            </a:r>
          </a:p>
          <a:p>
            <a:pPr lvl="1"/>
            <a:r>
              <a:rPr lang="fr-FR" sz="2000" dirty="0"/>
              <a:t>Les modalités sont fusionnées pour produire une représentation unique</a:t>
            </a:r>
            <a:r>
              <a:rPr lang="en-US" sz="2000" dirty="0"/>
              <a:t>.</a:t>
            </a:r>
          </a:p>
          <a:p>
            <a:pPr marL="0" indent="0">
              <a:buNone/>
            </a:pPr>
            <a:r>
              <a:rPr lang="en-US" sz="2000" b="1" dirty="0"/>
              <a:t>Coordinated Representation:</a:t>
            </a:r>
          </a:p>
          <a:p>
            <a:pPr lvl="1"/>
            <a:r>
              <a:rPr lang="fr-FR" sz="2100" dirty="0"/>
              <a:t>Chaque modalité conserve sa propre représentation</a:t>
            </a:r>
            <a:r>
              <a:rPr lang="fr-FR" dirty="0"/>
              <a:t>, </a:t>
            </a:r>
            <a:r>
              <a:rPr lang="fr-FR" sz="2100" dirty="0"/>
              <a:t>mais ces représentations sont alignées grâce à des contraintes d’apprentissage.</a:t>
            </a:r>
            <a:endParaRPr lang="en-US" sz="2100" dirty="0"/>
          </a:p>
        </p:txBody>
      </p:sp>
      <p:sp>
        <p:nvSpPr>
          <p:cNvPr id="23" name="Rectangle 2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Espace réservé du numéro de diapositive 4">
            <a:extLst>
              <a:ext uri="{FF2B5EF4-FFF2-40B4-BE49-F238E27FC236}">
                <a16:creationId xmlns:a16="http://schemas.microsoft.com/office/drawing/2014/main" id="{E5B5B405-90BD-C2B1-9A65-BC8B3610B324}"/>
              </a:ext>
            </a:extLst>
          </p:cNvPr>
          <p:cNvSpPr>
            <a:spLocks noGrp="1"/>
          </p:cNvSpPr>
          <p:nvPr>
            <p:ph type="sldNum" sz="quarter" idx="12"/>
          </p:nvPr>
        </p:nvSpPr>
        <p:spPr/>
        <p:txBody>
          <a:bodyPr/>
          <a:lstStyle/>
          <a:p>
            <a:fld id="{BBC07E23-5D66-4BDA-857C-D8615BC30D33}" type="slidenum">
              <a:rPr lang="fr-FR" smtClean="0"/>
              <a:t>14</a:t>
            </a:fld>
            <a:endParaRPr lang="fr-FR"/>
          </a:p>
        </p:txBody>
      </p:sp>
      <p:pic>
        <p:nvPicPr>
          <p:cNvPr id="9" name="Image 8" descr="Une image contenant texte, capture d’écran, diagramme, Police&#10;&#10;Le contenu généré par l’IA peut être incorrect.">
            <a:extLst>
              <a:ext uri="{FF2B5EF4-FFF2-40B4-BE49-F238E27FC236}">
                <a16:creationId xmlns:a16="http://schemas.microsoft.com/office/drawing/2014/main" id="{F5AC5A39-8449-AFC0-DC3C-F0FBB16DC35E}"/>
              </a:ext>
            </a:extLst>
          </p:cNvPr>
          <p:cNvPicPr>
            <a:picLocks noChangeAspect="1"/>
          </p:cNvPicPr>
          <p:nvPr/>
        </p:nvPicPr>
        <p:blipFill>
          <a:blip r:embed="rId3"/>
          <a:stretch>
            <a:fillRect/>
          </a:stretch>
        </p:blipFill>
        <p:spPr>
          <a:xfrm>
            <a:off x="6250239" y="2241055"/>
            <a:ext cx="5703902" cy="2375889"/>
          </a:xfrm>
          <a:prstGeom prst="rect">
            <a:avLst/>
          </a:prstGeom>
          <a:ln>
            <a:solidFill>
              <a:schemeClr val="tx1"/>
            </a:solidFill>
          </a:ln>
        </p:spPr>
      </p:pic>
    </p:spTree>
    <p:extLst>
      <p:ext uri="{BB962C8B-B14F-4D97-AF65-F5344CB8AC3E}">
        <p14:creationId xmlns:p14="http://schemas.microsoft.com/office/powerpoint/2010/main" val="26665927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61E0936-7215-EDDB-04F9-F4A6D459B9C1}"/>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C506E464-EE80-3B19-C248-BA137623BF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9BF159EF-43B3-7B82-A469-12E933852B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57E5336-A503-72FE-1A4F-0EF5262027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8C563BB5-E562-AFD7-A2E0-E706D2313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0ECB27C2-5EFF-B9D0-34AB-E46AF1AB7C67}"/>
              </a:ext>
            </a:extLst>
          </p:cNvPr>
          <p:cNvSpPr>
            <a:spLocks noGrp="1"/>
          </p:cNvSpPr>
          <p:nvPr>
            <p:ph type="title"/>
          </p:nvPr>
        </p:nvSpPr>
        <p:spPr>
          <a:xfrm>
            <a:off x="669896" y="257977"/>
            <a:ext cx="7063721" cy="1159200"/>
          </a:xfrm>
        </p:spPr>
        <p:txBody>
          <a:bodyPr vert="horz" lIns="91440" tIns="45720" rIns="91440" bIns="45720" rtlCol="0" anchor="ctr">
            <a:normAutofit/>
          </a:bodyPr>
          <a:lstStyle/>
          <a:p>
            <a:r>
              <a:rPr lang="en-US" sz="4000" dirty="0">
                <a:solidFill>
                  <a:schemeClr val="bg1"/>
                </a:solidFill>
              </a:rPr>
              <a:t>Joint Representation</a:t>
            </a:r>
            <a:endParaRPr lang="en-US" sz="4000" kern="1200" dirty="0">
              <a:solidFill>
                <a:schemeClr val="bg1"/>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0B533C1F-36E0-734E-E861-7F589986CF4D}"/>
              </a:ext>
            </a:extLst>
          </p:cNvPr>
          <p:cNvSpPr>
            <a:spLocks noGrp="1"/>
          </p:cNvSpPr>
          <p:nvPr>
            <p:ph type="sldNum" sz="quarter" idx="12"/>
          </p:nvPr>
        </p:nvSpPr>
        <p:spPr/>
        <p:txBody>
          <a:bodyPr/>
          <a:lstStyle/>
          <a:p>
            <a:fld id="{BBC07E23-5D66-4BDA-857C-D8615BC30D33}" type="slidenum">
              <a:rPr lang="fr-FR" smtClean="0"/>
              <a:t>15</a:t>
            </a:fld>
            <a:endParaRPr lang="fr-FR"/>
          </a:p>
        </p:txBody>
      </p:sp>
      <p:sp>
        <p:nvSpPr>
          <p:cNvPr id="12" name="Espace réservé du texte 2">
            <a:extLst>
              <a:ext uri="{FF2B5EF4-FFF2-40B4-BE49-F238E27FC236}">
                <a16:creationId xmlns:a16="http://schemas.microsoft.com/office/drawing/2014/main" id="{95DC18EE-AE51-4143-8E26-7E49E60060B4}"/>
              </a:ext>
            </a:extLst>
          </p:cNvPr>
          <p:cNvSpPr txBox="1">
            <a:spLocks/>
          </p:cNvSpPr>
          <p:nvPr/>
        </p:nvSpPr>
        <p:spPr>
          <a:xfrm>
            <a:off x="839788" y="1681163"/>
            <a:ext cx="5157787" cy="823912"/>
          </a:xfrm>
          <a:prstGeom prst="rect">
            <a:avLst/>
          </a:prstGeom>
          <a:ln>
            <a:solidFill>
              <a:schemeClr val="tx2"/>
            </a:solidFill>
          </a:ln>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u="sng" dirty="0" err="1"/>
              <a:t>Avantages</a:t>
            </a:r>
            <a:r>
              <a:rPr lang="en-US" dirty="0"/>
              <a:t>:</a:t>
            </a:r>
          </a:p>
        </p:txBody>
      </p:sp>
      <p:sp>
        <p:nvSpPr>
          <p:cNvPr id="13" name="Espace réservé du contenu 3">
            <a:extLst>
              <a:ext uri="{FF2B5EF4-FFF2-40B4-BE49-F238E27FC236}">
                <a16:creationId xmlns:a16="http://schemas.microsoft.com/office/drawing/2014/main" id="{161EC5B2-756A-E2D0-0E49-C485453614D4}"/>
              </a:ext>
            </a:extLst>
          </p:cNvPr>
          <p:cNvSpPr txBox="1">
            <a:spLocks/>
          </p:cNvSpPr>
          <p:nvPr/>
        </p:nvSpPr>
        <p:spPr>
          <a:xfrm>
            <a:off x="839788" y="2505075"/>
            <a:ext cx="5157787" cy="3684588"/>
          </a:xfrm>
          <a:prstGeom prst="rect">
            <a:avLst/>
          </a:prstGeom>
          <a:ln>
            <a:solidFill>
              <a:schemeClr val="tx2"/>
            </a:solidFill>
          </a:ln>
        </p:spPr>
        <p:txBody>
          <a:bodyPr>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a:t>Produit un embedding unique, plus facile à exploiter pour une tâche finale.</a:t>
            </a:r>
          </a:p>
          <a:p>
            <a:r>
              <a:rPr lang="fr-FR"/>
              <a:t>Permet de capturer directement les interactions et la complémentarité entre modalités.</a:t>
            </a:r>
          </a:p>
          <a:p>
            <a:r>
              <a:rPr lang="fr-FR"/>
              <a:t>Souvent efficace quand toutes les modalités sont disponibles à l’entraînement et au test.</a:t>
            </a:r>
          </a:p>
          <a:p>
            <a:endParaRPr lang="fr-FR" dirty="0"/>
          </a:p>
        </p:txBody>
      </p:sp>
      <p:sp>
        <p:nvSpPr>
          <p:cNvPr id="14" name="Espace réservé du texte 4">
            <a:extLst>
              <a:ext uri="{FF2B5EF4-FFF2-40B4-BE49-F238E27FC236}">
                <a16:creationId xmlns:a16="http://schemas.microsoft.com/office/drawing/2014/main" id="{06A5DD05-E232-B61E-98C3-B26DBC51BE88}"/>
              </a:ext>
            </a:extLst>
          </p:cNvPr>
          <p:cNvSpPr txBox="1">
            <a:spLocks/>
          </p:cNvSpPr>
          <p:nvPr/>
        </p:nvSpPr>
        <p:spPr>
          <a:xfrm>
            <a:off x="6172200" y="1681163"/>
            <a:ext cx="5183188" cy="823912"/>
          </a:xfrm>
          <a:prstGeom prst="rect">
            <a:avLst/>
          </a:prstGeom>
          <a:ln>
            <a:solidFill>
              <a:schemeClr val="tx2"/>
            </a:solidFill>
          </a:ln>
        </p:spPr>
        <p:txBody>
          <a:bodyPr anchor="ct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u="sng" dirty="0"/>
              <a:t>Désavantages</a:t>
            </a:r>
            <a:r>
              <a:rPr lang="fr-FR" dirty="0"/>
              <a:t>: </a:t>
            </a:r>
          </a:p>
        </p:txBody>
      </p:sp>
      <p:sp>
        <p:nvSpPr>
          <p:cNvPr id="15" name="Espace réservé du contenu 5">
            <a:extLst>
              <a:ext uri="{FF2B5EF4-FFF2-40B4-BE49-F238E27FC236}">
                <a16:creationId xmlns:a16="http://schemas.microsoft.com/office/drawing/2014/main" id="{AE321B69-3DDE-7FA3-83C2-E2A4C98C039A}"/>
              </a:ext>
            </a:extLst>
          </p:cNvPr>
          <p:cNvSpPr txBox="1">
            <a:spLocks/>
          </p:cNvSpPr>
          <p:nvPr/>
        </p:nvSpPr>
        <p:spPr>
          <a:xfrm>
            <a:off x="6172200" y="2505075"/>
            <a:ext cx="5183188" cy="3684588"/>
          </a:xfrm>
          <a:prstGeom prst="rect">
            <a:avLst/>
          </a:prstGeom>
          <a:ln>
            <a:solidFill>
              <a:schemeClr val="tx2"/>
            </a:solidFill>
          </a:ln>
        </p:spPr>
        <p:txBody>
          <a:bodyPr>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a:t>Risque de perdre la spécificité de chaque modalité.</a:t>
            </a:r>
          </a:p>
          <a:p>
            <a:r>
              <a:rPr lang="fr-FR"/>
              <a:t>Plus sensible aux modalités manquantes.</a:t>
            </a:r>
          </a:p>
          <a:p>
            <a:r>
              <a:rPr lang="fr-FR"/>
              <a:t>La fusion peut introduire du bruit ou de la redondance si elle est mal contrôlée.</a:t>
            </a:r>
          </a:p>
          <a:p>
            <a:r>
              <a:rPr lang="fr-FR"/>
              <a:t>Peut nécessiter beaucoup de données pour apprendre une représentation commune stable.</a:t>
            </a:r>
          </a:p>
          <a:p>
            <a:endParaRPr lang="fr-FR" dirty="0"/>
          </a:p>
        </p:txBody>
      </p:sp>
    </p:spTree>
    <p:extLst>
      <p:ext uri="{BB962C8B-B14F-4D97-AF65-F5344CB8AC3E}">
        <p14:creationId xmlns:p14="http://schemas.microsoft.com/office/powerpoint/2010/main" val="30122270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F9DC746-F57F-1224-B208-A785154FC0B8}"/>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59F3952C-2089-82FC-DBAD-49FA3A5012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93C838D-FC72-6A58-4B73-21832A9547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9E2A7E06-CABB-8D9C-5788-D6D220BCD8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8E4266A6-2818-1791-89D2-301AE38A0C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18F1DC40-E215-3969-98BB-75EE44D8C179}"/>
              </a:ext>
            </a:extLst>
          </p:cNvPr>
          <p:cNvSpPr>
            <a:spLocks noGrp="1"/>
          </p:cNvSpPr>
          <p:nvPr>
            <p:ph type="title"/>
          </p:nvPr>
        </p:nvSpPr>
        <p:spPr>
          <a:xfrm>
            <a:off x="669896" y="257977"/>
            <a:ext cx="7063721" cy="1159200"/>
          </a:xfrm>
        </p:spPr>
        <p:txBody>
          <a:bodyPr vert="horz" lIns="91440" tIns="45720" rIns="91440" bIns="45720" rtlCol="0" anchor="ctr">
            <a:normAutofit/>
          </a:bodyPr>
          <a:lstStyle/>
          <a:p>
            <a:r>
              <a:rPr lang="en-US" sz="4000" dirty="0">
                <a:solidFill>
                  <a:schemeClr val="bg1"/>
                </a:solidFill>
              </a:rPr>
              <a:t>Coordinated Representation</a:t>
            </a:r>
            <a:endParaRPr lang="en-US" sz="4000" kern="1200" dirty="0">
              <a:solidFill>
                <a:schemeClr val="bg1"/>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EFB51000-AB07-24B5-BE77-4B3A1C2A749A}"/>
              </a:ext>
            </a:extLst>
          </p:cNvPr>
          <p:cNvSpPr>
            <a:spLocks noGrp="1"/>
          </p:cNvSpPr>
          <p:nvPr>
            <p:ph type="sldNum" sz="quarter" idx="12"/>
          </p:nvPr>
        </p:nvSpPr>
        <p:spPr/>
        <p:txBody>
          <a:bodyPr/>
          <a:lstStyle/>
          <a:p>
            <a:fld id="{BBC07E23-5D66-4BDA-857C-D8615BC30D33}" type="slidenum">
              <a:rPr lang="fr-FR" smtClean="0"/>
              <a:t>16</a:t>
            </a:fld>
            <a:endParaRPr lang="fr-FR"/>
          </a:p>
        </p:txBody>
      </p:sp>
      <p:sp>
        <p:nvSpPr>
          <p:cNvPr id="7" name="Espace réservé du texte 2">
            <a:extLst>
              <a:ext uri="{FF2B5EF4-FFF2-40B4-BE49-F238E27FC236}">
                <a16:creationId xmlns:a16="http://schemas.microsoft.com/office/drawing/2014/main" id="{8C759CA9-CA37-603D-BD57-546CA534CE70}"/>
              </a:ext>
            </a:extLst>
          </p:cNvPr>
          <p:cNvSpPr txBox="1">
            <a:spLocks/>
          </p:cNvSpPr>
          <p:nvPr/>
        </p:nvSpPr>
        <p:spPr>
          <a:xfrm>
            <a:off x="836612" y="1681163"/>
            <a:ext cx="5157787" cy="823912"/>
          </a:xfrm>
          <a:prstGeom prst="rect">
            <a:avLst/>
          </a:prstGeom>
          <a:ln>
            <a:solidFill>
              <a:schemeClr val="tx2"/>
            </a:solidFill>
          </a:ln>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u="sng" dirty="0" err="1"/>
              <a:t>Avantages</a:t>
            </a:r>
            <a:r>
              <a:rPr lang="en-US" dirty="0"/>
              <a:t>:</a:t>
            </a:r>
          </a:p>
        </p:txBody>
      </p:sp>
      <p:sp>
        <p:nvSpPr>
          <p:cNvPr id="8" name="Espace réservé du contenu 3">
            <a:extLst>
              <a:ext uri="{FF2B5EF4-FFF2-40B4-BE49-F238E27FC236}">
                <a16:creationId xmlns:a16="http://schemas.microsoft.com/office/drawing/2014/main" id="{3707EE75-31F9-D0C1-7F26-B36DA132C751}"/>
              </a:ext>
            </a:extLst>
          </p:cNvPr>
          <p:cNvSpPr txBox="1">
            <a:spLocks/>
          </p:cNvSpPr>
          <p:nvPr/>
        </p:nvSpPr>
        <p:spPr>
          <a:xfrm>
            <a:off x="836612" y="2505075"/>
            <a:ext cx="5157787" cy="3684588"/>
          </a:xfrm>
          <a:prstGeom prst="rect">
            <a:avLst/>
          </a:prstGeom>
          <a:ln>
            <a:solidFill>
              <a:schemeClr val="tx2"/>
            </a:solidFill>
          </a:ln>
        </p:spPr>
        <p:txBody>
          <a:bodyPr>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Garde une représentation par modalité, chaque modalité conserve ses informations propres.</a:t>
            </a:r>
          </a:p>
          <a:p>
            <a:r>
              <a:rPr lang="fr-FR" dirty="0"/>
              <a:t>Permet d’aligner les modalités via des contraintes</a:t>
            </a:r>
          </a:p>
          <a:p>
            <a:r>
              <a:rPr lang="fr-FR" dirty="0"/>
              <a:t>Très utile quand une seule modalité est disponible au test.</a:t>
            </a:r>
          </a:p>
          <a:p>
            <a:r>
              <a:rPr lang="fr-FR" dirty="0"/>
              <a:t>Favorise le transfert cross-modal.</a:t>
            </a:r>
          </a:p>
          <a:p>
            <a:endParaRPr lang="fr-FR" dirty="0"/>
          </a:p>
        </p:txBody>
      </p:sp>
      <p:sp>
        <p:nvSpPr>
          <p:cNvPr id="9" name="Espace réservé du texte 4">
            <a:extLst>
              <a:ext uri="{FF2B5EF4-FFF2-40B4-BE49-F238E27FC236}">
                <a16:creationId xmlns:a16="http://schemas.microsoft.com/office/drawing/2014/main" id="{5CB5BD66-2660-0195-AF46-E68337738AC9}"/>
              </a:ext>
            </a:extLst>
          </p:cNvPr>
          <p:cNvSpPr txBox="1">
            <a:spLocks/>
          </p:cNvSpPr>
          <p:nvPr/>
        </p:nvSpPr>
        <p:spPr>
          <a:xfrm>
            <a:off x="6169024" y="1681163"/>
            <a:ext cx="5183188" cy="823912"/>
          </a:xfrm>
          <a:prstGeom prst="rect">
            <a:avLst/>
          </a:prstGeom>
          <a:ln>
            <a:solidFill>
              <a:schemeClr val="tx2"/>
            </a:solidFill>
          </a:ln>
        </p:spPr>
        <p:txBody>
          <a:bodyPr anchor="ct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fr-FR" u="sng" dirty="0"/>
              <a:t>Désavantages</a:t>
            </a:r>
            <a:r>
              <a:rPr lang="fr-FR" dirty="0"/>
              <a:t>: </a:t>
            </a:r>
          </a:p>
        </p:txBody>
      </p:sp>
      <p:sp>
        <p:nvSpPr>
          <p:cNvPr id="10" name="Espace réservé du contenu 5">
            <a:extLst>
              <a:ext uri="{FF2B5EF4-FFF2-40B4-BE49-F238E27FC236}">
                <a16:creationId xmlns:a16="http://schemas.microsoft.com/office/drawing/2014/main" id="{B0A33E5A-8F75-AFA7-92D0-975FE7CFB8D3}"/>
              </a:ext>
            </a:extLst>
          </p:cNvPr>
          <p:cNvSpPr txBox="1">
            <a:spLocks/>
          </p:cNvSpPr>
          <p:nvPr/>
        </p:nvSpPr>
        <p:spPr>
          <a:xfrm>
            <a:off x="6172200" y="2505075"/>
            <a:ext cx="5183188" cy="3684588"/>
          </a:xfrm>
          <a:prstGeom prst="rect">
            <a:avLst/>
          </a:prstGeom>
          <a:ln>
            <a:solidFill>
              <a:schemeClr val="tx2"/>
            </a:solidFill>
          </a:ln>
        </p:spPr>
        <p:txBody>
          <a:bodyPr>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a:t>L’alignement peut être difficile à apprendre si les modalités sont très différentes ou bruitées.</a:t>
            </a:r>
          </a:p>
          <a:p>
            <a:r>
              <a:rPr lang="fr-FR"/>
              <a:t>La qualité dépend fortement de la contrainte choisie.</a:t>
            </a:r>
          </a:p>
          <a:p>
            <a:r>
              <a:rPr lang="fr-FR"/>
              <a:t>Peut-être moins efficace si l’objectif est une décision finale unique.</a:t>
            </a:r>
          </a:p>
          <a:p>
            <a:r>
              <a:rPr lang="fr-FR"/>
              <a:t>Devient plus complexe quand tu as beaucoup de modalités.</a:t>
            </a:r>
          </a:p>
          <a:p>
            <a:endParaRPr lang="fr-FR" dirty="0"/>
          </a:p>
        </p:txBody>
      </p:sp>
    </p:spTree>
    <p:extLst>
      <p:ext uri="{BB962C8B-B14F-4D97-AF65-F5344CB8AC3E}">
        <p14:creationId xmlns:p14="http://schemas.microsoft.com/office/powerpoint/2010/main" val="33923879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CDC6D9FA-C277-77E7-D65A-B17143F45FB4}"/>
              </a:ext>
            </a:extLst>
          </p:cNvPr>
          <p:cNvSpPr>
            <a:spLocks noGrp="1"/>
          </p:cNvSpPr>
          <p:nvPr>
            <p:ph type="title"/>
          </p:nvPr>
        </p:nvSpPr>
        <p:spPr>
          <a:xfrm>
            <a:off x="826396" y="586855"/>
            <a:ext cx="4230100"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Data Translation</a:t>
            </a:r>
          </a:p>
        </p:txBody>
      </p:sp>
      <p:sp>
        <p:nvSpPr>
          <p:cNvPr id="5" name="ZoneTexte 4">
            <a:extLst>
              <a:ext uri="{FF2B5EF4-FFF2-40B4-BE49-F238E27FC236}">
                <a16:creationId xmlns:a16="http://schemas.microsoft.com/office/drawing/2014/main" id="{D7F56C88-046F-D9E7-8BD4-4BA82279F704}"/>
              </a:ext>
            </a:extLst>
          </p:cNvPr>
          <p:cNvSpPr txBox="1"/>
          <p:nvPr/>
        </p:nvSpPr>
        <p:spPr>
          <a:xfrm>
            <a:off x="6503158" y="649480"/>
            <a:ext cx="4862447" cy="5546047"/>
          </a:xfrm>
          <a:prstGeom prst="rect">
            <a:avLst/>
          </a:prstGeom>
        </p:spPr>
        <p:txBody>
          <a:bodyPr vert="horz" lIns="91440" tIns="45720" rIns="91440" bIns="45720" rtlCol="0" anchor="ctr">
            <a:normAutofit/>
          </a:bodyPr>
          <a:lstStyle/>
          <a:p>
            <a:pPr>
              <a:lnSpc>
                <a:spcPct val="90000"/>
              </a:lnSpc>
              <a:spcAft>
                <a:spcPts val="600"/>
              </a:spcAft>
            </a:pPr>
            <a:r>
              <a:rPr lang="en-US" sz="2000" dirty="0">
                <a:effectLst/>
              </a:rPr>
              <a:t>En multimodal, la data translation </a:t>
            </a:r>
            <a:r>
              <a:rPr lang="en-US" sz="2000" dirty="0" err="1">
                <a:effectLst/>
              </a:rPr>
              <a:t>désigne</a:t>
            </a:r>
            <a:r>
              <a:rPr lang="en-US" sz="2000" dirty="0">
                <a:effectLst/>
              </a:rPr>
              <a:t> le fait de </a:t>
            </a:r>
            <a:r>
              <a:rPr lang="en-US" sz="2000" dirty="0" err="1">
                <a:effectLst/>
              </a:rPr>
              <a:t>convertire</a:t>
            </a:r>
            <a:r>
              <a:rPr lang="en-US" sz="2000" dirty="0">
                <a:effectLst/>
              </a:rPr>
              <a:t> </a:t>
            </a:r>
            <a:r>
              <a:rPr lang="en-US" sz="2000" dirty="0" err="1">
                <a:effectLst/>
              </a:rPr>
              <a:t>une</a:t>
            </a:r>
            <a:r>
              <a:rPr lang="en-US" sz="2000" dirty="0">
                <a:effectLst/>
              </a:rPr>
              <a:t> </a:t>
            </a:r>
            <a:r>
              <a:rPr lang="en-US" sz="2000" dirty="0" err="1">
                <a:effectLst/>
              </a:rPr>
              <a:t>modalité</a:t>
            </a:r>
            <a:r>
              <a:rPr lang="en-US" sz="2000" dirty="0">
                <a:effectLst/>
              </a:rPr>
              <a:t> vers </a:t>
            </a:r>
            <a:r>
              <a:rPr lang="en-US" sz="2000" dirty="0" err="1">
                <a:effectLst/>
              </a:rPr>
              <a:t>une</a:t>
            </a:r>
            <a:r>
              <a:rPr lang="en-US" sz="2000" dirty="0">
                <a:effectLst/>
              </a:rPr>
              <a:t> </a:t>
            </a:r>
            <a:r>
              <a:rPr lang="en-US" sz="2000" dirty="0" err="1">
                <a:effectLst/>
              </a:rPr>
              <a:t>autre</a:t>
            </a:r>
            <a:r>
              <a:rPr lang="en-US" sz="2000" dirty="0"/>
              <a:t>, </a:t>
            </a:r>
            <a:r>
              <a:rPr lang="en-US" sz="2000" dirty="0" err="1">
                <a:effectLst/>
              </a:rPr>
              <a:t>ou</a:t>
            </a:r>
            <a:r>
              <a:rPr lang="en-US" sz="2000" dirty="0">
                <a:effectLst/>
              </a:rPr>
              <a:t> vers </a:t>
            </a:r>
            <a:r>
              <a:rPr lang="en-US" sz="2000" dirty="0" err="1">
                <a:effectLst/>
              </a:rPr>
              <a:t>une</a:t>
            </a:r>
            <a:r>
              <a:rPr lang="en-US" sz="2000" dirty="0">
                <a:effectLst/>
              </a:rPr>
              <a:t> </a:t>
            </a:r>
            <a:r>
              <a:rPr lang="en-US" sz="2000" dirty="0" err="1">
                <a:effectLst/>
              </a:rPr>
              <a:t>représentation</a:t>
            </a:r>
            <a:r>
              <a:rPr lang="en-US" sz="2000" dirty="0">
                <a:effectLst/>
              </a:rPr>
              <a:t> commune, tout </a:t>
            </a:r>
            <a:r>
              <a:rPr lang="en-US" sz="2000" dirty="0" err="1">
                <a:effectLst/>
              </a:rPr>
              <a:t>en</a:t>
            </a:r>
            <a:r>
              <a:rPr lang="en-US" sz="2000" dirty="0">
                <a:effectLst/>
              </a:rPr>
              <a:t> </a:t>
            </a:r>
            <a:r>
              <a:rPr lang="en-US" sz="2000" dirty="0" err="1">
                <a:effectLst/>
              </a:rPr>
              <a:t>conservant</a:t>
            </a:r>
            <a:r>
              <a:rPr lang="en-US" sz="2000" dirty="0">
                <a:effectLst/>
              </a:rPr>
              <a:t> au </a:t>
            </a:r>
            <a:r>
              <a:rPr lang="en-US" sz="2000" dirty="0" err="1">
                <a:effectLst/>
              </a:rPr>
              <a:t>mieux</a:t>
            </a:r>
            <a:r>
              <a:rPr lang="en-US" sz="2000" dirty="0">
                <a:effectLst/>
              </a:rPr>
              <a:t> le </a:t>
            </a:r>
            <a:r>
              <a:rPr lang="en-US" sz="2000" dirty="0" err="1">
                <a:effectLst/>
              </a:rPr>
              <a:t>sens</a:t>
            </a:r>
            <a:r>
              <a:rPr lang="en-US" sz="2000" dirty="0">
                <a:effectLst/>
              </a:rPr>
              <a:t>, la structure et les </a:t>
            </a:r>
            <a:r>
              <a:rPr lang="en-US" sz="2000" dirty="0" err="1">
                <a:effectLst/>
              </a:rPr>
              <a:t>contraintes</a:t>
            </a:r>
            <a:r>
              <a:rPr lang="en-US" sz="2000" dirty="0">
                <a:effectLst/>
              </a:rPr>
              <a:t> </a:t>
            </a:r>
            <a:r>
              <a:rPr lang="en-US" sz="2000" dirty="0" err="1">
                <a:effectLst/>
              </a:rPr>
              <a:t>utiles</a:t>
            </a:r>
            <a:r>
              <a:rPr lang="en-US" sz="2000" dirty="0">
                <a:effectLst/>
              </a:rPr>
              <a:t> pour </a:t>
            </a:r>
            <a:r>
              <a:rPr lang="en-US" sz="2000" dirty="0"/>
              <a:t>le </a:t>
            </a:r>
            <a:r>
              <a:rPr lang="en-US" sz="2000" dirty="0" err="1"/>
              <a:t>modéle</a:t>
            </a:r>
            <a:r>
              <a:rPr lang="en-US" sz="2000" dirty="0">
                <a:effectLst/>
              </a:rPr>
              <a:t>. </a:t>
            </a:r>
            <a:endParaRPr lang="en-US" sz="2000" dirty="0"/>
          </a:p>
        </p:txBody>
      </p:sp>
      <p:sp>
        <p:nvSpPr>
          <p:cNvPr id="4" name="Espace réservé du numéro de diapositive 3">
            <a:extLst>
              <a:ext uri="{FF2B5EF4-FFF2-40B4-BE49-F238E27FC236}">
                <a16:creationId xmlns:a16="http://schemas.microsoft.com/office/drawing/2014/main" id="{0304715F-64A9-2798-4B43-0A182CEEB0B0}"/>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17</a:t>
            </a:fld>
            <a:endParaRPr lang="en-US" sz="1100">
              <a:solidFill>
                <a:schemeClr val="tx1">
                  <a:lumMod val="50000"/>
                  <a:lumOff val="50000"/>
                </a:schemeClr>
              </a:solidFill>
            </a:endParaRPr>
          </a:p>
        </p:txBody>
      </p:sp>
    </p:spTree>
    <p:extLst>
      <p:ext uri="{BB962C8B-B14F-4D97-AF65-F5344CB8AC3E}">
        <p14:creationId xmlns:p14="http://schemas.microsoft.com/office/powerpoint/2010/main" val="2436435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7114078D-1DDF-AB97-041B-1AA6E3B17085}"/>
              </a:ext>
            </a:extLst>
          </p:cNvPr>
          <p:cNvSpPr>
            <a:spLocks noGrp="1"/>
          </p:cNvSpPr>
          <p:nvPr>
            <p:ph type="title"/>
          </p:nvPr>
        </p:nvSpPr>
        <p:spPr>
          <a:xfrm>
            <a:off x="459346" y="278535"/>
            <a:ext cx="9895951" cy="1033669"/>
          </a:xfrm>
        </p:spPr>
        <p:txBody>
          <a:bodyPr>
            <a:normAutofit/>
          </a:bodyPr>
          <a:lstStyle/>
          <a:p>
            <a:r>
              <a:rPr lang="fr-FR" sz="4000" dirty="0">
                <a:solidFill>
                  <a:srgbClr val="FFFFFF"/>
                </a:solidFill>
              </a:rPr>
              <a:t>Exemple de Translation</a:t>
            </a:r>
          </a:p>
        </p:txBody>
      </p:sp>
      <p:sp>
        <p:nvSpPr>
          <p:cNvPr id="3" name="Espace réservé du contenu 2">
            <a:extLst>
              <a:ext uri="{FF2B5EF4-FFF2-40B4-BE49-F238E27FC236}">
                <a16:creationId xmlns:a16="http://schemas.microsoft.com/office/drawing/2014/main" id="{42EB4FA1-5664-3F22-2B3F-2710D9993C26}"/>
              </a:ext>
            </a:extLst>
          </p:cNvPr>
          <p:cNvSpPr>
            <a:spLocks noGrp="1"/>
          </p:cNvSpPr>
          <p:nvPr>
            <p:ph idx="1"/>
          </p:nvPr>
        </p:nvSpPr>
        <p:spPr>
          <a:xfrm>
            <a:off x="1371599" y="2318197"/>
            <a:ext cx="9724031" cy="3683358"/>
          </a:xfrm>
        </p:spPr>
        <p:txBody>
          <a:bodyPr anchor="ctr">
            <a:normAutofit/>
          </a:bodyPr>
          <a:lstStyle/>
          <a:p>
            <a:pPr marL="0" indent="0">
              <a:buNone/>
            </a:pPr>
            <a:r>
              <a:rPr lang="fr-FR" dirty="0"/>
              <a:t>Exemples typiques :</a:t>
            </a:r>
          </a:p>
          <a:p>
            <a:pPr lvl="1"/>
            <a:r>
              <a:rPr lang="fr-FR" i="1" dirty="0"/>
              <a:t>Image → texte</a:t>
            </a:r>
            <a:r>
              <a:rPr lang="fr-FR" dirty="0"/>
              <a:t> : OCR</a:t>
            </a:r>
          </a:p>
          <a:p>
            <a:pPr lvl="1"/>
            <a:r>
              <a:rPr lang="fr-FR" i="1" dirty="0"/>
              <a:t>Audio → texte</a:t>
            </a:r>
            <a:r>
              <a:rPr lang="fr-FR" dirty="0"/>
              <a:t> : transcription</a:t>
            </a:r>
          </a:p>
          <a:p>
            <a:pPr lvl="1"/>
            <a:r>
              <a:rPr lang="fr-FR" i="1" dirty="0"/>
              <a:t>Vidéo → texte</a:t>
            </a:r>
            <a:r>
              <a:rPr lang="fr-FR" dirty="0"/>
              <a:t> : résumé / description d’actions</a:t>
            </a:r>
          </a:p>
          <a:p>
            <a:pPr lvl="1"/>
            <a:r>
              <a:rPr lang="fr-FR" i="1" dirty="0"/>
              <a:t>Texte → image</a:t>
            </a:r>
            <a:r>
              <a:rPr lang="fr-FR" dirty="0"/>
              <a:t> : génération</a:t>
            </a:r>
          </a:p>
          <a:p>
            <a:endParaRPr lang="fr-FR" sz="2000" dirty="0"/>
          </a:p>
        </p:txBody>
      </p:sp>
      <p:sp>
        <p:nvSpPr>
          <p:cNvPr id="4" name="Espace réservé du numéro de diapositive 3">
            <a:extLst>
              <a:ext uri="{FF2B5EF4-FFF2-40B4-BE49-F238E27FC236}">
                <a16:creationId xmlns:a16="http://schemas.microsoft.com/office/drawing/2014/main" id="{E3FBD95A-5712-330E-7A4B-44A7E998A738}"/>
              </a:ext>
            </a:extLst>
          </p:cNvPr>
          <p:cNvSpPr>
            <a:spLocks noGrp="1"/>
          </p:cNvSpPr>
          <p:nvPr>
            <p:ph type="sldNum" sz="quarter" idx="12"/>
          </p:nvPr>
        </p:nvSpPr>
        <p:spPr>
          <a:xfrm>
            <a:off x="11704320" y="6455431"/>
            <a:ext cx="445913"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18</a:t>
            </a:fld>
            <a:endParaRPr lang="fr-FR" sz="1100">
              <a:solidFill>
                <a:schemeClr val="tx1">
                  <a:lumMod val="50000"/>
                  <a:lumOff val="50000"/>
                </a:schemeClr>
              </a:solidFill>
            </a:endParaRPr>
          </a:p>
        </p:txBody>
      </p:sp>
    </p:spTree>
    <p:extLst>
      <p:ext uri="{BB962C8B-B14F-4D97-AF65-F5344CB8AC3E}">
        <p14:creationId xmlns:p14="http://schemas.microsoft.com/office/powerpoint/2010/main" val="17756907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CF1E377C-B493-3EAC-F9A5-9B44BBB340F5}"/>
              </a:ext>
            </a:extLst>
          </p:cNvPr>
          <p:cNvSpPr>
            <a:spLocks noGrp="1"/>
          </p:cNvSpPr>
          <p:nvPr>
            <p:ph type="title"/>
          </p:nvPr>
        </p:nvSpPr>
        <p:spPr>
          <a:xfrm>
            <a:off x="826396" y="586855"/>
            <a:ext cx="4230100" cy="3387497"/>
          </a:xfrm>
        </p:spPr>
        <p:txBody>
          <a:bodyPr anchor="b">
            <a:normAutofit/>
          </a:bodyPr>
          <a:lstStyle/>
          <a:p>
            <a:pPr algn="r"/>
            <a:r>
              <a:rPr lang="en-US" sz="4000" dirty="0">
                <a:solidFill>
                  <a:srgbClr val="FFFFFF"/>
                </a:solidFill>
              </a:rPr>
              <a:t>Data Alignment</a:t>
            </a:r>
            <a:endParaRPr lang="fr-FR" sz="4000" dirty="0">
              <a:solidFill>
                <a:srgbClr val="FFFFFF"/>
              </a:solidFill>
            </a:endParaRPr>
          </a:p>
        </p:txBody>
      </p:sp>
      <p:sp>
        <p:nvSpPr>
          <p:cNvPr id="3" name="Espace réservé du contenu 2">
            <a:extLst>
              <a:ext uri="{FF2B5EF4-FFF2-40B4-BE49-F238E27FC236}">
                <a16:creationId xmlns:a16="http://schemas.microsoft.com/office/drawing/2014/main" id="{662B3776-4373-575D-E746-1882F87EBFD9}"/>
              </a:ext>
            </a:extLst>
          </p:cNvPr>
          <p:cNvSpPr>
            <a:spLocks noGrp="1"/>
          </p:cNvSpPr>
          <p:nvPr>
            <p:ph idx="1"/>
          </p:nvPr>
        </p:nvSpPr>
        <p:spPr>
          <a:xfrm>
            <a:off x="6503158" y="649480"/>
            <a:ext cx="4862447" cy="5546047"/>
          </a:xfrm>
        </p:spPr>
        <p:txBody>
          <a:bodyPr anchor="ctr">
            <a:normAutofit/>
          </a:bodyPr>
          <a:lstStyle/>
          <a:p>
            <a:pPr marL="0" indent="0">
              <a:buNone/>
            </a:pPr>
            <a:r>
              <a:rPr lang="es-AR" sz="2000" dirty="0"/>
              <a:t>Le data </a:t>
            </a:r>
            <a:r>
              <a:rPr lang="es-AR" sz="2000" dirty="0" err="1"/>
              <a:t>alignment</a:t>
            </a:r>
            <a:r>
              <a:rPr lang="es-AR" sz="2000" dirty="0"/>
              <a:t> consiste à </a:t>
            </a:r>
            <a:r>
              <a:rPr lang="es-AR" sz="2000" dirty="0" err="1"/>
              <a:t>identifier</a:t>
            </a:r>
            <a:r>
              <a:rPr lang="es-AR" sz="2000" dirty="0"/>
              <a:t> et </a:t>
            </a:r>
            <a:r>
              <a:rPr lang="es-AR" sz="2000" dirty="0" err="1"/>
              <a:t>établir</a:t>
            </a:r>
            <a:r>
              <a:rPr lang="es-AR" sz="2000" dirty="0"/>
              <a:t> des </a:t>
            </a:r>
            <a:r>
              <a:rPr lang="es-AR" sz="2000" dirty="0" err="1"/>
              <a:t>correspondances</a:t>
            </a:r>
            <a:r>
              <a:rPr lang="es-AR" sz="2000" dirty="0"/>
              <a:t> entre des </a:t>
            </a:r>
            <a:r>
              <a:rPr lang="es-AR" sz="2000" dirty="0" err="1"/>
              <a:t>éléments</a:t>
            </a:r>
            <a:r>
              <a:rPr lang="es-AR" sz="2000" dirty="0"/>
              <a:t> </a:t>
            </a:r>
            <a:r>
              <a:rPr lang="es-AR" sz="2000" dirty="0" err="1"/>
              <a:t>issus</a:t>
            </a:r>
            <a:r>
              <a:rPr lang="es-AR" sz="2000" dirty="0"/>
              <a:t> de </a:t>
            </a:r>
            <a:r>
              <a:rPr lang="es-AR" sz="2000" dirty="0" err="1"/>
              <a:t>différentes</a:t>
            </a:r>
            <a:r>
              <a:rPr lang="es-AR" sz="2000" dirty="0"/>
              <a:t> </a:t>
            </a:r>
            <a:r>
              <a:rPr lang="es-AR" sz="2000" dirty="0" err="1"/>
              <a:t>modalités</a:t>
            </a:r>
            <a:r>
              <a:rPr lang="es-AR" sz="2000" dirty="0"/>
              <a:t>. </a:t>
            </a:r>
            <a:r>
              <a:rPr lang="es-AR" sz="2000" dirty="0" err="1"/>
              <a:t>Il</a:t>
            </a:r>
            <a:r>
              <a:rPr lang="es-AR" sz="2000" dirty="0"/>
              <a:t> vise à </a:t>
            </a:r>
            <a:r>
              <a:rPr lang="es-AR" sz="2000" dirty="0" err="1"/>
              <a:t>aligner</a:t>
            </a:r>
            <a:r>
              <a:rPr lang="es-AR" sz="2000" dirty="0"/>
              <a:t> ces </a:t>
            </a:r>
            <a:r>
              <a:rPr lang="es-AR" sz="2000" dirty="0" err="1"/>
              <a:t>informations</a:t>
            </a:r>
            <a:r>
              <a:rPr lang="es-AR" sz="2000" dirty="0"/>
              <a:t> </a:t>
            </a:r>
            <a:r>
              <a:rPr lang="es-AR" sz="2000" dirty="0" err="1"/>
              <a:t>dans</a:t>
            </a:r>
            <a:r>
              <a:rPr lang="es-AR" sz="2000" dirty="0"/>
              <a:t> le </a:t>
            </a:r>
            <a:r>
              <a:rPr lang="es-AR" sz="2000" dirty="0" err="1"/>
              <a:t>temps</a:t>
            </a:r>
            <a:r>
              <a:rPr lang="es-AR" sz="2000" dirty="0"/>
              <a:t> et </a:t>
            </a:r>
            <a:r>
              <a:rPr lang="es-AR" sz="2000" dirty="0" err="1"/>
              <a:t>ou</a:t>
            </a:r>
            <a:r>
              <a:rPr lang="es-AR" sz="2000" dirty="0"/>
              <a:t> </a:t>
            </a:r>
            <a:r>
              <a:rPr lang="es-AR" sz="2000" dirty="0" err="1"/>
              <a:t>dans</a:t>
            </a:r>
            <a:r>
              <a:rPr lang="es-AR" sz="2000" dirty="0"/>
              <a:t> </a:t>
            </a:r>
            <a:r>
              <a:rPr lang="es-AR" sz="2000" dirty="0" err="1"/>
              <a:t>l’espace</a:t>
            </a:r>
            <a:r>
              <a:rPr lang="es-AR" sz="2000" dirty="0"/>
              <a:t>, </a:t>
            </a:r>
            <a:r>
              <a:rPr lang="es-AR" sz="2000" dirty="0" err="1"/>
              <a:t>afin</a:t>
            </a:r>
            <a:r>
              <a:rPr lang="es-AR" sz="2000" dirty="0"/>
              <a:t> de garantir une mise en </a:t>
            </a:r>
            <a:r>
              <a:rPr lang="es-AR" sz="2000" dirty="0" err="1"/>
              <a:t>relation</a:t>
            </a:r>
            <a:r>
              <a:rPr lang="es-AR" sz="2000" dirty="0"/>
              <a:t> </a:t>
            </a:r>
            <a:r>
              <a:rPr lang="es-AR" sz="2000" dirty="0" err="1"/>
              <a:t>cohérente</a:t>
            </a:r>
            <a:r>
              <a:rPr lang="es-AR" sz="2000" dirty="0"/>
              <a:t> et un </a:t>
            </a:r>
            <a:r>
              <a:rPr lang="es-AR" sz="2000" dirty="0" err="1"/>
              <a:t>partage</a:t>
            </a:r>
            <a:r>
              <a:rPr lang="es-AR" sz="2000" dirty="0"/>
              <a:t> </a:t>
            </a:r>
            <a:r>
              <a:rPr lang="es-AR" sz="2000" dirty="0" err="1"/>
              <a:t>pertinent</a:t>
            </a:r>
            <a:r>
              <a:rPr lang="es-AR" sz="2000" dirty="0"/>
              <a:t> de </a:t>
            </a:r>
            <a:r>
              <a:rPr lang="es-AR" sz="2000" dirty="0" err="1"/>
              <a:t>l’information</a:t>
            </a:r>
            <a:r>
              <a:rPr lang="es-AR" sz="2000" dirty="0"/>
              <a:t> entre les </a:t>
            </a:r>
            <a:r>
              <a:rPr lang="es-AR" sz="2000" dirty="0" err="1"/>
              <a:t>modalités</a:t>
            </a:r>
            <a:r>
              <a:rPr lang="es-AR" sz="2000" dirty="0"/>
              <a:t>.</a:t>
            </a:r>
            <a:endParaRPr lang="fr-FR" sz="2000" dirty="0"/>
          </a:p>
          <a:p>
            <a:endParaRPr lang="fr-FR" sz="2000" dirty="0"/>
          </a:p>
        </p:txBody>
      </p:sp>
      <p:sp>
        <p:nvSpPr>
          <p:cNvPr id="4" name="Espace réservé du numéro de diapositive 3">
            <a:extLst>
              <a:ext uri="{FF2B5EF4-FFF2-40B4-BE49-F238E27FC236}">
                <a16:creationId xmlns:a16="http://schemas.microsoft.com/office/drawing/2014/main" id="{1C25C1BF-4B4E-ED0A-977F-799D8CD01FD7}"/>
              </a:ext>
            </a:extLst>
          </p:cNvPr>
          <p:cNvSpPr>
            <a:spLocks noGrp="1"/>
          </p:cNvSpPr>
          <p:nvPr>
            <p:ph type="sldNum" sz="quarter" idx="12"/>
          </p:nvPr>
        </p:nvSpPr>
        <p:spPr>
          <a:xfrm>
            <a:off x="11704320" y="6455664"/>
            <a:ext cx="448056"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19</a:t>
            </a:fld>
            <a:endParaRPr lang="fr-FR" sz="1100">
              <a:solidFill>
                <a:schemeClr val="tx1">
                  <a:lumMod val="50000"/>
                  <a:lumOff val="50000"/>
                </a:schemeClr>
              </a:solidFill>
            </a:endParaRPr>
          </a:p>
        </p:txBody>
      </p:sp>
    </p:spTree>
    <p:extLst>
      <p:ext uri="{BB962C8B-B14F-4D97-AF65-F5344CB8AC3E}">
        <p14:creationId xmlns:p14="http://schemas.microsoft.com/office/powerpoint/2010/main" val="22561588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277C34E3-CD91-9843-1D01-C64A0D5DD30C}"/>
              </a:ext>
            </a:extLst>
          </p:cNvPr>
          <p:cNvSpPr>
            <a:spLocks noGrp="1"/>
          </p:cNvSpPr>
          <p:nvPr>
            <p:ph type="title"/>
          </p:nvPr>
        </p:nvSpPr>
        <p:spPr>
          <a:xfrm>
            <a:off x="532567" y="207554"/>
            <a:ext cx="7063721" cy="1159200"/>
          </a:xfrm>
        </p:spPr>
        <p:txBody>
          <a:bodyPr vert="horz" lIns="91440" tIns="45720" rIns="91440" bIns="45720" rtlCol="0" anchor="ctr">
            <a:normAutofit/>
          </a:bodyPr>
          <a:lstStyle/>
          <a:p>
            <a:r>
              <a:rPr lang="en-US" sz="4000" kern="1200" dirty="0" err="1">
                <a:solidFill>
                  <a:srgbClr val="FFFFFF"/>
                </a:solidFill>
                <a:latin typeface="+mj-lt"/>
                <a:ea typeface="+mj-ea"/>
                <a:cs typeface="+mj-cs"/>
              </a:rPr>
              <a:t>Exemple</a:t>
            </a:r>
            <a:r>
              <a:rPr lang="en-US" sz="4000" kern="1200" dirty="0">
                <a:solidFill>
                  <a:srgbClr val="FFFFFF"/>
                </a:solidFill>
                <a:latin typeface="+mj-lt"/>
                <a:ea typeface="+mj-ea"/>
                <a:cs typeface="+mj-cs"/>
              </a:rPr>
              <a:t> </a:t>
            </a:r>
            <a:r>
              <a:rPr lang="en-US" sz="4000" dirty="0">
                <a:solidFill>
                  <a:srgbClr val="FFFFFF"/>
                </a:solidFill>
              </a:rPr>
              <a:t>Data </a:t>
            </a:r>
            <a:r>
              <a:rPr lang="en-US" sz="4000" kern="1200" dirty="0">
                <a:solidFill>
                  <a:srgbClr val="FFFFFF"/>
                </a:solidFill>
                <a:latin typeface="+mj-lt"/>
                <a:ea typeface="+mj-ea"/>
                <a:cs typeface="+mj-cs"/>
              </a:rPr>
              <a:t>Alignment</a:t>
            </a:r>
          </a:p>
        </p:txBody>
      </p:sp>
      <p:sp>
        <p:nvSpPr>
          <p:cNvPr id="3" name="ZoneTexte 2">
            <a:extLst>
              <a:ext uri="{FF2B5EF4-FFF2-40B4-BE49-F238E27FC236}">
                <a16:creationId xmlns:a16="http://schemas.microsoft.com/office/drawing/2014/main" id="{D0FA059D-FB77-D0B2-4827-BEBAFCB3E0DF}"/>
              </a:ext>
            </a:extLst>
          </p:cNvPr>
          <p:cNvSpPr txBox="1"/>
          <p:nvPr/>
        </p:nvSpPr>
        <p:spPr>
          <a:xfrm>
            <a:off x="7182676" y="3792778"/>
            <a:ext cx="4184373" cy="873612"/>
          </a:xfrm>
          <a:prstGeom prst="rect">
            <a:avLst/>
          </a:prstGeom>
        </p:spPr>
        <p:txBody>
          <a:bodyPr vert="horz" lIns="91440" tIns="45720" rIns="91440" bIns="45720" rtlCol="0" anchor="ctr">
            <a:normAutofit/>
          </a:bodyPr>
          <a:lstStyle/>
          <a:p>
            <a:pPr>
              <a:lnSpc>
                <a:spcPct val="90000"/>
              </a:lnSpc>
              <a:spcBef>
                <a:spcPts val="1000"/>
              </a:spcBef>
            </a:pPr>
            <a:r>
              <a:rPr lang="en-US" sz="2000" kern="1200" dirty="0">
                <a:latin typeface="+mn-lt"/>
                <a:ea typeface="+mn-ea"/>
                <a:cs typeface="+mn-cs"/>
              </a:rPr>
              <a:t>“</a:t>
            </a:r>
            <a:r>
              <a:rPr lang="en-US" sz="2000" kern="1200" dirty="0">
                <a:highlight>
                  <a:srgbClr val="FF0000"/>
                </a:highlight>
                <a:latin typeface="+mn-lt"/>
                <a:ea typeface="+mn-ea"/>
                <a:cs typeface="+mn-cs"/>
              </a:rPr>
              <a:t>Le Chien </a:t>
            </a:r>
            <a:r>
              <a:rPr lang="en-US" sz="2000" kern="1200" dirty="0">
                <a:latin typeface="+mn-lt"/>
                <a:ea typeface="+mn-ea"/>
                <a:cs typeface="+mn-cs"/>
              </a:rPr>
              <a:t>court dans </a:t>
            </a:r>
            <a:r>
              <a:rPr lang="en-US" sz="2000" kern="1200" dirty="0">
                <a:highlight>
                  <a:srgbClr val="FFFF00"/>
                </a:highlight>
                <a:latin typeface="+mn-lt"/>
                <a:ea typeface="+mn-ea"/>
                <a:cs typeface="+mn-cs"/>
              </a:rPr>
              <a:t>l’ </a:t>
            </a:r>
            <a:r>
              <a:rPr lang="en-US" sz="2000" kern="1200" dirty="0" err="1">
                <a:highlight>
                  <a:srgbClr val="FFFF00"/>
                </a:highlight>
                <a:latin typeface="+mn-lt"/>
                <a:ea typeface="+mn-ea"/>
                <a:cs typeface="+mn-cs"/>
              </a:rPr>
              <a:t>herbe</a:t>
            </a:r>
            <a:r>
              <a:rPr lang="en-US" sz="2000" kern="1200" dirty="0">
                <a:highlight>
                  <a:srgbClr val="FFFF00"/>
                </a:highlight>
                <a:latin typeface="+mn-lt"/>
                <a:ea typeface="+mn-ea"/>
                <a:cs typeface="+mn-cs"/>
              </a:rPr>
              <a:t> verte</a:t>
            </a:r>
            <a:r>
              <a:rPr lang="en-US" sz="2000" kern="1200" dirty="0">
                <a:latin typeface="+mn-lt"/>
                <a:ea typeface="+mn-ea"/>
                <a:cs typeface="+mn-cs"/>
              </a:rPr>
              <a:t>”</a:t>
            </a:r>
          </a:p>
        </p:txBody>
      </p:sp>
      <p:pic>
        <p:nvPicPr>
          <p:cNvPr id="4" name="Espace réservé du contenu 3" descr="Une image contenant herbe, plein air, chien, animal domestique&#10;&#10;Le contenu généré par l’IA peut être incorrect.">
            <a:extLst>
              <a:ext uri="{FF2B5EF4-FFF2-40B4-BE49-F238E27FC236}">
                <a16:creationId xmlns:a16="http://schemas.microsoft.com/office/drawing/2014/main" id="{A68393B6-EC87-BBFE-9552-61E4BA6472B4}"/>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rcRect l="13818" t="9091"/>
          <a:stretch>
            <a:fillRect/>
          </a:stretch>
        </p:blipFill>
        <p:spPr bwMode="auto">
          <a:xfrm>
            <a:off x="777564" y="2003504"/>
            <a:ext cx="5627548" cy="4452160"/>
          </a:xfrm>
          <a:prstGeom prst="rect">
            <a:avLst/>
          </a:prstGeom>
          <a:noFill/>
        </p:spPr>
      </p:pic>
      <p:sp>
        <p:nvSpPr>
          <p:cNvPr id="6" name="Espace réservé du numéro de diapositive 5">
            <a:extLst>
              <a:ext uri="{FF2B5EF4-FFF2-40B4-BE49-F238E27FC236}">
                <a16:creationId xmlns:a16="http://schemas.microsoft.com/office/drawing/2014/main" id="{ED439D9F-E4F2-0F35-4538-A86106EAC91C}"/>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20</a:t>
            </a:fld>
            <a:endParaRPr lang="en-US" sz="1100">
              <a:solidFill>
                <a:schemeClr val="tx1">
                  <a:lumMod val="50000"/>
                  <a:lumOff val="50000"/>
                </a:schemeClr>
              </a:solidFill>
            </a:endParaRPr>
          </a:p>
        </p:txBody>
      </p:sp>
    </p:spTree>
    <p:extLst>
      <p:ext uri="{BB962C8B-B14F-4D97-AF65-F5344CB8AC3E}">
        <p14:creationId xmlns:p14="http://schemas.microsoft.com/office/powerpoint/2010/main" val="38160877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FE8311-813D-5C3C-A6D7-CCD9E7AC5A81}"/>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BA767897-FD45-0631-108A-0A9D03944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BB6F2375-7097-BCD2-BA71-754E007E37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ACB93499-DB0F-2B33-7481-F0FCC27C66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D79EA06-0667-9710-C63F-512E4F21A5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Espace réservé du numéro de diapositive 5">
            <a:extLst>
              <a:ext uri="{FF2B5EF4-FFF2-40B4-BE49-F238E27FC236}">
                <a16:creationId xmlns:a16="http://schemas.microsoft.com/office/drawing/2014/main" id="{FF2CCAA3-A426-6EDB-DF10-5EB9788FCB78}"/>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21</a:t>
            </a:fld>
            <a:endParaRPr lang="en-US" sz="1100">
              <a:solidFill>
                <a:schemeClr val="tx1">
                  <a:lumMod val="50000"/>
                  <a:lumOff val="50000"/>
                </a:schemeClr>
              </a:solidFill>
            </a:endParaRPr>
          </a:p>
        </p:txBody>
      </p:sp>
      <p:sp>
        <p:nvSpPr>
          <p:cNvPr id="10" name="Titre 1">
            <a:extLst>
              <a:ext uri="{FF2B5EF4-FFF2-40B4-BE49-F238E27FC236}">
                <a16:creationId xmlns:a16="http://schemas.microsoft.com/office/drawing/2014/main" id="{CB761CC0-1A63-1068-FE69-8E449A88AD14}"/>
              </a:ext>
            </a:extLst>
          </p:cNvPr>
          <p:cNvSpPr txBox="1">
            <a:spLocks/>
          </p:cNvSpPr>
          <p:nvPr/>
        </p:nvSpPr>
        <p:spPr>
          <a:xfrm>
            <a:off x="440692" y="125656"/>
            <a:ext cx="9392421" cy="13308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solidFill>
                  <a:schemeClr val="bg1"/>
                </a:solidFill>
              </a:rPr>
              <a:t>Structure d’</a:t>
            </a:r>
            <a:r>
              <a:rPr lang="en-US" dirty="0">
                <a:solidFill>
                  <a:schemeClr val="bg1"/>
                </a:solidFill>
              </a:rPr>
              <a:t> Alignment</a:t>
            </a:r>
            <a:endParaRPr lang="fr-FR" dirty="0">
              <a:solidFill>
                <a:schemeClr val="bg1"/>
              </a:solidFill>
            </a:endParaRPr>
          </a:p>
        </p:txBody>
      </p:sp>
      <p:sp>
        <p:nvSpPr>
          <p:cNvPr id="11" name="Espace réservé du contenu 2">
            <a:extLst>
              <a:ext uri="{FF2B5EF4-FFF2-40B4-BE49-F238E27FC236}">
                <a16:creationId xmlns:a16="http://schemas.microsoft.com/office/drawing/2014/main" id="{8B4FCAD3-933B-02F1-B22C-B30C83210E59}"/>
              </a:ext>
            </a:extLst>
          </p:cNvPr>
          <p:cNvSpPr>
            <a:spLocks noGrp="1"/>
          </p:cNvSpPr>
          <p:nvPr>
            <p:ph idx="1"/>
          </p:nvPr>
        </p:nvSpPr>
        <p:spPr>
          <a:xfrm>
            <a:off x="1137034" y="2198362"/>
            <a:ext cx="4958966" cy="3917773"/>
          </a:xfrm>
        </p:spPr>
        <p:txBody>
          <a:bodyPr>
            <a:normAutofit/>
          </a:bodyPr>
          <a:lstStyle/>
          <a:p>
            <a:pPr marL="0" indent="0">
              <a:buNone/>
            </a:pPr>
            <a:r>
              <a:rPr lang="fr-FR" sz="2000" dirty="0"/>
              <a:t>Il existe deux principales structures, l’alignement Discret et l’alignement continue:</a:t>
            </a:r>
          </a:p>
          <a:p>
            <a:r>
              <a:rPr lang="fr-FR" sz="2000" dirty="0"/>
              <a:t>L’alignement discret et principalement utiliser pour les données qui ne nécessite pas de temporalité et sont par définitions des Éléments discrets, comme des photos du texte. </a:t>
            </a:r>
          </a:p>
          <a:p>
            <a:r>
              <a:rPr lang="fr-FR" sz="2000" dirty="0"/>
              <a:t>L’alignement continue est utiliser pour les signaux qui sont indivisible par nature comme les audio ou encore les vidéos </a:t>
            </a:r>
          </a:p>
          <a:p>
            <a:endParaRPr lang="fr-FR" sz="2000" dirty="0"/>
          </a:p>
        </p:txBody>
      </p:sp>
      <p:pic>
        <p:nvPicPr>
          <p:cNvPr id="12" name="Image 11" descr="Une image contenant texte, ligne, diagramme, capture d’écran&#10;&#10;Le contenu généré par l’IA peut être incorrect.">
            <a:extLst>
              <a:ext uri="{FF2B5EF4-FFF2-40B4-BE49-F238E27FC236}">
                <a16:creationId xmlns:a16="http://schemas.microsoft.com/office/drawing/2014/main" id="{4ED8A8EF-330D-2BF1-6769-FE73EA254A94}"/>
              </a:ext>
            </a:extLst>
          </p:cNvPr>
          <p:cNvPicPr>
            <a:picLocks noChangeAspect="1"/>
          </p:cNvPicPr>
          <p:nvPr/>
        </p:nvPicPr>
        <p:blipFill>
          <a:blip r:embed="rId3"/>
          <a:stretch>
            <a:fillRect/>
          </a:stretch>
        </p:blipFill>
        <p:spPr>
          <a:xfrm>
            <a:off x="6412761" y="3186010"/>
            <a:ext cx="5462478" cy="1942475"/>
          </a:xfrm>
          <a:prstGeom prst="rect">
            <a:avLst/>
          </a:prstGeom>
        </p:spPr>
      </p:pic>
    </p:spTree>
    <p:extLst>
      <p:ext uri="{BB962C8B-B14F-4D97-AF65-F5344CB8AC3E}">
        <p14:creationId xmlns:p14="http://schemas.microsoft.com/office/powerpoint/2010/main" val="18715322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3771733-3A46-483C-A722-052BE6A9A79C}"/>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95808C39-2F74-7D77-DF0A-6BAEEAEF48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946574A0-3ACC-57B6-DE3A-E47833A677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DB518CFF-1C33-6DD8-78A4-6636BBCA73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79908B5E-5EA6-B7F6-2C9D-50ABD01FE2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94310BBD-6ED5-C74C-13FD-6DF0DCB7865B}"/>
              </a:ext>
            </a:extLst>
          </p:cNvPr>
          <p:cNvSpPr>
            <a:spLocks noGrp="1"/>
          </p:cNvSpPr>
          <p:nvPr>
            <p:ph type="title"/>
          </p:nvPr>
        </p:nvSpPr>
        <p:spPr>
          <a:xfrm>
            <a:off x="669896" y="257977"/>
            <a:ext cx="7063721" cy="1159200"/>
          </a:xfrm>
        </p:spPr>
        <p:txBody>
          <a:bodyPr vert="horz" lIns="91440" tIns="45720" rIns="91440" bIns="45720" rtlCol="0" anchor="ctr">
            <a:normAutofit fontScale="90000"/>
          </a:bodyPr>
          <a:lstStyle/>
          <a:p>
            <a:r>
              <a:rPr lang="en-US" sz="4000" dirty="0" err="1">
                <a:solidFill>
                  <a:schemeClr val="bg1"/>
                </a:solidFill>
              </a:rPr>
              <a:t>Avantages</a:t>
            </a:r>
            <a:r>
              <a:rPr lang="en-US" sz="4000" dirty="0">
                <a:solidFill>
                  <a:schemeClr val="bg1"/>
                </a:solidFill>
              </a:rPr>
              <a:t> </a:t>
            </a:r>
            <a:r>
              <a:rPr lang="en-US" sz="4000" kern="1200" dirty="0">
                <a:solidFill>
                  <a:schemeClr val="bg1"/>
                </a:solidFill>
                <a:latin typeface="+mj-lt"/>
                <a:ea typeface="+mj-ea"/>
                <a:cs typeface="+mj-cs"/>
              </a:rPr>
              <a:t>et  </a:t>
            </a:r>
            <a:r>
              <a:rPr lang="en-US" sz="4000" kern="1200" dirty="0" err="1">
                <a:solidFill>
                  <a:schemeClr val="bg1"/>
                </a:solidFill>
                <a:latin typeface="+mj-lt"/>
                <a:ea typeface="+mj-ea"/>
                <a:cs typeface="+mj-cs"/>
              </a:rPr>
              <a:t>limites</a:t>
            </a:r>
            <a:r>
              <a:rPr lang="en-US" sz="4000" kern="1200" dirty="0">
                <a:solidFill>
                  <a:schemeClr val="bg1"/>
                </a:solidFill>
                <a:latin typeface="+mj-lt"/>
                <a:ea typeface="+mj-ea"/>
                <a:cs typeface="+mj-cs"/>
              </a:rPr>
              <a:t> de </a:t>
            </a:r>
            <a:r>
              <a:rPr lang="en-US" sz="4000" kern="1200" dirty="0" err="1">
                <a:solidFill>
                  <a:schemeClr val="bg1"/>
                </a:solidFill>
                <a:latin typeface="+mj-lt"/>
                <a:ea typeface="+mj-ea"/>
                <a:cs typeface="+mj-cs"/>
              </a:rPr>
              <a:t>l’alignement</a:t>
            </a:r>
            <a:endParaRPr lang="en-US" sz="4000" kern="1200" dirty="0">
              <a:solidFill>
                <a:schemeClr val="bg1"/>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72D1256F-D1F4-9BFB-49FE-ABE35C3C8FC0}"/>
              </a:ext>
            </a:extLst>
          </p:cNvPr>
          <p:cNvSpPr>
            <a:spLocks noGrp="1"/>
          </p:cNvSpPr>
          <p:nvPr>
            <p:ph type="sldNum" sz="quarter" idx="12"/>
          </p:nvPr>
        </p:nvSpPr>
        <p:spPr/>
        <p:txBody>
          <a:bodyPr/>
          <a:lstStyle/>
          <a:p>
            <a:fld id="{BBC07E23-5D66-4BDA-857C-D8615BC30D33}" type="slidenum">
              <a:rPr lang="fr-FR" smtClean="0"/>
              <a:t>22</a:t>
            </a:fld>
            <a:endParaRPr lang="fr-FR"/>
          </a:p>
        </p:txBody>
      </p:sp>
      <p:sp>
        <p:nvSpPr>
          <p:cNvPr id="12" name="Espace réservé du texte 2">
            <a:extLst>
              <a:ext uri="{FF2B5EF4-FFF2-40B4-BE49-F238E27FC236}">
                <a16:creationId xmlns:a16="http://schemas.microsoft.com/office/drawing/2014/main" id="{25F22F00-9FD0-E86A-3E8E-5C4C7976DC0B}"/>
              </a:ext>
            </a:extLst>
          </p:cNvPr>
          <p:cNvSpPr txBox="1">
            <a:spLocks/>
          </p:cNvSpPr>
          <p:nvPr/>
        </p:nvSpPr>
        <p:spPr>
          <a:xfrm>
            <a:off x="839788" y="1681163"/>
            <a:ext cx="5157787" cy="823912"/>
          </a:xfrm>
          <a:prstGeom prst="rect">
            <a:avLst/>
          </a:prstGeom>
          <a:ln>
            <a:solidFill>
              <a:schemeClr val="tx2"/>
            </a:solidFill>
          </a:ln>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u="sng" dirty="0" err="1"/>
              <a:t>Avantages</a:t>
            </a:r>
            <a:r>
              <a:rPr lang="en-US" dirty="0"/>
              <a:t>:</a:t>
            </a:r>
          </a:p>
        </p:txBody>
      </p:sp>
      <p:sp>
        <p:nvSpPr>
          <p:cNvPr id="13" name="Espace réservé du contenu 3">
            <a:extLst>
              <a:ext uri="{FF2B5EF4-FFF2-40B4-BE49-F238E27FC236}">
                <a16:creationId xmlns:a16="http://schemas.microsoft.com/office/drawing/2014/main" id="{D453D0DD-A1EA-4848-9B62-EFFC0E3C0A19}"/>
              </a:ext>
            </a:extLst>
          </p:cNvPr>
          <p:cNvSpPr txBox="1">
            <a:spLocks/>
          </p:cNvSpPr>
          <p:nvPr/>
        </p:nvSpPr>
        <p:spPr>
          <a:xfrm>
            <a:off x="839788" y="2505075"/>
            <a:ext cx="5157787" cy="3684588"/>
          </a:xfrm>
          <a:prstGeom prst="rect">
            <a:avLst/>
          </a:prstGeom>
          <a:ln>
            <a:solidFill>
              <a:schemeClr val="tx2"/>
            </a:solidFill>
          </a:ln>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L’alignement permet de relier directement des sous-éléments de deux modalités </a:t>
            </a:r>
          </a:p>
        </p:txBody>
      </p:sp>
      <p:sp>
        <p:nvSpPr>
          <p:cNvPr id="14" name="Espace réservé du texte 4">
            <a:extLst>
              <a:ext uri="{FF2B5EF4-FFF2-40B4-BE49-F238E27FC236}">
                <a16:creationId xmlns:a16="http://schemas.microsoft.com/office/drawing/2014/main" id="{D98CA4E1-4571-304F-F7BB-F04B20FA15FE}"/>
              </a:ext>
            </a:extLst>
          </p:cNvPr>
          <p:cNvSpPr txBox="1">
            <a:spLocks/>
          </p:cNvSpPr>
          <p:nvPr/>
        </p:nvSpPr>
        <p:spPr>
          <a:xfrm>
            <a:off x="6172200" y="1681163"/>
            <a:ext cx="5183188" cy="823912"/>
          </a:xfrm>
          <a:prstGeom prst="rect">
            <a:avLst/>
          </a:prstGeom>
          <a:ln>
            <a:solidFill>
              <a:schemeClr val="tx2"/>
            </a:solidFill>
          </a:ln>
        </p:spPr>
        <p:txBody>
          <a:bodyPr anchor="ct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u="sng" dirty="0"/>
              <a:t>Limites</a:t>
            </a:r>
            <a:r>
              <a:rPr lang="fr-FR" dirty="0"/>
              <a:t>: </a:t>
            </a:r>
          </a:p>
        </p:txBody>
      </p:sp>
      <p:sp>
        <p:nvSpPr>
          <p:cNvPr id="15" name="Espace réservé du contenu 5">
            <a:extLst>
              <a:ext uri="{FF2B5EF4-FFF2-40B4-BE49-F238E27FC236}">
                <a16:creationId xmlns:a16="http://schemas.microsoft.com/office/drawing/2014/main" id="{06C7FABF-6B20-6AFE-7A1B-2D84EBAA4791}"/>
              </a:ext>
            </a:extLst>
          </p:cNvPr>
          <p:cNvSpPr txBox="1">
            <a:spLocks/>
          </p:cNvSpPr>
          <p:nvPr/>
        </p:nvSpPr>
        <p:spPr>
          <a:xfrm>
            <a:off x="6172200" y="2505075"/>
            <a:ext cx="5183188" cy="3684588"/>
          </a:xfrm>
          <a:prstGeom prst="rect">
            <a:avLst/>
          </a:prstGeom>
          <a:ln>
            <a:solidFill>
              <a:schemeClr val="tx2"/>
            </a:solidFill>
          </a:ln>
        </p:spPr>
        <p:txBody>
          <a:bodyPr>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a:t>Risque de perdre la spécificité de chaque modalité.</a:t>
            </a:r>
          </a:p>
          <a:p>
            <a:r>
              <a:rPr lang="fr-FR"/>
              <a:t>Plus sensible aux modalités manquantes.</a:t>
            </a:r>
          </a:p>
          <a:p>
            <a:r>
              <a:rPr lang="fr-FR"/>
              <a:t>La fusion peut introduire du bruit ou de la redondance si elle est mal contrôlée.</a:t>
            </a:r>
          </a:p>
          <a:p>
            <a:r>
              <a:rPr lang="fr-FR"/>
              <a:t>Peut nécessiter beaucoup de données pour apprendre une représentation commune stable.</a:t>
            </a:r>
          </a:p>
          <a:p>
            <a:endParaRPr lang="fr-FR" dirty="0"/>
          </a:p>
        </p:txBody>
      </p:sp>
    </p:spTree>
    <p:extLst>
      <p:ext uri="{BB962C8B-B14F-4D97-AF65-F5344CB8AC3E}">
        <p14:creationId xmlns:p14="http://schemas.microsoft.com/office/powerpoint/2010/main" val="17382206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Freeform: Shape 4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5" name="Rectangle 4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41ED33EF-C029-9B2C-C2EC-CAED1E7D0C3E}"/>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4000" kern="1200" dirty="0">
                <a:solidFill>
                  <a:srgbClr val="FFFFFF"/>
                </a:solidFill>
                <a:latin typeface="+mj-lt"/>
                <a:ea typeface="+mj-ea"/>
                <a:cs typeface="+mj-cs"/>
              </a:rPr>
              <a:t>Le Co-learning</a:t>
            </a:r>
          </a:p>
        </p:txBody>
      </p:sp>
      <p:sp>
        <p:nvSpPr>
          <p:cNvPr id="3" name="ZoneTexte 2">
            <a:extLst>
              <a:ext uri="{FF2B5EF4-FFF2-40B4-BE49-F238E27FC236}">
                <a16:creationId xmlns:a16="http://schemas.microsoft.com/office/drawing/2014/main" id="{D696D38D-8A35-E72B-B2FE-5F6DCCA9E3C4}"/>
              </a:ext>
            </a:extLst>
          </p:cNvPr>
          <p:cNvSpPr txBox="1"/>
          <p:nvPr/>
        </p:nvSpPr>
        <p:spPr>
          <a:xfrm>
            <a:off x="5297557" y="3003756"/>
            <a:ext cx="5817895" cy="3339751"/>
          </a:xfrm>
          <a:prstGeom prst="rect">
            <a:avLst/>
          </a:prstGeom>
        </p:spPr>
        <p:txBody>
          <a:bodyPr vert="horz" lIns="91440" tIns="45720" rIns="91440" bIns="45720" rtlCol="0" anchor="ctr">
            <a:normAutofit/>
          </a:bodyPr>
          <a:lstStyle/>
          <a:p>
            <a:r>
              <a:rPr lang="fr-FR" dirty="0"/>
              <a:t>Le </a:t>
            </a:r>
            <a:r>
              <a:rPr lang="fr-FR" dirty="0" err="1"/>
              <a:t>co-learning</a:t>
            </a:r>
            <a:r>
              <a:rPr lang="fr-FR" dirty="0"/>
              <a:t> multimodal est l’approche qui permet de transférer l’information d’une modalité vers une autre afin d’obtenir des modèles capables de fonctionner même avec des modalités manquantes, bruitées ou peu annotées.</a:t>
            </a:r>
          </a:p>
        </p:txBody>
      </p:sp>
      <p:pic>
        <p:nvPicPr>
          <p:cNvPr id="4" name="Espace réservé du contenu 3" descr="Une image contenant texte, capture d’écran, Police, Rectangle&#10;&#10;Le contenu généré par l’IA peut être incorrect.">
            <a:extLst>
              <a:ext uri="{FF2B5EF4-FFF2-40B4-BE49-F238E27FC236}">
                <a16:creationId xmlns:a16="http://schemas.microsoft.com/office/drawing/2014/main" id="{F401D835-4EA5-E9DA-3880-AEEAC28DD2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rot="5400000">
            <a:off x="7049210" y="-1459407"/>
            <a:ext cx="2209913" cy="5922571"/>
          </a:xfrm>
          <a:prstGeom prst="rect">
            <a:avLst/>
          </a:prstGeom>
          <a:noFill/>
        </p:spPr>
      </p:pic>
      <p:sp>
        <p:nvSpPr>
          <p:cNvPr id="5" name="Espace réservé du numéro de diapositive 4">
            <a:extLst>
              <a:ext uri="{FF2B5EF4-FFF2-40B4-BE49-F238E27FC236}">
                <a16:creationId xmlns:a16="http://schemas.microsoft.com/office/drawing/2014/main" id="{CF652423-A3F4-01DA-D14D-7FAF6972D38D}"/>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23</a:t>
            </a:fld>
            <a:endParaRPr lang="en-US" sz="1100">
              <a:solidFill>
                <a:schemeClr val="tx1">
                  <a:lumMod val="50000"/>
                  <a:lumOff val="50000"/>
                </a:schemeClr>
              </a:solidFill>
            </a:endParaRPr>
          </a:p>
        </p:txBody>
      </p:sp>
    </p:spTree>
    <p:extLst>
      <p:ext uri="{BB962C8B-B14F-4D97-AF65-F5344CB8AC3E}">
        <p14:creationId xmlns:p14="http://schemas.microsoft.com/office/powerpoint/2010/main" val="16030243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8B6997-D52F-AB43-2AB1-0A80C60904A2}"/>
            </a:ext>
          </a:extLst>
        </p:cNvPr>
        <p:cNvGrpSpPr/>
        <p:nvPr/>
      </p:nvGrpSpPr>
      <p:grpSpPr>
        <a:xfrm>
          <a:off x="0" y="0"/>
          <a:ext cx="0" cy="0"/>
          <a:chOff x="0" y="0"/>
          <a:chExt cx="0" cy="0"/>
        </a:xfrm>
      </p:grpSpPr>
      <p:sp useBgFill="1">
        <p:nvSpPr>
          <p:cNvPr id="78" name="Rectangle 77">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61EE4D15-8A19-3157-2D6C-468D0B6146E5}"/>
              </a:ext>
            </a:extLst>
          </p:cNvPr>
          <p:cNvSpPr>
            <a:spLocks noGrp="1"/>
          </p:cNvSpPr>
          <p:nvPr>
            <p:ph type="title"/>
          </p:nvPr>
        </p:nvSpPr>
        <p:spPr>
          <a:xfrm>
            <a:off x="1383564" y="348865"/>
            <a:ext cx="9718111" cy="1576446"/>
          </a:xfrm>
        </p:spPr>
        <p:txBody>
          <a:bodyPr vert="horz" lIns="91440" tIns="45720" rIns="91440" bIns="45720" rtlCol="0" anchor="ctr">
            <a:normAutofit/>
          </a:bodyPr>
          <a:lstStyle/>
          <a:p>
            <a:r>
              <a:rPr lang="en-US" sz="4000" kern="1200">
                <a:solidFill>
                  <a:srgbClr val="FFFFFF"/>
                </a:solidFill>
                <a:latin typeface="+mj-lt"/>
                <a:ea typeface="+mj-ea"/>
                <a:cs typeface="+mj-cs"/>
              </a:rPr>
              <a:t>Pourquoi on en a besoin ? </a:t>
            </a:r>
            <a:endParaRPr lang="en-US" sz="4000" b="1" u="sng" kern="1200">
              <a:solidFill>
                <a:srgbClr val="FFFFFF"/>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7CAF2AC8-2461-8306-9D14-27590FA8EEE2}"/>
              </a:ext>
            </a:extLst>
          </p:cNvPr>
          <p:cNvSpPr>
            <a:spLocks noGrp="1"/>
          </p:cNvSpPr>
          <p:nvPr>
            <p:ph type="sldNum" sz="quarter" idx="12"/>
          </p:nvPr>
        </p:nvSpPr>
        <p:spPr>
          <a:xfrm>
            <a:off x="11704320" y="6455664"/>
            <a:ext cx="448056" cy="365125"/>
          </a:xfrm>
        </p:spPr>
        <p:txBody>
          <a:bodyPr vert="horz" lIns="91440" tIns="45720" rIns="91440" bIns="45720" rtlCol="0">
            <a:normAutofit/>
          </a:bodyPr>
          <a:lstStyle/>
          <a:p>
            <a:pPr>
              <a:spcAft>
                <a:spcPts val="600"/>
              </a:spcAft>
            </a:pPr>
            <a:fld id="{BBC07E23-5D66-4BDA-857C-D8615BC30D33}" type="slidenum">
              <a:rPr lang="en-US" sz="1100" smtClean="0">
                <a:solidFill>
                  <a:schemeClr val="tx1">
                    <a:lumMod val="50000"/>
                    <a:lumOff val="50000"/>
                  </a:schemeClr>
                </a:solidFill>
              </a:rPr>
              <a:pPr>
                <a:spcAft>
                  <a:spcPts val="600"/>
                </a:spcAft>
              </a:pPr>
              <a:t>24</a:t>
            </a:fld>
            <a:endParaRPr lang="en-US" sz="1100">
              <a:solidFill>
                <a:schemeClr val="tx1">
                  <a:lumMod val="50000"/>
                  <a:lumOff val="50000"/>
                </a:schemeClr>
              </a:solidFill>
            </a:endParaRPr>
          </a:p>
        </p:txBody>
      </p:sp>
      <p:graphicFrame>
        <p:nvGraphicFramePr>
          <p:cNvPr id="47" name="ZoneTexte 2">
            <a:extLst>
              <a:ext uri="{FF2B5EF4-FFF2-40B4-BE49-F238E27FC236}">
                <a16:creationId xmlns:a16="http://schemas.microsoft.com/office/drawing/2014/main" id="{D973FB88-C993-55FF-8E67-CE4B8BE61389}"/>
              </a:ext>
            </a:extLst>
          </p:cNvPr>
          <p:cNvGraphicFramePr/>
          <p:nvPr>
            <p:extLst>
              <p:ext uri="{D42A27DB-BD31-4B8C-83A1-F6EECF244321}">
                <p14:modId xmlns:p14="http://schemas.microsoft.com/office/powerpoint/2010/main" val="3970207570"/>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697918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D901FC-675F-4C8A-C468-E16141D3565F}"/>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400C95E-A6CA-702D-297E-C5A67719F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1B508D6-BD60-184C-7F76-9EFF1C6B1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4" y="-1"/>
            <a:ext cx="8111296"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C3E2DCDD-B252-4BF1-CA30-9107836C17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858281" y="-401562"/>
            <a:ext cx="6858004" cy="7661129"/>
          </a:xfrm>
          <a:prstGeom prst="rect">
            <a:avLst/>
          </a:prstGeom>
          <a:gradFill>
            <a:gsLst>
              <a:gs pos="0">
                <a:schemeClr val="accent1">
                  <a:alpha val="23000"/>
                </a:schemeClr>
              </a:gs>
              <a:gs pos="71000">
                <a:schemeClr val="accent1">
                  <a:lumMod val="50000"/>
                  <a:alpha val="0"/>
                </a:schemeClr>
              </a:gs>
              <a:gs pos="100000">
                <a:srgbClr val="000000">
                  <a:alpha val="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D2D0F36F-5F54-E5D5-BCD7-1FF16F8E20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9" y="-1"/>
            <a:ext cx="8118331" cy="6858000"/>
          </a:xfrm>
          <a:prstGeom prst="rect">
            <a:avLst/>
          </a:prstGeom>
          <a:gradFill>
            <a:gsLst>
              <a:gs pos="14000">
                <a:schemeClr val="accent1">
                  <a:alpha val="0"/>
                </a:schemeClr>
              </a:gs>
              <a:gs pos="100000">
                <a:srgbClr val="000000">
                  <a:alpha val="82000"/>
                </a:srgb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6E2E3770-2FE0-64B5-6322-F78B3AD13A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449520">
            <a:off x="2569700" y="983306"/>
            <a:ext cx="5005754" cy="5005754"/>
          </a:xfrm>
          <a:prstGeom prst="ellipse">
            <a:avLst/>
          </a:prstGeom>
          <a:gradFill>
            <a:gsLst>
              <a:gs pos="17000">
                <a:schemeClr val="accent1">
                  <a:lumMod val="75000"/>
                  <a:alpha val="0"/>
                </a:schemeClr>
              </a:gs>
              <a:gs pos="82000">
                <a:srgbClr val="000000">
                  <a:alpha val="24000"/>
                </a:srgbClr>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Rectangle 29">
            <a:extLst>
              <a:ext uri="{FF2B5EF4-FFF2-40B4-BE49-F238E27FC236}">
                <a16:creationId xmlns:a16="http://schemas.microsoft.com/office/drawing/2014/main" id="{E80FDBEB-6074-77AE-F7ED-C8DEB70788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8" y="4354178"/>
            <a:ext cx="8118330" cy="2503817"/>
          </a:xfrm>
          <a:prstGeom prst="rect">
            <a:avLst/>
          </a:prstGeom>
          <a:gradFill>
            <a:gsLst>
              <a:gs pos="0">
                <a:schemeClr val="accent1">
                  <a:lumMod val="75000"/>
                  <a:alpha val="33000"/>
                </a:schemeClr>
              </a:gs>
              <a:gs pos="83000">
                <a:srgbClr val="000000">
                  <a:alpha val="21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Espace réservé du contenu 3" descr="Une image contenant texte, capture d’écran, Police, Rectangle&#10;&#10;Le contenu généré par l’IA peut être incorrect.">
            <a:extLst>
              <a:ext uri="{FF2B5EF4-FFF2-40B4-BE49-F238E27FC236}">
                <a16:creationId xmlns:a16="http://schemas.microsoft.com/office/drawing/2014/main" id="{F5A474C5-D771-6929-585A-F21784E390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9039010" y="457200"/>
            <a:ext cx="2217760" cy="5943600"/>
          </a:xfrm>
          <a:prstGeom prst="rect">
            <a:avLst/>
          </a:prstGeom>
          <a:noFill/>
        </p:spPr>
      </p:pic>
      <p:sp>
        <p:nvSpPr>
          <p:cNvPr id="3" name="ZoneTexte 2">
            <a:extLst>
              <a:ext uri="{FF2B5EF4-FFF2-40B4-BE49-F238E27FC236}">
                <a16:creationId xmlns:a16="http://schemas.microsoft.com/office/drawing/2014/main" id="{98223776-0720-7498-5463-5C6C00DBF877}"/>
              </a:ext>
            </a:extLst>
          </p:cNvPr>
          <p:cNvSpPr txBox="1"/>
          <p:nvPr/>
        </p:nvSpPr>
        <p:spPr>
          <a:xfrm>
            <a:off x="777835" y="2176862"/>
            <a:ext cx="6780810" cy="3970318"/>
          </a:xfrm>
          <a:prstGeom prst="rect">
            <a:avLst/>
          </a:prstGeom>
          <a:noFill/>
        </p:spPr>
        <p:txBody>
          <a:bodyPr wrap="square" rtlCol="0">
            <a:spAutoFit/>
          </a:bodyPr>
          <a:lstStyle/>
          <a:p>
            <a:pPr marL="285750" indent="-285750">
              <a:buFont typeface="Arial" panose="020B0604020202020204" pitchFamily="34" charset="0"/>
              <a:buChar char="•"/>
            </a:pPr>
            <a:r>
              <a:rPr lang="fr-FR" b="1" dirty="0">
                <a:solidFill>
                  <a:schemeClr val="bg1"/>
                </a:solidFill>
              </a:rPr>
              <a:t>Le </a:t>
            </a:r>
            <a:r>
              <a:rPr lang="fr-FR" dirty="0">
                <a:solidFill>
                  <a:schemeClr val="bg1"/>
                </a:solidFill>
              </a:rPr>
              <a:t>co-learning permet de transférer les connaissances d’une modalité vers une modalité plus limitée ou bruitée.</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Il exploite la complémentarité des modalités pour améliorer les performances, même lorsque certaines informations manquent.</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Approche est particulièrement adaptée à la réalité où les données sont souvent incomplètes ou imparfaites comme dans la santé, systèmes autonomes …</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Une modalité d’apprentissage n’est pas forcément nécessaire pour les prédictions.</a:t>
            </a:r>
          </a:p>
          <a:p>
            <a:pPr marL="285750" indent="-285750">
              <a:buFont typeface="Arial" panose="020B0604020202020204" pitchFamily="34" charset="0"/>
              <a:buChar char="•"/>
            </a:pPr>
            <a:endParaRPr lang="fr-FR" dirty="0">
              <a:solidFill>
                <a:schemeClr val="bg1"/>
              </a:solidFill>
            </a:endParaRPr>
          </a:p>
        </p:txBody>
      </p:sp>
      <p:sp>
        <p:nvSpPr>
          <p:cNvPr id="5" name="Espace réservé du numéro de diapositive 4">
            <a:extLst>
              <a:ext uri="{FF2B5EF4-FFF2-40B4-BE49-F238E27FC236}">
                <a16:creationId xmlns:a16="http://schemas.microsoft.com/office/drawing/2014/main" id="{23D18DD9-2199-D765-DFC5-022416D3C81F}"/>
              </a:ext>
            </a:extLst>
          </p:cNvPr>
          <p:cNvSpPr>
            <a:spLocks noGrp="1"/>
          </p:cNvSpPr>
          <p:nvPr>
            <p:ph type="sldNum" sz="quarter" idx="12"/>
          </p:nvPr>
        </p:nvSpPr>
        <p:spPr/>
        <p:txBody>
          <a:bodyPr/>
          <a:lstStyle/>
          <a:p>
            <a:fld id="{BBC07E23-5D66-4BDA-857C-D8615BC30D33}" type="slidenum">
              <a:rPr lang="fr-FR" smtClean="0"/>
              <a:t>25</a:t>
            </a:fld>
            <a:endParaRPr lang="fr-FR"/>
          </a:p>
        </p:txBody>
      </p:sp>
    </p:spTree>
    <p:extLst>
      <p:ext uri="{BB962C8B-B14F-4D97-AF65-F5344CB8AC3E}">
        <p14:creationId xmlns:p14="http://schemas.microsoft.com/office/powerpoint/2010/main" val="31741257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14ACF0-BEE7-9776-296F-E5FD2B55EC6B}"/>
            </a:ext>
          </a:extLst>
        </p:cNvPr>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 name="Rectangle 76">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1" name="Freeform: Shape 80">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ZoneTexte 2">
            <a:extLst>
              <a:ext uri="{FF2B5EF4-FFF2-40B4-BE49-F238E27FC236}">
                <a16:creationId xmlns:a16="http://schemas.microsoft.com/office/drawing/2014/main" id="{11A8254C-4A28-2E6A-DFEC-DF12A6B0C935}"/>
              </a:ext>
            </a:extLst>
          </p:cNvPr>
          <p:cNvSpPr txBox="1"/>
          <p:nvPr/>
        </p:nvSpPr>
        <p:spPr>
          <a:xfrm>
            <a:off x="660041" y="2767106"/>
            <a:ext cx="2880828" cy="3071906"/>
          </a:xfrm>
          <a:prstGeom prst="rect">
            <a:avLst/>
          </a:prstGeom>
        </p:spPr>
        <p:txBody>
          <a:bodyPr vert="horz" lIns="91440" tIns="45720" rIns="91440" bIns="45720" rtlCol="0" anchor="t">
            <a:normAutofit/>
          </a:bodyPr>
          <a:lstStyle/>
          <a:p>
            <a:pPr>
              <a:lnSpc>
                <a:spcPct val="90000"/>
              </a:lnSpc>
              <a:spcBef>
                <a:spcPct val="0"/>
              </a:spcBef>
              <a:spcAft>
                <a:spcPts val="600"/>
              </a:spcAft>
            </a:pPr>
            <a:r>
              <a:rPr lang="en-US" sz="4000" kern="1200" dirty="0" err="1">
                <a:solidFill>
                  <a:srgbClr val="FFFFFF"/>
                </a:solidFill>
                <a:latin typeface="+mj-lt"/>
                <a:ea typeface="+mj-ea"/>
                <a:cs typeface="+mj-cs"/>
              </a:rPr>
              <a:t>Défis</a:t>
            </a:r>
            <a:r>
              <a:rPr lang="en-US" sz="4000" kern="1200" dirty="0">
                <a:solidFill>
                  <a:srgbClr val="FFFFFF"/>
                </a:solidFill>
                <a:latin typeface="+mj-lt"/>
                <a:ea typeface="+mj-ea"/>
                <a:cs typeface="+mj-cs"/>
              </a:rPr>
              <a:t> </a:t>
            </a:r>
            <a:r>
              <a:rPr lang="en-US" sz="4000" kern="1200" dirty="0" err="1">
                <a:solidFill>
                  <a:srgbClr val="FFFFFF"/>
                </a:solidFill>
                <a:latin typeface="+mj-lt"/>
                <a:ea typeface="+mj-ea"/>
                <a:cs typeface="+mj-cs"/>
              </a:rPr>
              <a:t>ouverts</a:t>
            </a:r>
            <a:r>
              <a:rPr lang="en-US" sz="4000" kern="1200" dirty="0">
                <a:solidFill>
                  <a:srgbClr val="FFFFFF"/>
                </a:solidFill>
                <a:latin typeface="+mj-lt"/>
                <a:ea typeface="+mj-ea"/>
                <a:cs typeface="+mj-cs"/>
              </a:rPr>
              <a:t> et solutions possibles :</a:t>
            </a:r>
          </a:p>
        </p:txBody>
      </p:sp>
      <p:pic>
        <p:nvPicPr>
          <p:cNvPr id="48" name="Graphic 47" descr="Ampoule">
            <a:extLst>
              <a:ext uri="{FF2B5EF4-FFF2-40B4-BE49-F238E27FC236}">
                <a16:creationId xmlns:a16="http://schemas.microsoft.com/office/drawing/2014/main" id="{85324288-9544-26DB-290D-F606B3A8B00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153510" y="467208"/>
            <a:ext cx="5923584" cy="5923584"/>
          </a:xfrm>
          <a:prstGeom prst="rect">
            <a:avLst/>
          </a:prstGeom>
        </p:spPr>
      </p:pic>
      <p:sp>
        <p:nvSpPr>
          <p:cNvPr id="5" name="Espace réservé du numéro de diapositive 4">
            <a:extLst>
              <a:ext uri="{FF2B5EF4-FFF2-40B4-BE49-F238E27FC236}">
                <a16:creationId xmlns:a16="http://schemas.microsoft.com/office/drawing/2014/main" id="{F4BC51B5-7B7A-00B6-AE14-32A3548BE55F}"/>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26</a:t>
            </a:fld>
            <a:endParaRPr lang="en-US" sz="1100">
              <a:solidFill>
                <a:schemeClr val="tx1">
                  <a:lumMod val="50000"/>
                  <a:lumOff val="50000"/>
                </a:schemeClr>
              </a:solidFill>
            </a:endParaRPr>
          </a:p>
        </p:txBody>
      </p:sp>
    </p:spTree>
    <p:extLst>
      <p:ext uri="{BB962C8B-B14F-4D97-AF65-F5344CB8AC3E}">
        <p14:creationId xmlns:p14="http://schemas.microsoft.com/office/powerpoint/2010/main" val="427527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500"/>
                                  </p:stCondLst>
                                  <p:iterate>
                                    <p:tmPct val="10000"/>
                                  </p:iterate>
                                  <p:childTnLst>
                                    <p:set>
                                      <p:cBhvr>
                                        <p:cTn id="6" dur="1" fill="hold">
                                          <p:stCondLst>
                                            <p:cond delay="0"/>
                                          </p:stCondLst>
                                        </p:cTn>
                                        <p:tgtEl>
                                          <p:spTgt spid="48"/>
                                        </p:tgtEl>
                                        <p:attrNameLst>
                                          <p:attrName>style.visibility</p:attrName>
                                        </p:attrNameLst>
                                      </p:cBhvr>
                                      <p:to>
                                        <p:strVal val="visible"/>
                                      </p:to>
                                    </p:set>
                                    <p:animEffect transition="in" filter="fade">
                                      <p:cBhvr>
                                        <p:cTn id="7" dur="7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C535EC-3D36-3C1B-5E8D-94956D810C7D}"/>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C92C2BA-6A82-7941-09A0-3B873A353188}"/>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b="1" kern="1200" dirty="0" err="1">
                <a:solidFill>
                  <a:srgbClr val="FFFFFF"/>
                </a:solidFill>
                <a:latin typeface="+mj-lt"/>
                <a:ea typeface="+mj-ea"/>
                <a:cs typeface="+mj-cs"/>
              </a:rPr>
              <a:t>Qualité</a:t>
            </a:r>
            <a:r>
              <a:rPr lang="en-US" sz="4000" b="1" kern="1200" dirty="0">
                <a:solidFill>
                  <a:srgbClr val="FFFFFF"/>
                </a:solidFill>
                <a:latin typeface="+mj-lt"/>
                <a:ea typeface="+mj-ea"/>
                <a:cs typeface="+mj-cs"/>
              </a:rPr>
              <a:t> des données :</a:t>
            </a:r>
          </a:p>
        </p:txBody>
      </p:sp>
      <p:sp>
        <p:nvSpPr>
          <p:cNvPr id="4" name="ZoneTexte 3">
            <a:extLst>
              <a:ext uri="{FF2B5EF4-FFF2-40B4-BE49-F238E27FC236}">
                <a16:creationId xmlns:a16="http://schemas.microsoft.com/office/drawing/2014/main" id="{894C3EDE-840F-25C0-4FCC-3C04444E36F7}"/>
              </a:ext>
            </a:extLst>
          </p:cNvPr>
          <p:cNvSpPr txBox="1"/>
          <p:nvPr/>
        </p:nvSpPr>
        <p:spPr>
          <a:xfrm>
            <a:off x="1371599" y="2318197"/>
            <a:ext cx="9724031" cy="3683358"/>
          </a:xfrm>
          <a:prstGeom prst="rect">
            <a:avLst/>
          </a:prstGeom>
        </p:spPr>
        <p:txBody>
          <a:bodyPr vert="horz" lIns="91440" tIns="45720" rIns="91440" bIns="45720" rtlCol="0" anchor="ctr">
            <a:normAutofit/>
          </a:bodyPr>
          <a:lstStyle/>
          <a:p>
            <a:pPr>
              <a:lnSpc>
                <a:spcPct val="90000"/>
              </a:lnSpc>
              <a:spcAft>
                <a:spcPts val="600"/>
              </a:spcAft>
            </a:pPr>
            <a:r>
              <a:rPr lang="fr-FR" sz="2000" b="1" dirty="0"/>
              <a:t>Défis </a:t>
            </a:r>
            <a:r>
              <a:rPr lang="en-US" sz="2000" b="1" dirty="0"/>
              <a:t>:</a:t>
            </a:r>
          </a:p>
          <a:p>
            <a:pPr>
              <a:lnSpc>
                <a:spcPct val="90000"/>
              </a:lnSpc>
              <a:spcAft>
                <a:spcPts val="600"/>
              </a:spcAft>
            </a:pPr>
            <a:r>
              <a:rPr lang="fr-FR" dirty="0"/>
              <a:t>Comme pour tout modèle d’intelligence artificielle, les données sont le nerf de la guerre. On retrouve les mêmes problématiques que pour les modèles unimodaux :</a:t>
            </a:r>
            <a:endParaRPr lang="en-US" sz="2000" dirty="0"/>
          </a:p>
          <a:p>
            <a:pPr marL="285750" lvl="0" indent="-285750">
              <a:buFont typeface="Arial" panose="020B0604020202020204" pitchFamily="34" charset="0"/>
              <a:buChar char="•"/>
            </a:pPr>
            <a:r>
              <a:rPr lang="es-AR" dirty="0" err="1"/>
              <a:t>Petite</a:t>
            </a:r>
            <a:r>
              <a:rPr lang="es-AR" dirty="0"/>
              <a:t> </a:t>
            </a:r>
            <a:r>
              <a:rPr lang="es-AR" dirty="0" err="1"/>
              <a:t>taille</a:t>
            </a:r>
            <a:r>
              <a:rPr lang="es-AR" dirty="0"/>
              <a:t> du </a:t>
            </a:r>
            <a:r>
              <a:rPr lang="es-AR" dirty="0" err="1"/>
              <a:t>dataset</a:t>
            </a:r>
            <a:endParaRPr lang="es-AR" dirty="0"/>
          </a:p>
          <a:p>
            <a:pPr marL="285750" lvl="0" indent="-285750">
              <a:buFont typeface="Arial" panose="020B0604020202020204" pitchFamily="34" charset="0"/>
              <a:buChar char="•"/>
            </a:pPr>
            <a:r>
              <a:rPr lang="es-AR" dirty="0" err="1"/>
              <a:t>Catégories</a:t>
            </a:r>
            <a:r>
              <a:rPr lang="es-AR" dirty="0"/>
              <a:t> </a:t>
            </a:r>
            <a:r>
              <a:rPr lang="es-AR" dirty="0" err="1"/>
              <a:t>déséquilibrées</a:t>
            </a:r>
            <a:endParaRPr lang="es-AR" dirty="0"/>
          </a:p>
          <a:p>
            <a:pPr marL="285750" lvl="0" indent="-285750">
              <a:buFont typeface="Arial" panose="020B0604020202020204" pitchFamily="34" charset="0"/>
              <a:buChar char="•"/>
            </a:pPr>
            <a:r>
              <a:rPr lang="es-AR" dirty="0" err="1"/>
              <a:t>Erreurs</a:t>
            </a:r>
            <a:r>
              <a:rPr lang="es-AR" dirty="0"/>
              <a:t> </a:t>
            </a:r>
            <a:r>
              <a:rPr lang="es-AR" dirty="0" err="1"/>
              <a:t>d’annotation</a:t>
            </a:r>
            <a:endParaRPr lang="es-AR" dirty="0"/>
          </a:p>
          <a:p>
            <a:pPr lvl="1" indent="-228600">
              <a:lnSpc>
                <a:spcPct val="90000"/>
              </a:lnSpc>
              <a:spcAft>
                <a:spcPts val="600"/>
              </a:spcAft>
              <a:buFont typeface="Arial" panose="020B0604020202020204" pitchFamily="34" charset="0"/>
              <a:buChar char="•"/>
            </a:pPr>
            <a:endParaRPr lang="en-US" sz="2000" dirty="0"/>
          </a:p>
          <a:p>
            <a:pPr>
              <a:lnSpc>
                <a:spcPct val="90000"/>
              </a:lnSpc>
              <a:spcAft>
                <a:spcPts val="600"/>
              </a:spcAft>
            </a:pPr>
            <a:r>
              <a:rPr lang="en-US" sz="2000" b="1" dirty="0"/>
              <a:t>Solutions possibles :</a:t>
            </a:r>
          </a:p>
          <a:p>
            <a:pPr marL="285750" lvl="0" indent="-285750">
              <a:buFont typeface="Arial" panose="020B0604020202020204" pitchFamily="34" charset="0"/>
              <a:buChar char="•"/>
            </a:pPr>
            <a:r>
              <a:rPr lang="fr-FR" dirty="0"/>
              <a:t>Utilisation de </a:t>
            </a:r>
            <a:r>
              <a:rPr lang="fr-FR" dirty="0" err="1"/>
              <a:t>datasets</a:t>
            </a:r>
            <a:r>
              <a:rPr lang="fr-FR" dirty="0"/>
              <a:t> augmentés par des données synthétiques, mais les résultats restent limités</a:t>
            </a:r>
            <a:endParaRPr lang="es-AR" dirty="0"/>
          </a:p>
          <a:p>
            <a:pPr marL="285750" lvl="0" indent="-285750">
              <a:buFont typeface="Arial" panose="020B0604020202020204" pitchFamily="34" charset="0"/>
              <a:buChar char="•"/>
            </a:pPr>
            <a:r>
              <a:rPr lang="fr-FR" dirty="0"/>
              <a:t>Augmenter le nombre de capteurs pour réduire les variations intrinsèques liées au capteur</a:t>
            </a:r>
            <a:endParaRPr lang="es-AR" dirty="0"/>
          </a:p>
          <a:p>
            <a:pPr marL="285750" lvl="0" indent="-285750">
              <a:buFont typeface="Arial" panose="020B0604020202020204" pitchFamily="34" charset="0"/>
              <a:buChar char="•"/>
            </a:pPr>
            <a:r>
              <a:rPr lang="fr-FR" dirty="0"/>
              <a:t>Porter une attention particulière à l’équilibre des données</a:t>
            </a:r>
            <a:endParaRPr lang="es-AR" dirty="0"/>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p:txBody>
      </p:sp>
      <p:sp>
        <p:nvSpPr>
          <p:cNvPr id="5" name="Espace réservé du numéro de diapositive 4">
            <a:extLst>
              <a:ext uri="{FF2B5EF4-FFF2-40B4-BE49-F238E27FC236}">
                <a16:creationId xmlns:a16="http://schemas.microsoft.com/office/drawing/2014/main" id="{E6CCEE14-FA7D-C8F6-2B28-F84F4CE63AA5}"/>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27</a:t>
            </a:fld>
            <a:endParaRPr lang="en-US" sz="1100">
              <a:solidFill>
                <a:schemeClr val="tx1">
                  <a:lumMod val="50000"/>
                  <a:lumOff val="50000"/>
                </a:schemeClr>
              </a:solidFill>
            </a:endParaRPr>
          </a:p>
        </p:txBody>
      </p:sp>
    </p:spTree>
    <p:extLst>
      <p:ext uri="{BB962C8B-B14F-4D97-AF65-F5344CB8AC3E}">
        <p14:creationId xmlns:p14="http://schemas.microsoft.com/office/powerpoint/2010/main" val="40116636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29084C-8296-34FA-BA65-E4FE210BBF58}"/>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87169BE-AB4D-733E-CE83-AF0BE93E9622}"/>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kern="1200" dirty="0">
                <a:solidFill>
                  <a:srgbClr val="FFFFFF"/>
                </a:solidFill>
                <a:latin typeface="+mj-lt"/>
                <a:ea typeface="+mj-ea"/>
                <a:cs typeface="+mj-cs"/>
              </a:rPr>
              <a:t>Perte </a:t>
            </a:r>
            <a:r>
              <a:rPr lang="en-US" sz="4000" kern="1200" dirty="0" err="1">
                <a:solidFill>
                  <a:srgbClr val="FFFFFF"/>
                </a:solidFill>
                <a:latin typeface="+mj-lt"/>
                <a:ea typeface="+mj-ea"/>
                <a:cs typeface="+mj-cs"/>
              </a:rPr>
              <a:t>d’information</a:t>
            </a:r>
            <a:r>
              <a:rPr lang="en-US" sz="4000" kern="1200" dirty="0">
                <a:solidFill>
                  <a:srgbClr val="FFFFFF"/>
                </a:solidFill>
                <a:latin typeface="+mj-lt"/>
                <a:ea typeface="+mj-ea"/>
                <a:cs typeface="+mj-cs"/>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791137E7-8003-ABE0-A758-C52792C603EB}"/>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br>
              <a:rPr lang="fr-FR" dirty="0"/>
            </a:br>
            <a:r>
              <a:rPr lang="fr-FR" dirty="0"/>
              <a:t>La fusion entraîne une perte d’informations lors de la translation des données d’une modalité vers une autre.</a:t>
            </a:r>
            <a:br>
              <a:rPr lang="fr-FR" dirty="0"/>
            </a:br>
            <a:r>
              <a:rPr lang="fr-FR" dirty="0"/>
              <a:t>Par exemple, lors du passage d’une modalité 3D vers 2D, il y a une perte d’informations, tout comme lors de la transformation d’une image en description textuelle.</a:t>
            </a:r>
          </a:p>
          <a:p>
            <a:endParaRPr lang="es-AR" dirty="0"/>
          </a:p>
          <a:p>
            <a:r>
              <a:rPr lang="es-AR" b="1" dirty="0" err="1"/>
              <a:t>Solutions</a:t>
            </a:r>
            <a:r>
              <a:rPr lang="es-AR" b="1" dirty="0"/>
              <a:t> </a:t>
            </a:r>
            <a:r>
              <a:rPr lang="es-AR" b="1" dirty="0" err="1"/>
              <a:t>possibles</a:t>
            </a:r>
            <a:r>
              <a:rPr lang="es-AR" b="1" dirty="0"/>
              <a:t> :</a:t>
            </a:r>
            <a:endParaRPr lang="es-AR" dirty="0"/>
          </a:p>
          <a:p>
            <a:pPr marL="285750" lvl="0" indent="-285750">
              <a:buFont typeface="Arial" panose="020B0604020202020204" pitchFamily="34" charset="0"/>
              <a:buChar char="•"/>
            </a:pPr>
            <a:r>
              <a:rPr lang="fr-FR" dirty="0"/>
              <a:t>La convolution continue constitue une solution potentielle, elle permet de réduire la perte d’information géométrique en capturant des informations locales.</a:t>
            </a:r>
            <a:endParaRPr lang="es-AR" dirty="0"/>
          </a:p>
          <a:p>
            <a:pPr indent="-228600">
              <a:lnSpc>
                <a:spcPct val="90000"/>
              </a:lnSpc>
              <a:spcAft>
                <a:spcPts val="600"/>
              </a:spcAft>
              <a:buFont typeface="Arial" panose="020B0604020202020204" pitchFamily="34" charset="0"/>
              <a:buChar char="•"/>
            </a:pPr>
            <a:endParaRPr lang="en-US" sz="2000" dirty="0"/>
          </a:p>
        </p:txBody>
      </p:sp>
      <p:sp>
        <p:nvSpPr>
          <p:cNvPr id="5" name="Espace réservé du numéro de diapositive 4">
            <a:extLst>
              <a:ext uri="{FF2B5EF4-FFF2-40B4-BE49-F238E27FC236}">
                <a16:creationId xmlns:a16="http://schemas.microsoft.com/office/drawing/2014/main" id="{FAD93120-1070-07DE-38AA-60EC49C77119}"/>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28</a:t>
            </a:fld>
            <a:endParaRPr lang="en-US" sz="1100">
              <a:solidFill>
                <a:schemeClr val="tx1">
                  <a:lumMod val="50000"/>
                  <a:lumOff val="50000"/>
                </a:schemeClr>
              </a:solidFill>
            </a:endParaRPr>
          </a:p>
        </p:txBody>
      </p:sp>
    </p:spTree>
    <p:extLst>
      <p:ext uri="{BB962C8B-B14F-4D97-AF65-F5344CB8AC3E}">
        <p14:creationId xmlns:p14="http://schemas.microsoft.com/office/powerpoint/2010/main" val="6665884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E465869-182C-0AD0-A4D8-34AB5377BB1F}"/>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F8662677-2987-83B9-FD1A-E6F0E23072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EC3A56EC-A386-15BC-C4E0-FC6763B687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749709FE-A78E-A6BE-DA78-8222DA37B9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70CDC970-1033-520F-C0C8-BA2BDD957E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FF22B140-637E-C299-E830-F6A275B9D7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44953D0E-538C-E65F-8715-0B1F02587055}"/>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Accumulation</a:t>
            </a:r>
            <a:r>
              <a:rPr lang="es-AR" sz="4000" dirty="0">
                <a:solidFill>
                  <a:schemeClr val="bg1"/>
                </a:solidFill>
              </a:rPr>
              <a:t> </a:t>
            </a:r>
            <a:r>
              <a:rPr lang="es-AR" sz="4000" dirty="0" err="1">
                <a:solidFill>
                  <a:schemeClr val="bg1"/>
                </a:solidFill>
              </a:rPr>
              <a:t>d’erreurs</a:t>
            </a:r>
            <a:r>
              <a:rPr lang="es-AR" sz="4000" dirty="0">
                <a:solidFill>
                  <a:schemeClr val="bg1"/>
                </a:solidFill>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AE10B7C0-48FB-2B2E-295E-D7798BA132E4}"/>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endParaRPr lang="es-AR" b="1" dirty="0"/>
          </a:p>
          <a:p>
            <a:r>
              <a:rPr lang="fr-FR" dirty="0"/>
              <a:t>La fusion de modalités peut introduire du bruit.</a:t>
            </a:r>
            <a:br>
              <a:rPr lang="fr-FR" dirty="0"/>
            </a:br>
            <a:r>
              <a:rPr lang="fr-FR" dirty="0"/>
              <a:t>On distingue deux types de bruit : interne et externe.</a:t>
            </a:r>
            <a:endParaRPr lang="es-AR" dirty="0"/>
          </a:p>
          <a:p>
            <a:pPr marL="285750" lvl="0" indent="-285750">
              <a:buFont typeface="Arial" panose="020B0604020202020204" pitchFamily="34" charset="0"/>
              <a:buChar char="•"/>
            </a:pPr>
            <a:r>
              <a:rPr lang="fr-FR" dirty="0"/>
              <a:t>Bruit interne ou bruit caractéristique : bruit intrinsèque aux données. </a:t>
            </a:r>
            <a:endParaRPr lang="es-AR" dirty="0"/>
          </a:p>
          <a:p>
            <a:pPr marL="285750" lvl="0" indent="-285750">
              <a:buFont typeface="Arial" panose="020B0604020202020204" pitchFamily="34" charset="0"/>
              <a:buChar char="•"/>
            </a:pPr>
            <a:r>
              <a:rPr lang="fr-FR" dirty="0"/>
              <a:t>Bruit externe : bruit généré lors de l’étape de fusion des données multimodales.</a:t>
            </a:r>
          </a:p>
          <a:p>
            <a:pPr lvl="0"/>
            <a:endParaRPr lang="es-AR" dirty="0"/>
          </a:p>
          <a:p>
            <a:r>
              <a:rPr lang="fr-FR" b="1" dirty="0"/>
              <a:t>Solution possible :</a:t>
            </a:r>
            <a:endParaRPr lang="es-AR" b="1" dirty="0"/>
          </a:p>
          <a:p>
            <a:r>
              <a:rPr lang="fr-FR" dirty="0"/>
              <a:t>Certaines études utilisent des techniques de traduction des données afin de convertir les données multimodales entre elles et d’unifier les informations provenant de différentes modalités.</a:t>
            </a:r>
            <a:br>
              <a:rPr lang="fr-FR" dirty="0"/>
            </a:br>
            <a:r>
              <a:rPr lang="fr-FR" dirty="0"/>
              <a:t>Ces approches peuvent être davantage optimisées pour améliorer la robustesse face au bruit.</a:t>
            </a:r>
            <a:endParaRPr lang="es-AR" dirty="0"/>
          </a:p>
        </p:txBody>
      </p:sp>
      <p:sp>
        <p:nvSpPr>
          <p:cNvPr id="5" name="Espace réservé du numéro de diapositive 4">
            <a:extLst>
              <a:ext uri="{FF2B5EF4-FFF2-40B4-BE49-F238E27FC236}">
                <a16:creationId xmlns:a16="http://schemas.microsoft.com/office/drawing/2014/main" id="{7DB018E5-5FE0-67F5-F871-6859B93E3683}"/>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29</a:t>
            </a:fld>
            <a:endParaRPr lang="en-US" sz="1100">
              <a:solidFill>
                <a:schemeClr val="tx1">
                  <a:lumMod val="50000"/>
                  <a:lumOff val="50000"/>
                </a:schemeClr>
              </a:solidFill>
            </a:endParaRPr>
          </a:p>
        </p:txBody>
      </p:sp>
    </p:spTree>
    <p:extLst>
      <p:ext uri="{BB962C8B-B14F-4D97-AF65-F5344CB8AC3E}">
        <p14:creationId xmlns:p14="http://schemas.microsoft.com/office/powerpoint/2010/main" val="24272092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B0CD2A-8E6D-2DBB-6389-51011E910A23}"/>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DCF7D8CD-41B6-44ED-DB0B-200027560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BEB649D1-F5A6-A58D-54E5-DE7B09F431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94F123C3-9D97-9176-723A-81EBFA0B37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F1EB907-CB4D-0490-8444-DD281BD92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35FD5B13-5DFE-E687-D310-D7C041063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AB2B2AF8-27E9-4D0C-2086-9FEE61CCCEEC}"/>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Quantité</a:t>
            </a:r>
            <a:r>
              <a:rPr lang="es-AR" sz="4000" dirty="0">
                <a:solidFill>
                  <a:schemeClr val="bg1"/>
                </a:solidFill>
              </a:rPr>
              <a:t> de </a:t>
            </a:r>
            <a:r>
              <a:rPr lang="es-AR" sz="4000" dirty="0" err="1">
                <a:solidFill>
                  <a:schemeClr val="bg1"/>
                </a:solidFill>
              </a:rPr>
              <a:t>modalités</a:t>
            </a:r>
            <a:r>
              <a:rPr lang="es-AR" sz="4000" dirty="0">
                <a:solidFill>
                  <a:schemeClr val="bg1"/>
                </a:solidFill>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56C6DEFA-50C4-CE09-0628-526BB66E9012}"/>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br>
              <a:rPr lang="fr-FR" dirty="0"/>
            </a:br>
            <a:r>
              <a:rPr lang="fr-FR" dirty="0"/>
              <a:t>La plupart des travaux de fusion multimodale se limitent à deux modalités, car l’ajout de modalités supplémentaires augmente fortement la dimension des caractéristiques et introduit davantage de bruit, et rendant les calculs plus complexes. Pourtant, certains domaines comme la conduite autonome </a:t>
            </a:r>
            <a:r>
              <a:rPr lang="fr-FR" dirty="0" err="1"/>
              <a:t>necessite</a:t>
            </a:r>
            <a:r>
              <a:rPr lang="fr-FR" dirty="0"/>
              <a:t>, l’utilisation de plus de modalité.</a:t>
            </a:r>
          </a:p>
          <a:p>
            <a:endParaRPr lang="es-AR" dirty="0"/>
          </a:p>
          <a:p>
            <a:r>
              <a:rPr lang="es-AR" b="1" dirty="0" err="1"/>
              <a:t>Solutions</a:t>
            </a:r>
            <a:r>
              <a:rPr lang="es-AR" b="1" dirty="0"/>
              <a:t> </a:t>
            </a:r>
            <a:r>
              <a:rPr lang="es-AR" b="1" dirty="0" err="1"/>
              <a:t>possibles</a:t>
            </a:r>
            <a:r>
              <a:rPr lang="es-AR" b="1" dirty="0"/>
              <a:t> :</a:t>
            </a:r>
            <a:endParaRPr lang="es-AR" dirty="0"/>
          </a:p>
          <a:p>
            <a:pPr marL="285750" lvl="0" indent="-285750">
              <a:buFont typeface="Arial" panose="020B0604020202020204" pitchFamily="34" charset="0"/>
              <a:buChar char="•"/>
            </a:pPr>
            <a:r>
              <a:rPr lang="fr-FR" dirty="0"/>
              <a:t>Réduction de dimension</a:t>
            </a:r>
            <a:endParaRPr lang="es-AR" dirty="0"/>
          </a:p>
          <a:p>
            <a:pPr marL="742950" lvl="1" indent="-285750">
              <a:buFont typeface="Arial" panose="020B0604020202020204" pitchFamily="34" charset="0"/>
              <a:buChar char="•"/>
            </a:pPr>
            <a:r>
              <a:rPr lang="fr-FR" dirty="0"/>
              <a:t>PCA ou ACP</a:t>
            </a:r>
            <a:endParaRPr lang="es-AR" dirty="0"/>
          </a:p>
          <a:p>
            <a:pPr marL="742950" lvl="1" indent="-285750">
              <a:buFont typeface="Arial" panose="020B0604020202020204" pitchFamily="34" charset="0"/>
              <a:buChar char="•"/>
            </a:pPr>
            <a:r>
              <a:rPr lang="fr-FR" dirty="0"/>
              <a:t>GPLVM</a:t>
            </a:r>
            <a:endParaRPr lang="es-AR" dirty="0"/>
          </a:p>
          <a:p>
            <a:pPr marL="285750" lvl="0" indent="-285750">
              <a:buFont typeface="Arial" panose="020B0604020202020204" pitchFamily="34" charset="0"/>
              <a:buChar char="•"/>
            </a:pPr>
            <a:r>
              <a:rPr lang="fr-FR" dirty="0"/>
              <a:t>Filtrage de caractéristiques ou clustering : sélectionner ou regrouper les informations les plus pertinentes</a:t>
            </a:r>
            <a:endParaRPr lang="es-AR" dirty="0"/>
          </a:p>
        </p:txBody>
      </p:sp>
      <p:sp>
        <p:nvSpPr>
          <p:cNvPr id="5" name="Espace réservé du numéro de diapositive 4">
            <a:extLst>
              <a:ext uri="{FF2B5EF4-FFF2-40B4-BE49-F238E27FC236}">
                <a16:creationId xmlns:a16="http://schemas.microsoft.com/office/drawing/2014/main" id="{D67FC217-BB39-28B0-08FA-FD5D3BFF4205}"/>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30</a:t>
            </a:fld>
            <a:endParaRPr lang="en-US" sz="1100">
              <a:solidFill>
                <a:schemeClr val="tx1">
                  <a:lumMod val="50000"/>
                  <a:lumOff val="50000"/>
                </a:schemeClr>
              </a:solidFill>
            </a:endParaRPr>
          </a:p>
        </p:txBody>
      </p:sp>
    </p:spTree>
    <p:extLst>
      <p:ext uri="{BB962C8B-B14F-4D97-AF65-F5344CB8AC3E}">
        <p14:creationId xmlns:p14="http://schemas.microsoft.com/office/powerpoint/2010/main" val="5123976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956481-9C05-C2EE-4200-B0B1877D0AC4}"/>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490D6A23-E5B7-28C5-4D99-C98CAAAA19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0DA95082-9737-2E22-E612-9D8A27B396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211EB1D-644F-0A20-5605-D3866F908A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E2913725-AD89-0A77-BC77-B357BA23AF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240E08C-EC2E-13C2-DC8F-EB7CABF859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22401567-F394-572A-CCC9-BEC421F65B22}"/>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Garantie</a:t>
            </a:r>
            <a:r>
              <a:rPr lang="es-AR" sz="4000" dirty="0">
                <a:solidFill>
                  <a:schemeClr val="bg1"/>
                </a:solidFill>
              </a:rPr>
              <a:t> en </a:t>
            </a:r>
            <a:r>
              <a:rPr lang="es-AR" sz="4000" dirty="0" err="1">
                <a:solidFill>
                  <a:schemeClr val="bg1"/>
                </a:solidFill>
              </a:rPr>
              <a:t>temps</a:t>
            </a:r>
            <a:r>
              <a:rPr lang="es-AR" sz="4000" dirty="0">
                <a:solidFill>
                  <a:schemeClr val="bg1"/>
                </a:solidFill>
              </a:rPr>
              <a:t> </a:t>
            </a:r>
            <a:r>
              <a:rPr lang="es-AR" sz="4000" dirty="0" err="1">
                <a:solidFill>
                  <a:schemeClr val="bg1"/>
                </a:solidFill>
              </a:rPr>
              <a:t>réel</a:t>
            </a:r>
            <a:r>
              <a:rPr lang="es-AR" sz="4000" dirty="0">
                <a:solidFill>
                  <a:schemeClr val="bg1"/>
                </a:solidFill>
              </a:rPr>
              <a:t>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BE67FC27-51B8-7818-777F-D2E28AD5329F}"/>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p>
          <a:p>
            <a:r>
              <a:rPr lang="fr-FR" dirty="0"/>
              <a:t>L’ajout de plusieurs modalités implique davantage de traitement et augmente potentiellement la complexité computationnelle. Le temps de réponse peut donc s’allonger, ce qui peut limiter l’utilisation de la fusion multimodale dans des applications en temps réel.</a:t>
            </a:r>
          </a:p>
          <a:p>
            <a:endParaRPr lang="fr-FR" dirty="0"/>
          </a:p>
          <a:p>
            <a:r>
              <a:rPr lang="fr-FR" b="1" dirty="0"/>
              <a:t>Solutions possibles :</a:t>
            </a:r>
          </a:p>
          <a:p>
            <a:pPr marL="285750" indent="-285750">
              <a:buFont typeface="Arial" panose="020B0604020202020204" pitchFamily="34" charset="0"/>
              <a:buChar char="•"/>
            </a:pPr>
            <a:r>
              <a:rPr lang="fr-FR" dirty="0"/>
              <a:t>Réduire la complexité computationnelle</a:t>
            </a:r>
          </a:p>
          <a:p>
            <a:pPr marL="742950" lvl="1" indent="-285750">
              <a:buFont typeface="Arial" panose="020B0604020202020204" pitchFamily="34" charset="0"/>
              <a:buChar char="•"/>
            </a:pPr>
            <a:r>
              <a:rPr lang="fr-FR" i="1" dirty="0" err="1"/>
              <a:t>Pruning</a:t>
            </a:r>
            <a:endParaRPr lang="fr-FR" dirty="0"/>
          </a:p>
          <a:p>
            <a:pPr marL="742950" lvl="1" indent="-285750">
              <a:buFont typeface="Arial" panose="020B0604020202020204" pitchFamily="34" charset="0"/>
              <a:buChar char="•"/>
            </a:pPr>
            <a:r>
              <a:rPr lang="fr-FR" i="1" dirty="0" err="1"/>
              <a:t>Quantization</a:t>
            </a:r>
            <a:endParaRPr lang="fr-FR" dirty="0"/>
          </a:p>
          <a:p>
            <a:pPr marL="285750" indent="-285750">
              <a:buFont typeface="Arial" panose="020B0604020202020204" pitchFamily="34" charset="0"/>
              <a:buChar char="•"/>
            </a:pPr>
            <a:r>
              <a:rPr lang="fr-FR" dirty="0"/>
              <a:t>Stratégies de compression</a:t>
            </a:r>
          </a:p>
        </p:txBody>
      </p:sp>
      <p:sp>
        <p:nvSpPr>
          <p:cNvPr id="5" name="Espace réservé du numéro de diapositive 4">
            <a:extLst>
              <a:ext uri="{FF2B5EF4-FFF2-40B4-BE49-F238E27FC236}">
                <a16:creationId xmlns:a16="http://schemas.microsoft.com/office/drawing/2014/main" id="{E519E10F-12DE-2BC4-91C9-7886FA768CAC}"/>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31</a:t>
            </a:fld>
            <a:endParaRPr lang="en-US" sz="1100">
              <a:solidFill>
                <a:schemeClr val="tx1">
                  <a:lumMod val="50000"/>
                  <a:lumOff val="50000"/>
                </a:schemeClr>
              </a:solidFill>
            </a:endParaRPr>
          </a:p>
        </p:txBody>
      </p:sp>
    </p:spTree>
    <p:extLst>
      <p:ext uri="{BB962C8B-B14F-4D97-AF65-F5344CB8AC3E}">
        <p14:creationId xmlns:p14="http://schemas.microsoft.com/office/powerpoint/2010/main" val="26336402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D6F20B-B41C-7872-9D06-CA6D052A7F44}"/>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FF70798C-740B-6008-ED3B-C80A3DB38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6F67D5EA-1F6B-1BB7-3383-0D98C24BC9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4333281-8043-6C86-1DAC-1F85DD2B8D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B1A497E5-A508-96AE-BEA3-A80015E0FA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9987398F-CB4E-F98C-E12E-3231CAC152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2C92EAF7-0D0A-5152-42F4-6353CF144739}"/>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Environnement</a:t>
            </a:r>
            <a:r>
              <a:rPr lang="es-AR" sz="4000" dirty="0">
                <a:solidFill>
                  <a:schemeClr val="bg1"/>
                </a:solidFill>
              </a:rPr>
              <a:t> </a:t>
            </a:r>
            <a:r>
              <a:rPr lang="es-AR" sz="4000" dirty="0" err="1">
                <a:solidFill>
                  <a:schemeClr val="bg1"/>
                </a:solidFill>
              </a:rPr>
              <a:t>dynamique</a:t>
            </a:r>
            <a:r>
              <a:rPr lang="es-AR" sz="4000" dirty="0">
                <a:solidFill>
                  <a:schemeClr val="bg1"/>
                </a:solidFill>
              </a:rPr>
              <a:t>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8315165D-A46F-6604-6BF6-5693A7789E6E}"/>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a:t>
            </a:r>
          </a:p>
          <a:p>
            <a:r>
              <a:rPr lang="fr-FR" dirty="0"/>
              <a:t>Même si les données restent de la même modalité, elles ne sont pas figées : elles évoluent au fil du temps, comme le vocabulaire. Dans ce genre de cas, il est nécessaire de réentraîner les modèles pour les conserver à jour. Cependant, cette approche est souvent très coûteuse et peut entraîner un risque de </a:t>
            </a:r>
            <a:r>
              <a:rPr lang="fr-FR" dirty="0" err="1"/>
              <a:t>catastrophic</a:t>
            </a:r>
            <a:r>
              <a:rPr lang="fr-FR" dirty="0"/>
              <a:t> </a:t>
            </a:r>
            <a:r>
              <a:rPr lang="fr-FR" dirty="0" err="1"/>
              <a:t>forgetting</a:t>
            </a:r>
            <a:r>
              <a:rPr lang="fr-FR" dirty="0"/>
              <a:t>.</a:t>
            </a:r>
          </a:p>
          <a:p>
            <a:endParaRPr lang="fr-FR" b="1" dirty="0"/>
          </a:p>
          <a:p>
            <a:r>
              <a:rPr lang="fr-FR" b="1" dirty="0"/>
              <a:t>Solutions possibles :</a:t>
            </a:r>
          </a:p>
          <a:p>
            <a:pPr marL="285750" indent="-285750">
              <a:buFont typeface="Arial" panose="020B0604020202020204" pitchFamily="34" charset="0"/>
              <a:buChar char="•"/>
            </a:pPr>
            <a:r>
              <a:rPr lang="fr-FR" dirty="0"/>
              <a:t>Intégration des données historiques</a:t>
            </a:r>
          </a:p>
          <a:p>
            <a:pPr marL="285750" indent="-285750">
              <a:buFont typeface="Arial" panose="020B0604020202020204" pitchFamily="34" charset="0"/>
              <a:buChar char="•"/>
            </a:pPr>
            <a:r>
              <a:rPr lang="fr-FR" dirty="0"/>
              <a:t>Implémentation d’une stratégie d’</a:t>
            </a:r>
            <a:r>
              <a:rPr lang="fr-FR" dirty="0" err="1"/>
              <a:t>incremental</a:t>
            </a:r>
            <a:r>
              <a:rPr lang="fr-FR" dirty="0"/>
              <a:t> </a:t>
            </a:r>
            <a:r>
              <a:rPr lang="fr-FR" dirty="0" err="1"/>
              <a:t>learning</a:t>
            </a:r>
            <a:endParaRPr lang="fr-FR" dirty="0"/>
          </a:p>
        </p:txBody>
      </p:sp>
      <p:sp>
        <p:nvSpPr>
          <p:cNvPr id="5" name="Espace réservé du numéro de diapositive 4">
            <a:extLst>
              <a:ext uri="{FF2B5EF4-FFF2-40B4-BE49-F238E27FC236}">
                <a16:creationId xmlns:a16="http://schemas.microsoft.com/office/drawing/2014/main" id="{AE6E3619-C238-D6AA-3494-5D83B004280F}"/>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32</a:t>
            </a:fld>
            <a:endParaRPr lang="en-US" sz="1100">
              <a:solidFill>
                <a:schemeClr val="tx1">
                  <a:lumMod val="50000"/>
                  <a:lumOff val="50000"/>
                </a:schemeClr>
              </a:solidFill>
            </a:endParaRPr>
          </a:p>
        </p:txBody>
      </p:sp>
    </p:spTree>
    <p:extLst>
      <p:ext uri="{BB962C8B-B14F-4D97-AF65-F5344CB8AC3E}">
        <p14:creationId xmlns:p14="http://schemas.microsoft.com/office/powerpoint/2010/main" val="37536107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5D71013-BFAD-BB02-0D2C-046BBB56F2C9}"/>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2709E9EC-FE21-5F25-65B0-D89B9BF066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D9AE8251-E73F-509E-36D9-C2EDCE82CF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F4F97546-29FC-1CCB-891C-4E2ECA96BC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ACB4FABC-A6DB-0A21-4604-20E4655BAA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C6E0FA15-5697-01FC-D593-9D661C2075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1B1F636E-1E33-C876-0828-499E043B06DB}"/>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fr-FR" sz="4000" dirty="0">
                <a:solidFill>
                  <a:schemeClr val="bg1"/>
                </a:solidFill>
              </a:rPr>
              <a:t>Synchronisation temporelle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C376C462-6A7E-ECA0-4F02-F2CFD133AD59}"/>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endParaRPr lang="es-AR" b="1" dirty="0"/>
          </a:p>
          <a:p>
            <a:r>
              <a:rPr lang="fr-FR" dirty="0"/>
              <a:t>La synchronisation temporelle consiste à s’assurer que les données multimodales fusionnées sont correctement alignées dans le temps et dans l’espace. Pour les longues séquences il est difficile de capturer les associations sémantiques entre modalités. </a:t>
            </a:r>
            <a:endParaRPr lang="es-AR" dirty="0"/>
          </a:p>
          <a:p>
            <a:r>
              <a:rPr lang="fr-FR" dirty="0"/>
              <a:t>La collecte des données multimodales peu présenter un désalignement dû au décalage temporel entre les capteurs. </a:t>
            </a:r>
          </a:p>
          <a:p>
            <a:endParaRPr lang="es-AR" dirty="0"/>
          </a:p>
          <a:p>
            <a:r>
              <a:rPr lang="fr-FR" b="1" dirty="0"/>
              <a:t>Solutions possibles :</a:t>
            </a:r>
            <a:endParaRPr lang="es-AR" b="1" dirty="0"/>
          </a:p>
          <a:p>
            <a:pPr marL="285750" lvl="0" indent="-285750">
              <a:buFont typeface="Arial" panose="020B0604020202020204" pitchFamily="34" charset="0"/>
              <a:buChar char="•"/>
            </a:pPr>
            <a:r>
              <a:rPr lang="fr-FR" dirty="0"/>
              <a:t>Une solution potentielle consiste à utiliser des mesures de similarité et des graphes de connaissances afin de réduire les différences sémantiques et de réaliser les tâches d’alignement des données.</a:t>
            </a:r>
          </a:p>
          <a:p>
            <a:pPr marL="285750" indent="-285750">
              <a:buFont typeface="Arial" panose="020B0604020202020204" pitchFamily="34" charset="0"/>
              <a:buChar char="•"/>
            </a:pPr>
            <a:r>
              <a:rPr lang="fr-FR" dirty="0"/>
              <a:t>Conception d’un mécanisme de mise en cache pour gérer la latence des données.</a:t>
            </a:r>
            <a:endParaRPr lang="es-AR" dirty="0"/>
          </a:p>
        </p:txBody>
      </p:sp>
      <p:sp>
        <p:nvSpPr>
          <p:cNvPr id="5" name="Espace réservé du numéro de diapositive 4">
            <a:extLst>
              <a:ext uri="{FF2B5EF4-FFF2-40B4-BE49-F238E27FC236}">
                <a16:creationId xmlns:a16="http://schemas.microsoft.com/office/drawing/2014/main" id="{9C1D2BC6-A921-346B-61EE-142A208945D9}"/>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33</a:t>
            </a:fld>
            <a:endParaRPr lang="en-US" sz="1100">
              <a:solidFill>
                <a:schemeClr val="tx1">
                  <a:lumMod val="50000"/>
                  <a:lumOff val="50000"/>
                </a:schemeClr>
              </a:solidFill>
            </a:endParaRPr>
          </a:p>
        </p:txBody>
      </p:sp>
    </p:spTree>
    <p:extLst>
      <p:ext uri="{BB962C8B-B14F-4D97-AF65-F5344CB8AC3E}">
        <p14:creationId xmlns:p14="http://schemas.microsoft.com/office/powerpoint/2010/main" val="25149375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3FCB4D-5791-BDAD-9D64-F3CE4D60456E}"/>
              </a:ext>
            </a:extLst>
          </p:cNvPr>
          <p:cNvSpPr>
            <a:spLocks noGrp="1"/>
          </p:cNvSpPr>
          <p:nvPr>
            <p:ph type="title"/>
          </p:nvPr>
        </p:nvSpPr>
        <p:spPr/>
        <p:txBody>
          <a:bodyPr/>
          <a:lstStyle/>
          <a:p>
            <a:r>
              <a:rPr lang="fr-FR" dirty="0"/>
              <a:t>Sources:</a:t>
            </a:r>
            <a:endParaRPr lang="es-AR" dirty="0"/>
          </a:p>
        </p:txBody>
      </p:sp>
      <p:sp>
        <p:nvSpPr>
          <p:cNvPr id="3" name="Espace réservé du contenu 2">
            <a:extLst>
              <a:ext uri="{FF2B5EF4-FFF2-40B4-BE49-F238E27FC236}">
                <a16:creationId xmlns:a16="http://schemas.microsoft.com/office/drawing/2014/main" id="{E6FF6EA4-8A67-DB1D-5EB1-7E17095F9270}"/>
              </a:ext>
            </a:extLst>
          </p:cNvPr>
          <p:cNvSpPr>
            <a:spLocks noGrp="1"/>
          </p:cNvSpPr>
          <p:nvPr>
            <p:ph idx="1"/>
          </p:nvPr>
        </p:nvSpPr>
        <p:spPr/>
        <p:txBody>
          <a:bodyPr>
            <a:normAutofit/>
          </a:bodyPr>
          <a:lstStyle/>
          <a:p>
            <a:r>
              <a:rPr lang="en-US" sz="1600" dirty="0"/>
              <a:t>A Comprehensive Survey on Deep Learning Multi-Modal Fusion: Methods, Technologies and Applications </a:t>
            </a:r>
            <a:r>
              <a:rPr lang="es-AR" sz="1600" dirty="0" err="1"/>
              <a:t>Tianzhe</a:t>
            </a:r>
            <a:r>
              <a:rPr lang="es-AR" sz="1600" dirty="0"/>
              <a:t> </a:t>
            </a:r>
            <a:r>
              <a:rPr lang="es-AR" sz="1600" dirty="0" err="1"/>
              <a:t>Jiao</a:t>
            </a:r>
            <a:r>
              <a:rPr lang="es-AR" sz="1600" dirty="0"/>
              <a:t>, </a:t>
            </a:r>
            <a:r>
              <a:rPr lang="es-AR" sz="1600" dirty="0" err="1"/>
              <a:t>Chaopeng</a:t>
            </a:r>
            <a:r>
              <a:rPr lang="es-AR" sz="1600" dirty="0"/>
              <a:t> </a:t>
            </a:r>
            <a:r>
              <a:rPr lang="es-AR" sz="1600" dirty="0" err="1"/>
              <a:t>Guo</a:t>
            </a:r>
            <a:r>
              <a:rPr lang="es-AR" sz="1600" dirty="0"/>
              <a:t>, </a:t>
            </a:r>
            <a:r>
              <a:rPr lang="es-AR" sz="1600" dirty="0" err="1"/>
              <a:t>Xiaoyue</a:t>
            </a:r>
            <a:r>
              <a:rPr lang="es-AR" sz="1600" dirty="0"/>
              <a:t> Feng, </a:t>
            </a:r>
            <a:r>
              <a:rPr lang="es-AR" sz="1600" dirty="0" err="1"/>
              <a:t>Yuming</a:t>
            </a:r>
            <a:r>
              <a:rPr lang="es-AR" sz="1600" dirty="0"/>
              <a:t> Chen and Jie </a:t>
            </a:r>
            <a:r>
              <a:rPr lang="es-AR" sz="1600" dirty="0" err="1"/>
              <a:t>Song</a:t>
            </a:r>
            <a:r>
              <a:rPr lang="es-AR" sz="1600" dirty="0"/>
              <a:t> 2024</a:t>
            </a:r>
          </a:p>
          <a:p>
            <a:r>
              <a:rPr lang="en-US" sz="1600" dirty="0"/>
              <a:t>Multimodal Machine Learning: A Survey and Taxonomy Tadas Baltrusaitis, Chaitanya Ahuja, and Louis-Philippe Morency 2017</a:t>
            </a:r>
          </a:p>
          <a:p>
            <a:r>
              <a:rPr lang="es-AR" sz="1600" dirty="0"/>
              <a:t>Multimodal </a:t>
            </a:r>
            <a:r>
              <a:rPr lang="es-AR" sz="1600" dirty="0" err="1"/>
              <a:t>Co-learning</a:t>
            </a:r>
            <a:r>
              <a:rPr lang="es-AR" sz="1600" dirty="0"/>
              <a:t>: </a:t>
            </a:r>
            <a:r>
              <a:rPr lang="es-AR" sz="1600" dirty="0" err="1"/>
              <a:t>Challenges</a:t>
            </a:r>
            <a:r>
              <a:rPr lang="es-AR" sz="1600" dirty="0"/>
              <a:t>, </a:t>
            </a:r>
            <a:r>
              <a:rPr lang="es-AR" sz="1600" dirty="0" err="1"/>
              <a:t>Applications</a:t>
            </a:r>
            <a:r>
              <a:rPr lang="es-AR" sz="1600" dirty="0"/>
              <a:t> </a:t>
            </a:r>
            <a:r>
              <a:rPr lang="es-AR" sz="1600" dirty="0" err="1"/>
              <a:t>with</a:t>
            </a:r>
            <a:r>
              <a:rPr lang="es-AR" sz="1600" dirty="0"/>
              <a:t> </a:t>
            </a:r>
            <a:r>
              <a:rPr lang="es-AR" sz="1600" dirty="0" err="1"/>
              <a:t>Datasets</a:t>
            </a:r>
            <a:r>
              <a:rPr lang="es-AR" sz="1600" dirty="0"/>
              <a:t>, </a:t>
            </a:r>
            <a:r>
              <a:rPr lang="es-AR" sz="1600" dirty="0" err="1"/>
              <a:t>Recent</a:t>
            </a:r>
            <a:r>
              <a:rPr lang="es-AR" sz="1600" dirty="0"/>
              <a:t> </a:t>
            </a:r>
            <a:r>
              <a:rPr lang="es-AR" sz="1600" dirty="0" err="1"/>
              <a:t>Advances</a:t>
            </a:r>
            <a:r>
              <a:rPr lang="es-AR" sz="1600" dirty="0"/>
              <a:t> and Future </a:t>
            </a:r>
            <a:r>
              <a:rPr lang="es-AR" sz="1600" dirty="0" err="1"/>
              <a:t>Directions</a:t>
            </a:r>
            <a:r>
              <a:rPr lang="es-AR" sz="1600" dirty="0"/>
              <a:t> Anil </a:t>
            </a:r>
            <a:r>
              <a:rPr lang="es-AR" sz="1600" dirty="0" err="1"/>
              <a:t>Rahatea</a:t>
            </a:r>
            <a:r>
              <a:rPr lang="es-AR" sz="1600" dirty="0"/>
              <a:t> , </a:t>
            </a:r>
            <a:r>
              <a:rPr lang="es-AR" sz="1600" dirty="0" err="1"/>
              <a:t>Rahee</a:t>
            </a:r>
            <a:r>
              <a:rPr lang="es-AR" sz="1600" dirty="0"/>
              <a:t> </a:t>
            </a:r>
            <a:r>
              <a:rPr lang="es-AR" sz="1600" dirty="0" err="1"/>
              <a:t>Walambea</a:t>
            </a:r>
            <a:r>
              <a:rPr lang="es-AR" sz="1600" dirty="0"/>
              <a:t>, b, </a:t>
            </a:r>
            <a:r>
              <a:rPr lang="es-AR" sz="1600" dirty="0" err="1"/>
              <a:t>Sheela</a:t>
            </a:r>
            <a:r>
              <a:rPr lang="es-AR" sz="1600" dirty="0"/>
              <a:t> </a:t>
            </a:r>
            <a:r>
              <a:rPr lang="es-AR" sz="1600" dirty="0" err="1"/>
              <a:t>Ramannac</a:t>
            </a:r>
            <a:r>
              <a:rPr lang="es-AR" sz="1600" dirty="0"/>
              <a:t> , </a:t>
            </a:r>
            <a:r>
              <a:rPr lang="es-AR" sz="1600" dirty="0" err="1"/>
              <a:t>Ketan</a:t>
            </a:r>
            <a:r>
              <a:rPr lang="es-AR" sz="1600" dirty="0"/>
              <a:t> </a:t>
            </a:r>
            <a:r>
              <a:rPr lang="es-AR" sz="1600" dirty="0" err="1"/>
              <a:t>Kotechaa</a:t>
            </a:r>
            <a:r>
              <a:rPr lang="es-AR" sz="1600" dirty="0"/>
              <a:t> 2022 </a:t>
            </a:r>
          </a:p>
          <a:p>
            <a:r>
              <a:rPr lang="es-AR" sz="1600" dirty="0">
                <a:hlinkClick r:id="rId2">
                  <a:extLst>
                    <a:ext uri="{A12FA001-AC4F-418D-AE19-62706E023703}">
                      <ahyp:hlinkClr xmlns:ahyp="http://schemas.microsoft.com/office/drawing/2018/hyperlinkcolor" val="tx"/>
                    </a:ext>
                  </a:extLst>
                </a:hlinkClick>
              </a:rPr>
              <a:t>https://www.youtube.com/watch?v=kixc1mh55yY</a:t>
            </a:r>
            <a:endParaRPr lang="es-AR" sz="1600" dirty="0"/>
          </a:p>
          <a:p>
            <a:r>
              <a:rPr lang="es-AR" sz="1600" dirty="0"/>
              <a:t>https://www.youtube.com/watch?v=xcOMHwjNLaA</a:t>
            </a:r>
          </a:p>
          <a:p>
            <a:endParaRPr lang="es-AR" sz="1600" dirty="0"/>
          </a:p>
        </p:txBody>
      </p:sp>
      <p:sp>
        <p:nvSpPr>
          <p:cNvPr id="4" name="Espace réservé du numéro de diapositive 3">
            <a:extLst>
              <a:ext uri="{FF2B5EF4-FFF2-40B4-BE49-F238E27FC236}">
                <a16:creationId xmlns:a16="http://schemas.microsoft.com/office/drawing/2014/main" id="{EF68CB79-5CD9-AB4A-7239-D9C964CF7CB0}"/>
              </a:ext>
            </a:extLst>
          </p:cNvPr>
          <p:cNvSpPr>
            <a:spLocks noGrp="1"/>
          </p:cNvSpPr>
          <p:nvPr>
            <p:ph type="sldNum" sz="quarter" idx="12"/>
          </p:nvPr>
        </p:nvSpPr>
        <p:spPr/>
        <p:txBody>
          <a:bodyPr/>
          <a:lstStyle/>
          <a:p>
            <a:fld id="{BBC07E23-5D66-4BDA-857C-D8615BC30D33}" type="slidenum">
              <a:rPr lang="fr-FR" smtClean="0"/>
              <a:t>34</a:t>
            </a:fld>
            <a:endParaRPr lang="fr-FR"/>
          </a:p>
        </p:txBody>
      </p:sp>
    </p:spTree>
    <p:extLst>
      <p:ext uri="{BB962C8B-B14F-4D97-AF65-F5344CB8AC3E}">
        <p14:creationId xmlns:p14="http://schemas.microsoft.com/office/powerpoint/2010/main" val="4460042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re 1">
            <a:extLst>
              <a:ext uri="{FF2B5EF4-FFF2-40B4-BE49-F238E27FC236}">
                <a16:creationId xmlns:a16="http://schemas.microsoft.com/office/drawing/2014/main" id="{7D437BB8-0764-4822-10D7-96F79362C64F}"/>
              </a:ext>
            </a:extLst>
          </p:cNvPr>
          <p:cNvSpPr>
            <a:spLocks noGrp="1"/>
          </p:cNvSpPr>
          <p:nvPr>
            <p:ph type="title"/>
          </p:nvPr>
        </p:nvSpPr>
        <p:spPr>
          <a:xfrm>
            <a:off x="1137034" y="609597"/>
            <a:ext cx="9392421" cy="1330841"/>
          </a:xfrm>
        </p:spPr>
        <p:txBody>
          <a:bodyPr>
            <a:normAutofit/>
          </a:bodyPr>
          <a:lstStyle/>
          <a:p>
            <a:r>
              <a:rPr lang="fr-FR" dirty="0"/>
              <a:t>Les applications de la Fusion</a:t>
            </a:r>
          </a:p>
        </p:txBody>
      </p:sp>
      <p:sp>
        <p:nvSpPr>
          <p:cNvPr id="3" name="Espace réservé du contenu 2">
            <a:extLst>
              <a:ext uri="{FF2B5EF4-FFF2-40B4-BE49-F238E27FC236}">
                <a16:creationId xmlns:a16="http://schemas.microsoft.com/office/drawing/2014/main" id="{BE574CC0-436E-C023-33AC-209F5E4241EA}"/>
              </a:ext>
            </a:extLst>
          </p:cNvPr>
          <p:cNvSpPr>
            <a:spLocks noGrp="1"/>
          </p:cNvSpPr>
          <p:nvPr>
            <p:ph idx="1"/>
          </p:nvPr>
        </p:nvSpPr>
        <p:spPr>
          <a:xfrm>
            <a:off x="924122" y="3097433"/>
            <a:ext cx="4958966" cy="1930876"/>
          </a:xfrm>
        </p:spPr>
        <p:txBody>
          <a:bodyPr>
            <a:normAutofit/>
          </a:bodyPr>
          <a:lstStyle/>
          <a:p>
            <a:endParaRPr lang="fr-FR" sz="2000" dirty="0"/>
          </a:p>
          <a:p>
            <a:pPr lvl="1"/>
            <a:r>
              <a:rPr lang="fr-FR" sz="2000" dirty="0" err="1"/>
              <a:t>Autonomous</a:t>
            </a:r>
            <a:r>
              <a:rPr lang="fr-FR" sz="2000" dirty="0"/>
              <a:t> Driving</a:t>
            </a:r>
          </a:p>
          <a:p>
            <a:pPr lvl="1"/>
            <a:r>
              <a:rPr lang="fr-FR" sz="2000" dirty="0"/>
              <a:t>Smart </a:t>
            </a:r>
            <a:r>
              <a:rPr lang="fr-FR" sz="2000" dirty="0" err="1"/>
              <a:t>Helthcare</a:t>
            </a:r>
            <a:endParaRPr lang="fr-FR" sz="2000" dirty="0"/>
          </a:p>
          <a:p>
            <a:pPr lvl="1"/>
            <a:r>
              <a:rPr lang="fr-FR" sz="2000" dirty="0"/>
              <a:t>Sentimental </a:t>
            </a:r>
            <a:r>
              <a:rPr lang="fr-FR" sz="2000" dirty="0" err="1"/>
              <a:t>analysis</a:t>
            </a:r>
            <a:endParaRPr lang="fr-FR" sz="2000" dirty="0"/>
          </a:p>
          <a:p>
            <a:pPr lvl="1"/>
            <a:r>
              <a:rPr lang="fr-FR" sz="2000" dirty="0" err="1"/>
              <a:t>LLM’s</a:t>
            </a:r>
            <a:r>
              <a:rPr lang="fr-FR" sz="2000" dirty="0"/>
              <a:t> Enrichie</a:t>
            </a:r>
          </a:p>
        </p:txBody>
      </p:sp>
      <p:pic>
        <p:nvPicPr>
          <p:cNvPr id="4" name="Image 3" descr="Une image contenant texte, capture d’écran, diagramme, ligne&#10;&#10;Le contenu généré par l’IA peut être incorrect.">
            <a:extLst>
              <a:ext uri="{FF2B5EF4-FFF2-40B4-BE49-F238E27FC236}">
                <a16:creationId xmlns:a16="http://schemas.microsoft.com/office/drawing/2014/main" id="{763F5075-F5FA-41CD-21A4-AF24038AB9E7}"/>
              </a:ext>
            </a:extLst>
          </p:cNvPr>
          <p:cNvPicPr>
            <a:picLocks noChangeAspect="1"/>
          </p:cNvPicPr>
          <p:nvPr/>
        </p:nvPicPr>
        <p:blipFill>
          <a:blip r:embed="rId3"/>
          <a:stretch>
            <a:fillRect/>
          </a:stretch>
        </p:blipFill>
        <p:spPr>
          <a:xfrm>
            <a:off x="6669263" y="2495191"/>
            <a:ext cx="4788505" cy="316041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1"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 name="Espace réservé du numéro de diapositive 5">
            <a:extLst>
              <a:ext uri="{FF2B5EF4-FFF2-40B4-BE49-F238E27FC236}">
                <a16:creationId xmlns:a16="http://schemas.microsoft.com/office/drawing/2014/main" id="{85E55CAA-0CED-6858-93F5-A054475623E3}"/>
              </a:ext>
            </a:extLst>
          </p:cNvPr>
          <p:cNvSpPr>
            <a:spLocks noGrp="1"/>
          </p:cNvSpPr>
          <p:nvPr>
            <p:ph type="sldNum" sz="quarter" idx="12"/>
          </p:nvPr>
        </p:nvSpPr>
        <p:spPr/>
        <p:txBody>
          <a:bodyPr/>
          <a:lstStyle/>
          <a:p>
            <a:fld id="{BBC07E23-5D66-4BDA-857C-D8615BC30D33}" type="slidenum">
              <a:rPr lang="fr-FR" smtClean="0"/>
              <a:t>35</a:t>
            </a:fld>
            <a:endParaRPr lang="fr-FR"/>
          </a:p>
        </p:txBody>
      </p:sp>
    </p:spTree>
    <p:extLst>
      <p:ext uri="{BB962C8B-B14F-4D97-AF65-F5344CB8AC3E}">
        <p14:creationId xmlns:p14="http://schemas.microsoft.com/office/powerpoint/2010/main" val="7379601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75EEBFD7-A76E-255A-BEA0-7B36E6B26404}"/>
              </a:ext>
            </a:extLst>
          </p:cNvPr>
          <p:cNvSpPr>
            <a:spLocks noGrp="1"/>
          </p:cNvSpPr>
          <p:nvPr>
            <p:ph type="title"/>
          </p:nvPr>
        </p:nvSpPr>
        <p:spPr>
          <a:xfrm>
            <a:off x="1371599" y="294538"/>
            <a:ext cx="9895951" cy="1033669"/>
          </a:xfrm>
        </p:spPr>
        <p:txBody>
          <a:bodyPr>
            <a:normAutofit/>
          </a:bodyPr>
          <a:lstStyle/>
          <a:p>
            <a:r>
              <a:rPr lang="fr-FR" sz="4000">
                <a:solidFill>
                  <a:srgbClr val="FFFFFF"/>
                </a:solidFill>
              </a:rPr>
              <a:t>Conduite autonome</a:t>
            </a:r>
            <a:endParaRPr lang="es-AR" sz="4000">
              <a:solidFill>
                <a:srgbClr val="FFFFFF"/>
              </a:solidFill>
            </a:endParaRPr>
          </a:p>
        </p:txBody>
      </p:sp>
      <p:sp>
        <p:nvSpPr>
          <p:cNvPr id="3" name="Espace réservé du contenu 2">
            <a:extLst>
              <a:ext uri="{FF2B5EF4-FFF2-40B4-BE49-F238E27FC236}">
                <a16:creationId xmlns:a16="http://schemas.microsoft.com/office/drawing/2014/main" id="{CF68E448-BC78-618F-0D96-A565DDCC1072}"/>
              </a:ext>
            </a:extLst>
          </p:cNvPr>
          <p:cNvSpPr>
            <a:spLocks noGrp="1"/>
          </p:cNvSpPr>
          <p:nvPr>
            <p:ph idx="1"/>
          </p:nvPr>
        </p:nvSpPr>
        <p:spPr>
          <a:xfrm>
            <a:off x="1371599" y="2318197"/>
            <a:ext cx="9724031" cy="3683358"/>
          </a:xfrm>
        </p:spPr>
        <p:txBody>
          <a:bodyPr anchor="ctr">
            <a:normAutofit/>
          </a:bodyPr>
          <a:lstStyle/>
          <a:p>
            <a:r>
              <a:rPr lang="fr-FR" sz="2000" dirty="0"/>
              <a:t>Voiture Autonome </a:t>
            </a:r>
          </a:p>
          <a:p>
            <a:pPr lvl="1"/>
            <a:r>
              <a:rPr lang="fr-FR" sz="1600" dirty="0" err="1"/>
              <a:t>Lidar+Video</a:t>
            </a:r>
            <a:r>
              <a:rPr lang="fr-FR" sz="1600" dirty="0"/>
              <a:t>/Images pour la </a:t>
            </a:r>
            <a:r>
              <a:rPr lang="fr-FR" sz="1600" dirty="0" err="1"/>
              <a:t>detections</a:t>
            </a:r>
            <a:r>
              <a:rPr lang="fr-FR" sz="1600" dirty="0"/>
              <a:t> d’objet</a:t>
            </a:r>
          </a:p>
          <a:p>
            <a:pPr marL="457200" lvl="1" indent="0">
              <a:buNone/>
            </a:pPr>
            <a:endParaRPr lang="es-AR" sz="1600" dirty="0"/>
          </a:p>
        </p:txBody>
      </p:sp>
      <p:sp>
        <p:nvSpPr>
          <p:cNvPr id="4" name="Espace réservé du numéro de diapositive 3">
            <a:extLst>
              <a:ext uri="{FF2B5EF4-FFF2-40B4-BE49-F238E27FC236}">
                <a16:creationId xmlns:a16="http://schemas.microsoft.com/office/drawing/2014/main" id="{573A36BC-DF62-35A2-6C36-3DF67D581AAF}"/>
              </a:ext>
            </a:extLst>
          </p:cNvPr>
          <p:cNvSpPr>
            <a:spLocks noGrp="1"/>
          </p:cNvSpPr>
          <p:nvPr>
            <p:ph type="sldNum" sz="quarter" idx="12"/>
          </p:nvPr>
        </p:nvSpPr>
        <p:spPr>
          <a:xfrm>
            <a:off x="11704320" y="6455431"/>
            <a:ext cx="445913"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36</a:t>
            </a:fld>
            <a:endParaRPr lang="fr-FR" sz="1100">
              <a:solidFill>
                <a:schemeClr val="tx1">
                  <a:lumMod val="50000"/>
                  <a:lumOff val="50000"/>
                </a:schemeClr>
              </a:solidFill>
            </a:endParaRPr>
          </a:p>
        </p:txBody>
      </p:sp>
    </p:spTree>
    <p:extLst>
      <p:ext uri="{BB962C8B-B14F-4D97-AF65-F5344CB8AC3E}">
        <p14:creationId xmlns:p14="http://schemas.microsoft.com/office/powerpoint/2010/main" val="30737807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B98824BB-26F5-8A3A-927B-B6C4B0C32FB4}"/>
              </a:ext>
            </a:extLst>
          </p:cNvPr>
          <p:cNvSpPr>
            <a:spLocks noGrp="1"/>
          </p:cNvSpPr>
          <p:nvPr>
            <p:ph type="title"/>
          </p:nvPr>
        </p:nvSpPr>
        <p:spPr>
          <a:xfrm>
            <a:off x="1371599" y="294538"/>
            <a:ext cx="9895951" cy="1033669"/>
          </a:xfrm>
        </p:spPr>
        <p:txBody>
          <a:bodyPr>
            <a:normAutofit/>
          </a:bodyPr>
          <a:lstStyle/>
          <a:p>
            <a:r>
              <a:rPr lang="fr-FR" sz="4000">
                <a:solidFill>
                  <a:srgbClr val="FFFFFF"/>
                </a:solidFill>
              </a:rPr>
              <a:t>Analyse de sentiment</a:t>
            </a:r>
            <a:endParaRPr lang="es-AR" sz="4000">
              <a:solidFill>
                <a:srgbClr val="FFFFFF"/>
              </a:solidFill>
            </a:endParaRPr>
          </a:p>
        </p:txBody>
      </p:sp>
      <p:sp>
        <p:nvSpPr>
          <p:cNvPr id="3" name="Espace réservé du contenu 2">
            <a:extLst>
              <a:ext uri="{FF2B5EF4-FFF2-40B4-BE49-F238E27FC236}">
                <a16:creationId xmlns:a16="http://schemas.microsoft.com/office/drawing/2014/main" id="{278D1E74-878B-7D04-5DF9-CC2F9A00FA7B}"/>
              </a:ext>
            </a:extLst>
          </p:cNvPr>
          <p:cNvSpPr>
            <a:spLocks noGrp="1"/>
          </p:cNvSpPr>
          <p:nvPr>
            <p:ph idx="1"/>
          </p:nvPr>
        </p:nvSpPr>
        <p:spPr>
          <a:xfrm>
            <a:off x="1371599" y="2318197"/>
            <a:ext cx="9724031" cy="3683358"/>
          </a:xfrm>
        </p:spPr>
        <p:txBody>
          <a:bodyPr anchor="ctr">
            <a:normAutofit/>
          </a:bodyPr>
          <a:lstStyle/>
          <a:p>
            <a:endParaRPr lang="es-AR" sz="2000" dirty="0"/>
          </a:p>
        </p:txBody>
      </p:sp>
      <p:sp>
        <p:nvSpPr>
          <p:cNvPr id="4" name="Espace réservé du numéro de diapositive 3">
            <a:extLst>
              <a:ext uri="{FF2B5EF4-FFF2-40B4-BE49-F238E27FC236}">
                <a16:creationId xmlns:a16="http://schemas.microsoft.com/office/drawing/2014/main" id="{79B1B337-2DE3-CEBE-D649-C7971094973F}"/>
              </a:ext>
            </a:extLst>
          </p:cNvPr>
          <p:cNvSpPr>
            <a:spLocks noGrp="1"/>
          </p:cNvSpPr>
          <p:nvPr>
            <p:ph type="sldNum" sz="quarter" idx="12"/>
          </p:nvPr>
        </p:nvSpPr>
        <p:spPr>
          <a:xfrm>
            <a:off x="11704320" y="6455431"/>
            <a:ext cx="445913"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37</a:t>
            </a:fld>
            <a:endParaRPr lang="fr-FR" sz="1100">
              <a:solidFill>
                <a:schemeClr val="tx1">
                  <a:lumMod val="50000"/>
                  <a:lumOff val="50000"/>
                </a:schemeClr>
              </a:solidFill>
            </a:endParaRPr>
          </a:p>
        </p:txBody>
      </p:sp>
    </p:spTree>
    <p:extLst>
      <p:ext uri="{BB962C8B-B14F-4D97-AF65-F5344CB8AC3E}">
        <p14:creationId xmlns:p14="http://schemas.microsoft.com/office/powerpoint/2010/main" val="28197518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C024517A-2DD6-AD3C-8D57-147E0E84BFF9}"/>
              </a:ext>
            </a:extLst>
          </p:cNvPr>
          <p:cNvSpPr>
            <a:spLocks noGrp="1"/>
          </p:cNvSpPr>
          <p:nvPr>
            <p:ph type="title"/>
          </p:nvPr>
        </p:nvSpPr>
        <p:spPr>
          <a:xfrm>
            <a:off x="1371599" y="294538"/>
            <a:ext cx="9895951" cy="1033669"/>
          </a:xfrm>
        </p:spPr>
        <p:txBody>
          <a:bodyPr>
            <a:normAutofit/>
          </a:bodyPr>
          <a:lstStyle/>
          <a:p>
            <a:r>
              <a:rPr lang="fr-FR" sz="4000">
                <a:solidFill>
                  <a:srgbClr val="FFFFFF"/>
                </a:solidFill>
              </a:rPr>
              <a:t>Domaine Médicale</a:t>
            </a:r>
            <a:endParaRPr lang="es-AR" sz="4000">
              <a:solidFill>
                <a:srgbClr val="FFFFFF"/>
              </a:solidFill>
            </a:endParaRPr>
          </a:p>
        </p:txBody>
      </p:sp>
      <p:sp>
        <p:nvSpPr>
          <p:cNvPr id="4" name="Espace réservé du numéro de diapositive 3">
            <a:extLst>
              <a:ext uri="{FF2B5EF4-FFF2-40B4-BE49-F238E27FC236}">
                <a16:creationId xmlns:a16="http://schemas.microsoft.com/office/drawing/2014/main" id="{2CBC0D00-9E40-451F-771C-1158ACC6B948}"/>
              </a:ext>
            </a:extLst>
          </p:cNvPr>
          <p:cNvSpPr>
            <a:spLocks noGrp="1"/>
          </p:cNvSpPr>
          <p:nvPr>
            <p:ph type="sldNum" sz="quarter" idx="12"/>
          </p:nvPr>
        </p:nvSpPr>
        <p:spPr>
          <a:xfrm>
            <a:off x="11704320" y="6455431"/>
            <a:ext cx="445913"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38</a:t>
            </a:fld>
            <a:endParaRPr lang="fr-FR" sz="1100">
              <a:solidFill>
                <a:schemeClr val="tx1">
                  <a:lumMod val="50000"/>
                  <a:lumOff val="50000"/>
                </a:schemeClr>
              </a:solidFill>
            </a:endParaRPr>
          </a:p>
        </p:txBody>
      </p:sp>
      <p:pic>
        <p:nvPicPr>
          <p:cNvPr id="10" name="Espace réservé du contenu 9" descr="Une image contenant texte, ligne, capture d’écran, Tracé&#10;&#10;Le contenu généré par l’IA peut être incorrect.">
            <a:extLst>
              <a:ext uri="{FF2B5EF4-FFF2-40B4-BE49-F238E27FC236}">
                <a16:creationId xmlns:a16="http://schemas.microsoft.com/office/drawing/2014/main" id="{C545ADAC-4055-8C61-842D-66573F23B8CC}"/>
              </a:ext>
            </a:extLst>
          </p:cNvPr>
          <p:cNvPicPr>
            <a:picLocks noGrp="1" noChangeAspect="1"/>
          </p:cNvPicPr>
          <p:nvPr>
            <p:ph idx="1"/>
          </p:nvPr>
        </p:nvPicPr>
        <p:blipFill>
          <a:blip r:embed="rId3"/>
          <a:stretch>
            <a:fillRect/>
          </a:stretch>
        </p:blipFill>
        <p:spPr>
          <a:xfrm>
            <a:off x="2161626" y="2129370"/>
            <a:ext cx="7868748" cy="3743847"/>
          </a:xfrm>
          <a:prstGeom prst="rect">
            <a:avLst/>
          </a:prstGeom>
        </p:spPr>
      </p:pic>
    </p:spTree>
    <p:extLst>
      <p:ext uri="{BB962C8B-B14F-4D97-AF65-F5344CB8AC3E}">
        <p14:creationId xmlns:p14="http://schemas.microsoft.com/office/powerpoint/2010/main" val="3718799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28DC2C-9315-309A-51B5-C5433D8945DA}"/>
            </a:ext>
          </a:extLst>
        </p:cNvPr>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F7BC347A-0B4B-CA05-10FF-9E003C665A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B3979EBD-F3ED-43B4-E592-7F9DE95465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3E4BF458-E54C-4377-71F5-EC6596A7C8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D5988094-6EE5-15A0-8595-E770070BEC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1ACDBCE-0801-4714-F232-501F73B020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1589ACA2-29AB-5155-B737-81592DFD32E5}"/>
              </a:ext>
            </a:extLst>
          </p:cNvPr>
          <p:cNvSpPr>
            <a:spLocks noGrp="1"/>
          </p:cNvSpPr>
          <p:nvPr>
            <p:ph type="title"/>
          </p:nvPr>
        </p:nvSpPr>
        <p:spPr>
          <a:xfrm>
            <a:off x="1371599" y="294538"/>
            <a:ext cx="9895951" cy="1033669"/>
          </a:xfrm>
        </p:spPr>
        <p:txBody>
          <a:bodyPr>
            <a:normAutofit/>
          </a:bodyPr>
          <a:lstStyle/>
          <a:p>
            <a:r>
              <a:rPr lang="fr-FR" sz="4000" dirty="0" err="1">
                <a:solidFill>
                  <a:srgbClr val="FFFFFF"/>
                </a:solidFill>
              </a:rPr>
              <a:t>LLM’s</a:t>
            </a:r>
            <a:r>
              <a:rPr lang="fr-FR" sz="4000" dirty="0">
                <a:solidFill>
                  <a:srgbClr val="FFFFFF"/>
                </a:solidFill>
              </a:rPr>
              <a:t> Enrichie</a:t>
            </a:r>
            <a:endParaRPr lang="es-AR" sz="4000" dirty="0">
              <a:solidFill>
                <a:srgbClr val="FFFFFF"/>
              </a:solidFill>
            </a:endParaRPr>
          </a:p>
        </p:txBody>
      </p:sp>
      <p:sp>
        <p:nvSpPr>
          <p:cNvPr id="3" name="Espace réservé du contenu 2">
            <a:extLst>
              <a:ext uri="{FF2B5EF4-FFF2-40B4-BE49-F238E27FC236}">
                <a16:creationId xmlns:a16="http://schemas.microsoft.com/office/drawing/2014/main" id="{B14A5BEE-2761-72F7-A68B-196F02E6FE82}"/>
              </a:ext>
            </a:extLst>
          </p:cNvPr>
          <p:cNvSpPr>
            <a:spLocks noGrp="1"/>
          </p:cNvSpPr>
          <p:nvPr>
            <p:ph idx="1"/>
          </p:nvPr>
        </p:nvSpPr>
        <p:spPr>
          <a:xfrm>
            <a:off x="1371599" y="2318197"/>
            <a:ext cx="9724031" cy="3683358"/>
          </a:xfrm>
        </p:spPr>
        <p:txBody>
          <a:bodyPr anchor="ctr">
            <a:normAutofit/>
          </a:bodyPr>
          <a:lstStyle/>
          <a:p>
            <a:endParaRPr lang="es-AR" sz="2000"/>
          </a:p>
        </p:txBody>
      </p:sp>
      <p:sp>
        <p:nvSpPr>
          <p:cNvPr id="4" name="Espace réservé du numéro de diapositive 3">
            <a:extLst>
              <a:ext uri="{FF2B5EF4-FFF2-40B4-BE49-F238E27FC236}">
                <a16:creationId xmlns:a16="http://schemas.microsoft.com/office/drawing/2014/main" id="{3551EB6D-02F5-5384-6FA6-AAA75158BDD2}"/>
              </a:ext>
            </a:extLst>
          </p:cNvPr>
          <p:cNvSpPr>
            <a:spLocks noGrp="1"/>
          </p:cNvSpPr>
          <p:nvPr>
            <p:ph type="sldNum" sz="quarter" idx="12"/>
          </p:nvPr>
        </p:nvSpPr>
        <p:spPr>
          <a:xfrm>
            <a:off x="11704320" y="6455431"/>
            <a:ext cx="445913"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39</a:t>
            </a:fld>
            <a:endParaRPr lang="fr-FR" sz="1100">
              <a:solidFill>
                <a:schemeClr val="tx1">
                  <a:lumMod val="50000"/>
                  <a:lumOff val="50000"/>
                </a:schemeClr>
              </a:solidFill>
            </a:endParaRPr>
          </a:p>
        </p:txBody>
      </p:sp>
    </p:spTree>
    <p:extLst>
      <p:ext uri="{BB962C8B-B14F-4D97-AF65-F5344CB8AC3E}">
        <p14:creationId xmlns:p14="http://schemas.microsoft.com/office/powerpoint/2010/main" val="3095588287"/>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8045</TotalTime>
  <Words>2193</Words>
  <Application>Microsoft Office PowerPoint</Application>
  <PresentationFormat>Grand écran</PresentationFormat>
  <Paragraphs>341</Paragraphs>
  <Slides>39</Slides>
  <Notes>31</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39</vt:i4>
      </vt:variant>
    </vt:vector>
  </HeadingPairs>
  <TitlesOfParts>
    <vt:vector size="43" baseType="lpstr">
      <vt:lpstr>Aptos</vt:lpstr>
      <vt:lpstr>Aptos Display</vt:lpstr>
      <vt:lpstr>Arial</vt:lpstr>
      <vt:lpstr>Thème Office</vt:lpstr>
      <vt:lpstr>La Multimodalité</vt:lpstr>
      <vt:lpstr>Présentation PowerPoint</vt:lpstr>
      <vt:lpstr>Modalité</vt:lpstr>
      <vt:lpstr>La multimodalité: </vt:lpstr>
      <vt:lpstr>Les 5 clefs de la multimodalité</vt:lpstr>
      <vt:lpstr>La fusion</vt:lpstr>
      <vt:lpstr>Model unimodal </vt:lpstr>
      <vt:lpstr>Les méthodes de fusion</vt:lpstr>
      <vt:lpstr>Early  Fusion</vt:lpstr>
      <vt:lpstr>Deep  Fusion</vt:lpstr>
      <vt:lpstr>Late  Fusion</vt:lpstr>
      <vt:lpstr>Hybrid  Fusion</vt:lpstr>
      <vt:lpstr>Technologies de Fusion</vt:lpstr>
      <vt:lpstr>Data Representation:</vt:lpstr>
      <vt:lpstr>Joint Representation</vt:lpstr>
      <vt:lpstr>Coordinated Representation</vt:lpstr>
      <vt:lpstr>Data Translation</vt:lpstr>
      <vt:lpstr>Exemple de Translation</vt:lpstr>
      <vt:lpstr>Data Alignment</vt:lpstr>
      <vt:lpstr>Exemple Data Alignment</vt:lpstr>
      <vt:lpstr>Présentation PowerPoint</vt:lpstr>
      <vt:lpstr>Avantages et  limites de l’alignement</vt:lpstr>
      <vt:lpstr>Le Co-learning</vt:lpstr>
      <vt:lpstr>Pourquoi on en a besoin ? </vt:lpstr>
      <vt:lpstr>Présentation PowerPoint</vt:lpstr>
      <vt:lpstr>Présentation PowerPoint</vt:lpstr>
      <vt:lpstr>Qualité des données :</vt:lpstr>
      <vt:lpstr>Perte d’information :</vt:lpstr>
      <vt:lpstr>Accumulation d’erreurs :</vt:lpstr>
      <vt:lpstr>Quantité de modalités :</vt:lpstr>
      <vt:lpstr>Garantie en temps réel :</vt:lpstr>
      <vt:lpstr>Environnement dynamique :</vt:lpstr>
      <vt:lpstr>Synchronisation temporelle :</vt:lpstr>
      <vt:lpstr>Sources:</vt:lpstr>
      <vt:lpstr>Les applications de la Fusion</vt:lpstr>
      <vt:lpstr>Conduite autonome</vt:lpstr>
      <vt:lpstr>Analyse de sentiment</vt:lpstr>
      <vt:lpstr>Domaine Médicale</vt:lpstr>
      <vt:lpstr>LLM’s Enrichie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Robin Mougne</dc:creator>
  <cp:lastModifiedBy>MOUGNE Robin</cp:lastModifiedBy>
  <cp:revision>32</cp:revision>
  <dcterms:created xsi:type="dcterms:W3CDTF">2025-09-05T12:51:10Z</dcterms:created>
  <dcterms:modified xsi:type="dcterms:W3CDTF">2026-01-22T16:30:06Z</dcterms:modified>
</cp:coreProperties>
</file>