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305" r:id="rId2"/>
    <p:sldId id="301" r:id="rId3"/>
    <p:sldId id="303" r:id="rId4"/>
    <p:sldId id="302" r:id="rId5"/>
    <p:sldId id="265" r:id="rId6"/>
    <p:sldId id="264" r:id="rId7"/>
    <p:sldId id="304" r:id="rId8"/>
    <p:sldId id="266" r:id="rId9"/>
    <p:sldId id="267" r:id="rId10"/>
    <p:sldId id="271" r:id="rId11"/>
    <p:sldId id="270" r:id="rId12"/>
    <p:sldId id="269" r:id="rId13"/>
    <p:sldId id="272" r:id="rId14"/>
    <p:sldId id="275" r:id="rId15"/>
    <p:sldId id="314" r:id="rId16"/>
    <p:sldId id="315" r:id="rId17"/>
    <p:sldId id="276" r:id="rId18"/>
    <p:sldId id="316" r:id="rId19"/>
    <p:sldId id="319" r:id="rId20"/>
    <p:sldId id="317" r:id="rId21"/>
    <p:sldId id="279" r:id="rId22"/>
    <p:sldId id="318" r:id="rId23"/>
    <p:sldId id="320" r:id="rId24"/>
    <p:sldId id="259" r:id="rId25"/>
    <p:sldId id="299" r:id="rId26"/>
    <p:sldId id="258" r:id="rId27"/>
    <p:sldId id="321" r:id="rId28"/>
    <p:sldId id="322" r:id="rId29"/>
    <p:sldId id="323" r:id="rId30"/>
    <p:sldId id="325" r:id="rId31"/>
    <p:sldId id="324" r:id="rId32"/>
    <p:sldId id="327" r:id="rId33"/>
    <p:sldId id="328" r:id="rId34"/>
    <p:sldId id="281" r:id="rId35"/>
    <p:sldId id="308" r:id="rId36"/>
    <p:sldId id="309" r:id="rId37"/>
    <p:sldId id="310" r:id="rId38"/>
    <p:sldId id="311" r:id="rId39"/>
    <p:sldId id="300" r:id="rId4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6562" autoAdjust="0"/>
  </p:normalViewPr>
  <p:slideViewPr>
    <p:cSldViewPr snapToGrid="0">
      <p:cViewPr varScale="1">
        <p:scale>
          <a:sx n="81" d="100"/>
          <a:sy n="81" d="100"/>
        </p:scale>
        <p:origin x="64" y="1340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 dirty="0"/>
            <a:t>Fusion</a:t>
          </a:r>
          <a:r>
            <a:rPr lang="fr-FR" dirty="0"/>
            <a:t> </a:t>
          </a:r>
          <a:endParaRPr lang="en-US" dirty="0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 dirty="0" err="1"/>
            <a:t>Early</a:t>
          </a:r>
          <a:r>
            <a:rPr lang="fr-FR" dirty="0"/>
            <a:t> fusion</a:t>
          </a:r>
          <a:endParaRPr lang="en-US" dirty="0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 dirty="0" err="1"/>
            <a:t>Late</a:t>
          </a:r>
          <a:r>
            <a:rPr lang="fr-FR" dirty="0"/>
            <a:t> fusion</a:t>
          </a:r>
          <a:endParaRPr lang="en-US" dirty="0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Fusion</a:t>
          </a:r>
          <a:r>
            <a:rPr lang="fr-FR" sz="2000" kern="1200" dirty="0"/>
            <a:t> </a:t>
          </a:r>
          <a:endParaRPr lang="en-US" sz="2000" kern="1200" dirty="0"/>
        </a:p>
      </dsp:txBody>
      <dsp:txXfrm>
        <a:off x="333914" y="2049612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49612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49612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49612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49612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 dirty="0" err="1"/>
            <a:t>Early</a:t>
          </a:r>
          <a:r>
            <a:rPr lang="fr-FR" sz="3800" kern="1200" dirty="0"/>
            <a:t> fusion</a:t>
          </a:r>
          <a:endParaRPr lang="en-US" sz="3800" kern="1200" dirty="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 dirty="0" err="1"/>
            <a:t>Late</a:t>
          </a:r>
          <a:r>
            <a:rPr lang="fr-FR" sz="3800" kern="1200" dirty="0"/>
            <a:t> fusion</a:t>
          </a:r>
          <a:endParaRPr lang="en-US" sz="3800" kern="1200" dirty="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20/01/2026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02040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51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combinaison de différents supports d'information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fr-FR" dirty="0"/>
          </a:p>
          <a:p>
            <a:r>
              <a:rPr lang="fr-FR" dirty="0"/>
              <a:t>Exemple:</a:t>
            </a:r>
          </a:p>
          <a:p>
            <a:r>
              <a:rPr lang="fr-FR" dirty="0"/>
              <a:t>Chat-GPT de la génération d’image avec des modalité textes et image </a:t>
            </a:r>
          </a:p>
          <a:p>
            <a:r>
              <a:rPr lang="fr-FR" dirty="0"/>
              <a:t>Spécifier une question à  l’aide d’une image et  d’un texte -&gt; de quel  couleurs /où se trouve ? </a:t>
            </a:r>
          </a:p>
          <a:p>
            <a:endParaRPr lang="fr-FR" dirty="0"/>
          </a:p>
          <a:p>
            <a:r>
              <a:rPr lang="fr-FR" dirty="0"/>
              <a:t>Pour de l’identification d’une plante  fournir une photo + l’</a:t>
            </a:r>
            <a:r>
              <a:rPr lang="fr-FR" dirty="0" err="1"/>
              <a:t>endroie</a:t>
            </a:r>
            <a:r>
              <a:rPr lang="fr-FR" dirty="0"/>
              <a:t> et la date de la photo  en textuel  possibilité d’enlevé des ambiguïté :</a:t>
            </a:r>
          </a:p>
          <a:p>
            <a:r>
              <a:rPr lang="fr-FR" b="1" dirty="0"/>
              <a:t>Aloe </a:t>
            </a:r>
            <a:r>
              <a:rPr lang="fr-FR" b="1" dirty="0" err="1"/>
              <a:t>vera</a:t>
            </a:r>
            <a:r>
              <a:rPr lang="fr-FR" dirty="0"/>
              <a:t> : Afrique et péninsule arabique</a:t>
            </a:r>
          </a:p>
          <a:p>
            <a:r>
              <a:rPr lang="fr-FR" b="1" dirty="0"/>
              <a:t>Agave</a:t>
            </a:r>
            <a:r>
              <a:rPr lang="fr-FR" dirty="0"/>
              <a:t> : Amérique centrale et Mexique</a:t>
            </a:r>
          </a:p>
          <a:p>
            <a:endParaRPr lang="fr-FR" dirty="0"/>
          </a:p>
          <a:p>
            <a:r>
              <a:rPr lang="fr-FR" dirty="0"/>
              <a:t>Donne l’exemple des IA </a:t>
            </a:r>
            <a:r>
              <a:rPr lang="fr-FR" dirty="0" err="1"/>
              <a:t>generatives</a:t>
            </a:r>
            <a:r>
              <a:rPr lang="fr-FR" dirty="0"/>
              <a:t>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5703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Si il y a plusieurs modalités il est nécessaire de les fusionnées, 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0365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BBB98-C514-87F7-4A61-4F5861575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5595E7-5E40-EB12-F51A-113C991E8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2BCF12F-4FE4-6EED-FE4B-B29944FE9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Chargement</a:t>
            </a:r>
            <a:endParaRPr lang="fr-FR" dirty="0"/>
          </a:p>
          <a:p>
            <a:r>
              <a:rPr lang="fr-FR" dirty="0"/>
              <a:t>Lecture du fichier (JPEG/PNG) → image en mémoire.</a:t>
            </a:r>
          </a:p>
          <a:p>
            <a:r>
              <a:rPr lang="fr-FR" b="1" dirty="0" err="1"/>
              <a:t>Préprocessing</a:t>
            </a:r>
            <a:endParaRPr lang="fr-FR" dirty="0"/>
          </a:p>
          <a:p>
            <a:r>
              <a:rPr lang="fr-FR" b="1" dirty="0"/>
              <a:t>Redimensionnement</a:t>
            </a:r>
            <a:r>
              <a:rPr lang="fr-FR" dirty="0"/>
              <a:t> vers une taille fixe (ex. 224×224).</a:t>
            </a:r>
          </a:p>
          <a:p>
            <a:r>
              <a:rPr lang="fr-FR" b="1" dirty="0"/>
              <a:t>Conversion en tenseur</a:t>
            </a:r>
            <a:r>
              <a:rPr lang="fr-FR" dirty="0"/>
              <a:t> (souvent H×W×C → C×H×W).</a:t>
            </a:r>
          </a:p>
          <a:p>
            <a:r>
              <a:rPr lang="fr-FR" b="1" dirty="0"/>
              <a:t>Mise à l’échelle / normalisation</a:t>
            </a:r>
            <a:r>
              <a:rPr lang="fr-FR" dirty="0"/>
              <a:t> des pixels (ex. [0,255] → [0,1], puis éventuellement (x−mean)/std).</a:t>
            </a:r>
          </a:p>
          <a:p>
            <a:r>
              <a:rPr lang="fr-FR" dirty="0"/>
              <a:t>(En entraînement) </a:t>
            </a:r>
            <a:r>
              <a:rPr lang="fr-FR" b="1" dirty="0"/>
              <a:t>augmentations</a:t>
            </a:r>
            <a:r>
              <a:rPr lang="fr-FR" dirty="0"/>
              <a:t> : flip, </a:t>
            </a:r>
            <a:r>
              <a:rPr lang="fr-FR" dirty="0" err="1"/>
              <a:t>crop</a:t>
            </a:r>
            <a:r>
              <a:rPr lang="fr-FR" dirty="0"/>
              <a:t>, rotation légère, </a:t>
            </a:r>
            <a:r>
              <a:rPr lang="fr-FR" dirty="0" err="1"/>
              <a:t>jitter</a:t>
            </a:r>
            <a:r>
              <a:rPr lang="fr-FR" dirty="0"/>
              <a:t> couleur, etc.</a:t>
            </a:r>
          </a:p>
          <a:p>
            <a:r>
              <a:rPr lang="fr-FR" b="1" dirty="0"/>
              <a:t>Backbone CNN (extraction de features)</a:t>
            </a:r>
            <a:endParaRPr lang="fr-FR" dirty="0"/>
          </a:p>
          <a:p>
            <a:r>
              <a:rPr lang="fr-FR" dirty="0"/>
              <a:t>Suites de </a:t>
            </a:r>
            <a:r>
              <a:rPr lang="fr-FR" b="1" dirty="0"/>
              <a:t>convolutions + activation (</a:t>
            </a:r>
            <a:r>
              <a:rPr lang="fr-FR" b="1" dirty="0" err="1"/>
              <a:t>ReLU</a:t>
            </a:r>
            <a:r>
              <a:rPr lang="fr-FR" b="1" dirty="0"/>
              <a:t>) + (</a:t>
            </a:r>
            <a:r>
              <a:rPr lang="fr-FR" b="1" dirty="0" err="1"/>
              <a:t>BatchNorm</a:t>
            </a:r>
            <a:r>
              <a:rPr lang="fr-FR" b="1" dirty="0"/>
              <a:t>) + </a:t>
            </a:r>
            <a:r>
              <a:rPr lang="fr-FR" b="1" dirty="0" err="1"/>
              <a:t>pooling</a:t>
            </a:r>
            <a:r>
              <a:rPr lang="fr-FR" dirty="0"/>
              <a:t>.</a:t>
            </a:r>
          </a:p>
          <a:p>
            <a:r>
              <a:rPr lang="fr-FR" dirty="0"/>
              <a:t>L’image devient des </a:t>
            </a:r>
            <a:r>
              <a:rPr lang="fr-FR" b="1" dirty="0"/>
              <a:t>cartes de caractéristiques</a:t>
            </a:r>
            <a:r>
              <a:rPr lang="fr-FR" dirty="0"/>
              <a:t> de plus en plus abstraites, avec une résolution qui diminue et un nombre de canaux qui augmente.</a:t>
            </a:r>
          </a:p>
          <a:p>
            <a:r>
              <a:rPr lang="fr-FR" b="1" dirty="0"/>
              <a:t>Agrégation</a:t>
            </a:r>
            <a:endParaRPr lang="fr-FR" dirty="0"/>
          </a:p>
          <a:p>
            <a:r>
              <a:rPr lang="fr-FR" dirty="0"/>
              <a:t>Souvent </a:t>
            </a:r>
            <a:r>
              <a:rPr lang="fr-FR" b="1" dirty="0"/>
              <a:t>Global </a:t>
            </a:r>
            <a:r>
              <a:rPr lang="fr-FR" b="1" dirty="0" err="1"/>
              <a:t>Average</a:t>
            </a:r>
            <a:r>
              <a:rPr lang="fr-FR" b="1" dirty="0"/>
              <a:t> </a:t>
            </a:r>
            <a:r>
              <a:rPr lang="fr-FR" b="1" dirty="0" err="1"/>
              <a:t>Pooling</a:t>
            </a:r>
            <a:r>
              <a:rPr lang="fr-FR" dirty="0"/>
              <a:t> (ou </a:t>
            </a:r>
            <a:r>
              <a:rPr lang="fr-FR" dirty="0" err="1"/>
              <a:t>flatten</a:t>
            </a:r>
            <a:r>
              <a:rPr lang="fr-FR" dirty="0"/>
              <a:t>) pour passer des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maps</a:t>
            </a:r>
            <a:r>
              <a:rPr lang="fr-FR" dirty="0"/>
              <a:t> à un vecteur.</a:t>
            </a:r>
          </a:p>
          <a:p>
            <a:r>
              <a:rPr lang="fr-FR" b="1" dirty="0"/>
              <a:t>Head (prédiction)</a:t>
            </a:r>
            <a:endParaRPr lang="fr-FR" dirty="0"/>
          </a:p>
          <a:p>
            <a:r>
              <a:rPr lang="fr-FR" dirty="0"/>
              <a:t>Une ou quelques couches </a:t>
            </a:r>
            <a:r>
              <a:rPr lang="fr-FR" b="1" dirty="0" err="1"/>
              <a:t>fully-connected</a:t>
            </a:r>
            <a:r>
              <a:rPr lang="fr-FR" dirty="0"/>
              <a:t> (MLP) → sortie.</a:t>
            </a:r>
          </a:p>
          <a:p>
            <a:r>
              <a:rPr lang="fr-FR" b="1" dirty="0" err="1"/>
              <a:t>Softmax</a:t>
            </a:r>
            <a:r>
              <a:rPr lang="fr-FR" dirty="0"/>
              <a:t> (multi-classe) ou </a:t>
            </a:r>
            <a:r>
              <a:rPr lang="fr-FR" b="1" dirty="0" err="1"/>
              <a:t>sigmoid</a:t>
            </a:r>
            <a:r>
              <a:rPr lang="fr-FR" dirty="0"/>
              <a:t> (multi-label).</a:t>
            </a:r>
          </a:p>
          <a:p>
            <a:r>
              <a:rPr lang="fr-FR" b="1" dirty="0"/>
              <a:t>Post-traitement (selon la tâche)</a:t>
            </a:r>
            <a:endParaRPr lang="fr-FR" dirty="0"/>
          </a:p>
          <a:p>
            <a:r>
              <a:rPr lang="fr-FR" dirty="0"/>
              <a:t>Prendre la classe top-1/top-k, appliquer un seuil, etc.</a:t>
            </a:r>
          </a:p>
          <a:p>
            <a:r>
              <a:rPr lang="fr-FR" dirty="0"/>
              <a:t>En une ligne : </a:t>
            </a:r>
            <a:r>
              <a:rPr lang="fr-FR" b="1" dirty="0"/>
              <a:t>image → </a:t>
            </a:r>
            <a:r>
              <a:rPr lang="fr-FR" b="1" dirty="0" err="1"/>
              <a:t>preprocessing</a:t>
            </a:r>
            <a:r>
              <a:rPr lang="fr-FR" b="1" dirty="0"/>
              <a:t> → backbone (</a:t>
            </a:r>
            <a:r>
              <a:rPr lang="fr-FR" b="1" dirty="0" err="1"/>
              <a:t>conv</a:t>
            </a:r>
            <a:r>
              <a:rPr lang="fr-FR" b="1" dirty="0"/>
              <a:t>) → </a:t>
            </a:r>
            <a:r>
              <a:rPr lang="fr-FR" b="1" dirty="0" err="1"/>
              <a:t>pooling</a:t>
            </a:r>
            <a:r>
              <a:rPr lang="fr-FR" b="1" dirty="0"/>
              <a:t> → </a:t>
            </a:r>
            <a:r>
              <a:rPr lang="fr-FR" b="1" dirty="0" err="1"/>
              <a:t>head</a:t>
            </a:r>
            <a:r>
              <a:rPr lang="fr-FR" b="1" dirty="0"/>
              <a:t> (dense) → prédiction</a:t>
            </a:r>
            <a:r>
              <a:rPr lang="fr-FR" dirty="0"/>
              <a:t>.</a:t>
            </a:r>
          </a:p>
          <a:p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BEDF5C2-335C-2295-9B98-9289FABD77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42499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015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 sont les outils de la Fusion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34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 réduire d’hétérogénéité entres les modalités et crée un espace latent qui encode au mieux les différentes modalités </a:t>
            </a:r>
            <a:endParaRPr lang="es-A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fr-FR" dirty="0"/>
          </a:p>
          <a:p>
            <a:r>
              <a:rPr lang="fr-FR" dirty="0"/>
              <a:t>se concentre sur l’intégration et l’interprétation d’informations provenant de différentes modalités, telles que le texte, les images, l’audio ou la vidéo, en les projetant dans un espace latent partagé.</a:t>
            </a:r>
          </a:p>
          <a:p>
            <a:endParaRPr lang="fr-FR" dirty="0"/>
          </a:p>
          <a:p>
            <a:r>
              <a:rPr lang="fr-FR" dirty="0"/>
              <a:t>Joint AV</a:t>
            </a:r>
          </a:p>
          <a:p>
            <a:r>
              <a:rPr lang="fr-FR" dirty="0"/>
              <a:t>Joint DV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EB5E6-3029-5328-9A79-4C124B48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3DA0EEB-B5E2-FDC8-D918-A09603DA9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8F7D171-6F96-ACCA-9A3B-358E0B50B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0A70840-1309-9423-CBE4-A3B4F9729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94433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47869-A6FC-E5C1-961C-88F0F5CDE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0F30968-2588-F639-78A6-3981A20933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9CB7A3D-EFFD-D4B4-D1D7-6B22FFD2A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423B981-5FEB-66BA-4A24-07658D1304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76646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 des </a:t>
            </a:r>
            <a:r>
              <a:rPr lang="fr-FR" dirty="0" err="1"/>
              <a:t>embeding</a:t>
            </a:r>
            <a:r>
              <a:rPr lang="fr-FR" dirty="0"/>
              <a:t> pour donner l’exemple</a:t>
            </a:r>
          </a:p>
          <a:p>
            <a:endParaRPr lang="fr-FR" dirty="0"/>
          </a:p>
          <a:p>
            <a:r>
              <a:rPr lang="fr-FR" dirty="0"/>
              <a:t>C’est de passé d’une modalité à une autre de la traduire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0767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5031E-F60B-1EFA-FA16-35B30711D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DAD2D7-C134-81E9-9AA6-3C89DEE40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01A943E-418E-DFB1-9484-41DDDBC9F1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327BF71-3659-98F9-7300-49F2A8C84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1004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81D9-F3FD-59F9-BDE5-E8016B979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6C0367E-0D68-0C04-A573-C2A9FCEEE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3D386E3-52D1-9757-4A31-FE04DA03F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F91C89-0907-EA4F-321A-787A44373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18420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BADBF-B65A-4786-AFAD-19BFABC4B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89BFCBF-FCB3-1743-FDA7-E47E6C523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5D3D4E5-167B-10C5-243B-BCF5136966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3A7E69-B277-CA20-D357-66801CF3E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00339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6CEE7-9F7A-4B3E-A564-087E0D78B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4443288-EBCC-DC5B-5950-C102EAF88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64A1EF7-BD7C-6429-DD51-F1DFDEA03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E4977C-C3B6-B988-C803-D61E68FF31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495017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83DF8-0B1C-4DDB-1868-482F36853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3414340-C79B-5E0E-9072-DD4EF0144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8E5D84F-6420-B9EF-4F14-8149707C0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DB9CDC-2E3C-0977-8B7C-F63B04810B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13148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5570-68FD-D24D-0769-40F560BE1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A16A099-C455-3357-FDED-B0F18D955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6FAD433-D0FE-8E21-9462-828CE26AD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2608A15-630D-557B-28D2-C95CC1E80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94351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8D91F-4EBE-94E5-5177-DA3223237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3604C07-C911-2591-B4B0-43531FDE1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A5BC62-20A6-0BAC-35C3-144387945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64867FE-3C16-C280-E272-8126DE2F42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8380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17B72-7690-9CF3-BADA-5CF6B87B5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1004DD0-1A3E-6D11-EDFB-4BF7D27A5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228A72F-A3A1-6DA8-457F-D1259552D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EE2A1FF-3F2B-6909-F1B9-F081CE24D1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9774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3BA0B-E8E5-7E47-9332-B6964F36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25225F2-1A75-BADF-BBDC-FEE22571C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AAAD303-7C01-A4E8-F428-D78ADEF9C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D0D767-62FA-C26F-24A9-E520C3FB2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57271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possiblement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3417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49EC7-1E45-4B92-8CEE-34A27939E1F4}" type="datetime1">
              <a:rPr lang="fr-FR" smtClean="0"/>
              <a:t>20/01/2026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7E50F-571E-494B-B4CE-77E83D7E47E8}" type="datetime1">
              <a:rPr lang="fr-FR" smtClean="0"/>
              <a:t>20/01/2026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22C4-77CF-4A86-AC51-B5CE7F512F29}" type="datetime1">
              <a:rPr lang="fr-FR" smtClean="0"/>
              <a:t>20/01/2026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399-D4F4-4D78-94F2-63AE8CDE9AF3}" type="datetime1">
              <a:rPr lang="fr-FR" smtClean="0"/>
              <a:t>20/01/2026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4F939-6709-4AA3-BC18-6BB6E2CF0272}" type="datetime1">
              <a:rPr lang="fr-FR" smtClean="0"/>
              <a:t>20/01/2026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31BA1-3673-4B26-9F59-09009FF66F55}" type="datetime1">
              <a:rPr lang="fr-FR" smtClean="0"/>
              <a:t>20/01/2026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A87D5-1206-4907-A63D-5F9C97305022}" type="datetime1">
              <a:rPr lang="fr-FR" smtClean="0"/>
              <a:t>20/01/2026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D32FC-3487-4626-B0AB-758077298DBB}" type="datetime1">
              <a:rPr lang="fr-FR" smtClean="0"/>
              <a:t>20/01/2026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956D5-C346-4BE7-B8CE-EA7342E4326A}" type="datetime1">
              <a:rPr lang="fr-FR" smtClean="0"/>
              <a:t>20/01/2026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0827-085E-48B2-91AC-397A7F54E45C}" type="datetime1">
              <a:rPr lang="fr-FR" smtClean="0"/>
              <a:t>20/01/2026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49E57-B78F-4632-8401-CF28C47E5D38}" type="datetime1">
              <a:rPr lang="fr-FR" smtClean="0"/>
              <a:t>20/01/2026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D4BC0-C5B1-42D8-9BF7-7E77750D523E}" type="datetime1">
              <a:rPr lang="fr-FR" smtClean="0"/>
              <a:t>20/01/2026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kixc1mh55y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6D03FA7-3D73-F860-D803-F3FD4CEA0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Multimodalité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0DD1E2-9457-87AC-C4AE-42768AAB7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 sz="11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327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rrière-plan de carte de circuit imprimé">
            <a:extLst>
              <a:ext uri="{FF2B5EF4-FFF2-40B4-BE49-F238E27FC236}">
                <a16:creationId xmlns:a16="http://schemas.microsoft.com/office/drawing/2014/main" id="{40DA87CF-CC19-9877-2794-4F5A3A05EC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237"/>
          <a:stretch>
            <a:fillRect/>
          </a:stretch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2B5EC8-D024-B2A3-AE7B-C5A7DCB34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610" y="2434201"/>
            <a:ext cx="3822189" cy="3742762"/>
          </a:xfrm>
        </p:spPr>
        <p:txBody>
          <a:bodyPr>
            <a:normAutofit/>
          </a:bodyPr>
          <a:lstStyle/>
          <a:p>
            <a:r>
              <a:rPr lang="fr-FR" sz="2000" dirty="0"/>
              <a:t>La multimodalité</a:t>
            </a:r>
          </a:p>
          <a:p>
            <a:r>
              <a:rPr lang="fr-FR" sz="2000" dirty="0"/>
              <a:t>La fusion</a:t>
            </a:r>
          </a:p>
          <a:p>
            <a:r>
              <a:rPr lang="fr-FR" sz="2000" dirty="0"/>
              <a:t>Data </a:t>
            </a:r>
            <a:r>
              <a:rPr lang="fr-FR" sz="2000" dirty="0" err="1"/>
              <a:t>Representation</a:t>
            </a:r>
            <a:endParaRPr lang="fr-FR" sz="2000" dirty="0"/>
          </a:p>
          <a:p>
            <a:r>
              <a:rPr lang="fr-FR" sz="2000" dirty="0"/>
              <a:t>Data Translation</a:t>
            </a:r>
          </a:p>
          <a:p>
            <a:r>
              <a:rPr lang="fr-FR" sz="2000" dirty="0"/>
              <a:t>Data </a:t>
            </a:r>
            <a:r>
              <a:rPr lang="fr-FR" sz="2000" dirty="0" err="1"/>
              <a:t>Alignment</a:t>
            </a:r>
            <a:endParaRPr lang="fr-FR" sz="2000" dirty="0"/>
          </a:p>
          <a:p>
            <a:r>
              <a:rPr lang="fr-FR" sz="2000" dirty="0"/>
              <a:t>Le </a:t>
            </a:r>
            <a:r>
              <a:rPr lang="fr-FR" sz="2000" dirty="0" err="1"/>
              <a:t>co-learning</a:t>
            </a:r>
            <a:endParaRPr lang="fr-FR" sz="2000" dirty="0"/>
          </a:p>
          <a:p>
            <a:r>
              <a:rPr lang="fr-FR" sz="2000" dirty="0"/>
              <a:t>Domaines d’applications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D2A657-B0EB-5916-15EB-E333F724F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/>
              <a:pPr>
                <a:spcAft>
                  <a:spcPts val="600"/>
                </a:spcAft>
              </a:pPr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9975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6FB3C81-96AF-73E6-EE64-FCCBD7DD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Modalité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F4045D-A3E7-7974-A8E0-3EF85881D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Une modalité est un type de donnée utilisé pour représenter une information.</a:t>
            </a:r>
          </a:p>
          <a:p>
            <a:r>
              <a:rPr lang="fr-FR" sz="2000" dirty="0"/>
              <a:t>Les type de formats :</a:t>
            </a:r>
          </a:p>
          <a:p>
            <a:pPr lvl="1"/>
            <a:r>
              <a:rPr lang="fr-FR" sz="2000" dirty="0"/>
              <a:t>Image</a:t>
            </a:r>
          </a:p>
          <a:p>
            <a:pPr lvl="1"/>
            <a:r>
              <a:rPr lang="fr-FR" sz="2000" dirty="0"/>
              <a:t>Textuel</a:t>
            </a:r>
          </a:p>
          <a:p>
            <a:pPr lvl="1"/>
            <a:r>
              <a:rPr lang="fr-FR" sz="2000" dirty="0"/>
              <a:t>Audio</a:t>
            </a:r>
          </a:p>
          <a:p>
            <a:pPr lvl="1"/>
            <a:r>
              <a:rPr lang="fr-FR" sz="2000" dirty="0"/>
              <a:t>Vidéo</a:t>
            </a:r>
          </a:p>
          <a:p>
            <a:pPr lvl="1"/>
            <a:r>
              <a:rPr lang="fr-FR" sz="2000" dirty="0"/>
              <a:t>…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6C1FF8-E2CC-C7BD-9A78-D6520AF6B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037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u contenu 5" descr="Une image contenant cercle,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9C1425A-61FE-9953-C009-595773A3BC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90" b="8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553D618-21D5-B52D-6309-A78358376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La multimodalité: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7D760F-65A3-B682-D2A8-D583AA6DB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>
              <a:spcAft>
                <a:spcPts val="600"/>
              </a:spcAft>
            </a:pPr>
            <a:fld id="{BBC07E23-5D66-4BDA-857C-D8615BC30D33}" type="slidenum">
              <a:rPr lang="en-US">
                <a:solidFill>
                  <a:srgbClr val="FFFFFF"/>
                </a:solidFill>
              </a:rPr>
              <a:pPr defTabSz="457200">
                <a:spcAft>
                  <a:spcPts val="600"/>
                </a:spcAft>
              </a:pPr>
              <a:t>4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4990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Les 5 clefs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7252703"/>
              </p:ext>
            </p:extLst>
          </p:nvPr>
        </p:nvGraphicFramePr>
        <p:xfrm>
          <a:off x="644056" y="2615979"/>
          <a:ext cx="10927829" cy="3739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C41CF1-5808-22FC-DA02-ED4AA3817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D8B7B88-95CE-3785-7A81-E58EEA8F0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7CA16D-5769-48EF-CA4C-73F741A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8E2EEF1-A01C-8EFD-9DE0-E73F8FFB4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49E5A1-38A3-B04D-4025-5A2DB0135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C384252-5B83-F3BB-179D-53E730578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ED89E3-27EC-288E-7990-4131F037E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19A4C64-AB5F-42F9-2A44-7A5FD99EA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Model unimodal 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04B20A7-78C2-4A32-9AC5-27E03B20C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7</a:t>
            </a:fld>
            <a:endParaRPr lang="fr-FR"/>
          </a:p>
        </p:txBody>
      </p:sp>
      <p:pic>
        <p:nvPicPr>
          <p:cNvPr id="8" name="Image 7" descr="Une image contenant texte, chien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D7EC4CA-3865-B300-1EC3-969ECE0A2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0491" y="3108783"/>
            <a:ext cx="9231013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003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55326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199317-AFC1-78B7-9E3E-933D8F309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76BBDB-7C7F-A1A1-C862-90EE7BE43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9</a:t>
            </a:fld>
            <a:endParaRPr lang="fr-FR"/>
          </a:p>
        </p:txBody>
      </p:sp>
      <p:pic>
        <p:nvPicPr>
          <p:cNvPr id="8" name="Image 7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A6D3E72-A02D-0855-21D5-47361B67D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780" y="1905908"/>
            <a:ext cx="10288436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AD0C1F-D5AB-3659-605B-20788BFA7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10</a:t>
            </a:fld>
            <a:endParaRPr lang="fr-FR"/>
          </a:p>
        </p:txBody>
      </p:sp>
      <p:pic>
        <p:nvPicPr>
          <p:cNvPr id="4" name="Image 3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61829686-D7AD-BFFD-CEA6-367446A3E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807" y="1907554"/>
            <a:ext cx="9726382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DF3D5D-7F76-B069-32E8-D2E19570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11</a:t>
            </a:fld>
            <a:endParaRPr lang="fr-FR"/>
          </a:p>
        </p:txBody>
      </p:sp>
      <p:pic>
        <p:nvPicPr>
          <p:cNvPr id="4" name="Image 3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4AF1D286-4F87-3E48-4462-AFDDD9E94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491" y="1822348"/>
            <a:ext cx="9231013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96" y="257977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A99F0-374E-0D09-BF80-1BE333CA6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12</a:t>
            </a:fld>
            <a:endParaRPr lang="fr-FR"/>
          </a:p>
        </p:txBody>
      </p:sp>
      <p:pic>
        <p:nvPicPr>
          <p:cNvPr id="6" name="Image 5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18BF3DFB-6C59-F2D6-B1DC-9001D6C9F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123" y="1822348"/>
            <a:ext cx="9135750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1B5C15-A131-E598-A156-3BA90FE0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Representation: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r>
              <a:rPr lang="fr-FR" dirty="0"/>
              <a:t> </a:t>
            </a:r>
          </a:p>
          <a:p>
            <a:pPr marL="0" indent="0">
              <a:buNone/>
            </a:pPr>
            <a:r>
              <a:rPr lang="en-US" sz="2000" b="1" dirty="0"/>
              <a:t>Joint Representation:</a:t>
            </a:r>
          </a:p>
          <a:p>
            <a:pPr lvl="1"/>
            <a:r>
              <a:rPr lang="fr-FR" sz="2000" dirty="0"/>
              <a:t>Les modalités sont fusionnées pour produire une représentation unique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Coordinated Representation:</a:t>
            </a:r>
          </a:p>
          <a:p>
            <a:pPr lvl="1"/>
            <a:r>
              <a:rPr lang="fr-FR" sz="2100" dirty="0"/>
              <a:t>Chaque modalité conserve sa propre représentation</a:t>
            </a:r>
            <a:r>
              <a:rPr lang="fr-FR" dirty="0"/>
              <a:t>, </a:t>
            </a:r>
            <a:r>
              <a:rPr lang="fr-FR" sz="2100" dirty="0"/>
              <a:t>mais ces représentations sont alignées grâce à des contraintes d’apprentissage.</a:t>
            </a:r>
            <a:endParaRPr lang="en-US" sz="21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5B5B405-90BD-C2B1-9A65-BC8B3610B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14</a:t>
            </a:fld>
            <a:endParaRPr lang="fr-FR"/>
          </a:p>
        </p:txBody>
      </p:sp>
      <p:pic>
        <p:nvPicPr>
          <p:cNvPr id="9" name="Image 8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5AC5A39-8449-AFC0-DC3C-F0FBB16DC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239" y="2241055"/>
            <a:ext cx="5703902" cy="23758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9DC746-F57F-1224-B208-A785154FC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59F3952C-2089-82FC-DBAD-49FA3A50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93C838D-FC72-6A58-4B73-21832A954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2A7E06-CABB-8D9C-5788-D6D220BCD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E4266A6-2818-1791-89D2-301AE38A0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8F1DC40-E215-3969-98BB-75EE44D8C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96" y="257977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Coordinated Representation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FB51000-AB07-24B5-BE77-4B3A1C2A7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15</a:t>
            </a:fld>
            <a:endParaRPr lang="fr-FR"/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8C759CA9-CA37-603D-BD57-546CA534CE70}"/>
              </a:ext>
            </a:extLst>
          </p:cNvPr>
          <p:cNvSpPr txBox="1">
            <a:spLocks/>
          </p:cNvSpPr>
          <p:nvPr/>
        </p:nvSpPr>
        <p:spPr>
          <a:xfrm>
            <a:off x="836612" y="1681163"/>
            <a:ext cx="5157787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 err="1"/>
              <a:t>Avantages</a:t>
            </a:r>
            <a:r>
              <a:rPr lang="en-US" dirty="0"/>
              <a:t>:</a:t>
            </a:r>
          </a:p>
        </p:txBody>
      </p:sp>
      <p:sp>
        <p:nvSpPr>
          <p:cNvPr id="8" name="Espace réservé du contenu 3">
            <a:extLst>
              <a:ext uri="{FF2B5EF4-FFF2-40B4-BE49-F238E27FC236}">
                <a16:creationId xmlns:a16="http://schemas.microsoft.com/office/drawing/2014/main" id="{3707EE75-31F9-D0C1-7F26-B36DA132C751}"/>
              </a:ext>
            </a:extLst>
          </p:cNvPr>
          <p:cNvSpPr txBox="1">
            <a:spLocks/>
          </p:cNvSpPr>
          <p:nvPr/>
        </p:nvSpPr>
        <p:spPr>
          <a:xfrm>
            <a:off x="836612" y="2505075"/>
            <a:ext cx="5157787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Garde une représentation par modalité, chaque modalité conserve ses informations propres.</a:t>
            </a:r>
          </a:p>
          <a:p>
            <a:r>
              <a:rPr lang="fr-FR" dirty="0"/>
              <a:t>Permet d’aligner les modalités via des contraintes</a:t>
            </a:r>
          </a:p>
          <a:p>
            <a:r>
              <a:rPr lang="fr-FR" dirty="0"/>
              <a:t>Très utile quand une seule modalité est disponible au test.</a:t>
            </a:r>
          </a:p>
          <a:p>
            <a:r>
              <a:rPr lang="fr-FR" dirty="0"/>
              <a:t>Favorise le transfert cross-modal.</a:t>
            </a:r>
          </a:p>
          <a:p>
            <a:endParaRPr lang="fr-FR" dirty="0"/>
          </a:p>
        </p:txBody>
      </p:sp>
      <p:sp>
        <p:nvSpPr>
          <p:cNvPr id="9" name="Espace réservé du texte 4">
            <a:extLst>
              <a:ext uri="{FF2B5EF4-FFF2-40B4-BE49-F238E27FC236}">
                <a16:creationId xmlns:a16="http://schemas.microsoft.com/office/drawing/2014/main" id="{5CB5BD66-2660-0195-AF46-E68337738AC9}"/>
              </a:ext>
            </a:extLst>
          </p:cNvPr>
          <p:cNvSpPr txBox="1">
            <a:spLocks/>
          </p:cNvSpPr>
          <p:nvPr/>
        </p:nvSpPr>
        <p:spPr>
          <a:xfrm>
            <a:off x="6169024" y="1681163"/>
            <a:ext cx="5183188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fr-FR" u="sng" dirty="0"/>
              <a:t>Désavantages</a:t>
            </a:r>
            <a:r>
              <a:rPr lang="fr-FR" dirty="0"/>
              <a:t>: </a:t>
            </a:r>
          </a:p>
        </p:txBody>
      </p:sp>
      <p:sp>
        <p:nvSpPr>
          <p:cNvPr id="10" name="Espace réservé du contenu 5">
            <a:extLst>
              <a:ext uri="{FF2B5EF4-FFF2-40B4-BE49-F238E27FC236}">
                <a16:creationId xmlns:a16="http://schemas.microsoft.com/office/drawing/2014/main" id="{B0A33E5A-8F75-AFA7-92D0-975FE7CFB8D3}"/>
              </a:ext>
            </a:extLst>
          </p:cNvPr>
          <p:cNvSpPr txBox="1">
            <a:spLocks/>
          </p:cNvSpPr>
          <p:nvPr/>
        </p:nvSpPr>
        <p:spPr>
          <a:xfrm>
            <a:off x="6172200" y="2505075"/>
            <a:ext cx="5183188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L’alignement peut être difficile à apprendre si les modalités sont très différentes ou bruitées.</a:t>
            </a:r>
          </a:p>
          <a:p>
            <a:r>
              <a:rPr lang="fr-FR"/>
              <a:t>La qualité dépend fortement de la contrainte choisie.</a:t>
            </a:r>
          </a:p>
          <a:p>
            <a:r>
              <a:rPr lang="fr-FR"/>
              <a:t>Peut-être moins efficace si l’objectif est une décision finale unique.</a:t>
            </a:r>
          </a:p>
          <a:p>
            <a:r>
              <a:rPr lang="fr-FR"/>
              <a:t>Devient plus complexe quand tu as beaucoup de modalités.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92387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1E0936-7215-EDDB-04F9-F4A6D459B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C506E464-EE80-3B19-C248-BA137623B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BF159EF-43B3-7B82-A469-12E933852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57E5336-A503-72FE-1A4F-0EF526202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C563BB5-E562-AFD7-A2E0-E706D2313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ECB27C2-5EFF-B9D0-34AB-E46AF1AB7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96" y="257977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Joint Representation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B533C1F-36E0-734E-E861-7F589986C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16</a:t>
            </a:fld>
            <a:endParaRPr lang="fr-FR"/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95DC18EE-AE51-4143-8E26-7E49E60060B4}"/>
              </a:ext>
            </a:extLst>
          </p:cNvPr>
          <p:cNvSpPr txBox="1">
            <a:spLocks/>
          </p:cNvSpPr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 err="1"/>
              <a:t>Avantages</a:t>
            </a:r>
            <a:r>
              <a:rPr lang="en-US" dirty="0"/>
              <a:t>:</a:t>
            </a:r>
          </a:p>
        </p:txBody>
      </p:sp>
      <p:sp>
        <p:nvSpPr>
          <p:cNvPr id="13" name="Espace réservé du contenu 3">
            <a:extLst>
              <a:ext uri="{FF2B5EF4-FFF2-40B4-BE49-F238E27FC236}">
                <a16:creationId xmlns:a16="http://schemas.microsoft.com/office/drawing/2014/main" id="{161EC5B2-756A-E2D0-0E49-C485453614D4}"/>
              </a:ext>
            </a:extLst>
          </p:cNvPr>
          <p:cNvSpPr txBox="1">
            <a:spLocks/>
          </p:cNvSpPr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Produit un embedding unique, plus facile à exploiter pour une tâche finale.</a:t>
            </a:r>
          </a:p>
          <a:p>
            <a:r>
              <a:rPr lang="fr-FR"/>
              <a:t>Permet de capturer directement les interactions et la complémentarité entre modalités.</a:t>
            </a:r>
          </a:p>
          <a:p>
            <a:r>
              <a:rPr lang="fr-FR"/>
              <a:t>Souvent efficace quand toutes les modalités sont disponibles à l’entraînement et au test.</a:t>
            </a:r>
          </a:p>
          <a:p>
            <a:endParaRPr lang="fr-FR" dirty="0"/>
          </a:p>
        </p:txBody>
      </p:sp>
      <p:sp>
        <p:nvSpPr>
          <p:cNvPr id="14" name="Espace réservé du texte 4">
            <a:extLst>
              <a:ext uri="{FF2B5EF4-FFF2-40B4-BE49-F238E27FC236}">
                <a16:creationId xmlns:a16="http://schemas.microsoft.com/office/drawing/2014/main" id="{06A5DD05-E232-B61E-98C3-B26DBC51BE88}"/>
              </a:ext>
            </a:extLst>
          </p:cNvPr>
          <p:cNvSpPr txBox="1">
            <a:spLocks/>
          </p:cNvSpPr>
          <p:nvPr/>
        </p:nvSpPr>
        <p:spPr>
          <a:xfrm>
            <a:off x="6172200" y="1681163"/>
            <a:ext cx="5183188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u="sng" dirty="0"/>
              <a:t>Désavantages</a:t>
            </a:r>
            <a:r>
              <a:rPr lang="fr-FR" dirty="0"/>
              <a:t>: </a:t>
            </a:r>
          </a:p>
        </p:txBody>
      </p:sp>
      <p:sp>
        <p:nvSpPr>
          <p:cNvPr id="15" name="Espace réservé du contenu 5">
            <a:extLst>
              <a:ext uri="{FF2B5EF4-FFF2-40B4-BE49-F238E27FC236}">
                <a16:creationId xmlns:a16="http://schemas.microsoft.com/office/drawing/2014/main" id="{AE321B69-3DDE-7FA3-83C2-E2A4C98C039A}"/>
              </a:ext>
            </a:extLst>
          </p:cNvPr>
          <p:cNvSpPr txBox="1">
            <a:spLocks/>
          </p:cNvSpPr>
          <p:nvPr/>
        </p:nvSpPr>
        <p:spPr>
          <a:xfrm>
            <a:off x="6172200" y="2505075"/>
            <a:ext cx="5183188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Risque de perdre la spécificité de chaque modalité.</a:t>
            </a:r>
          </a:p>
          <a:p>
            <a:r>
              <a:rPr lang="fr-FR"/>
              <a:t>Plus sensible aux modalités manquantes.</a:t>
            </a:r>
          </a:p>
          <a:p>
            <a:r>
              <a:rPr lang="fr-FR"/>
              <a:t>La fusion peut introduire du bruit ou de la redondance si elle est mal contrôlée.</a:t>
            </a:r>
          </a:p>
          <a:p>
            <a:r>
              <a:rPr lang="fr-FR"/>
              <a:t>Peut nécessiter beaucoup de données pour apprendre une représentation commune stable.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2227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 Translation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7F56C88-046F-D9E7-8BD4-4BA82279F704}"/>
              </a:ext>
            </a:extLst>
          </p:cNvPr>
          <p:cNvSpPr txBox="1"/>
          <p:nvPr/>
        </p:nvSpPr>
        <p:spPr>
          <a:xfrm>
            <a:off x="6503158" y="649480"/>
            <a:ext cx="48624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>
                <a:effectLst/>
              </a:rPr>
              <a:t>En multimodal, la data translation </a:t>
            </a:r>
            <a:r>
              <a:rPr lang="en-US" sz="2000" dirty="0" err="1">
                <a:effectLst/>
              </a:rPr>
              <a:t>désigne</a:t>
            </a:r>
            <a:r>
              <a:rPr lang="en-US" sz="2000" dirty="0">
                <a:effectLst/>
              </a:rPr>
              <a:t> le fait de </a:t>
            </a:r>
            <a:r>
              <a:rPr lang="en-US" sz="2000" dirty="0" err="1">
                <a:effectLst/>
              </a:rPr>
              <a:t>convertire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une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modalité</a:t>
            </a:r>
            <a:r>
              <a:rPr lang="en-US" sz="2000" dirty="0">
                <a:effectLst/>
              </a:rPr>
              <a:t> vers </a:t>
            </a:r>
            <a:r>
              <a:rPr lang="en-US" sz="2000" dirty="0" err="1">
                <a:effectLst/>
              </a:rPr>
              <a:t>une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autre</a:t>
            </a:r>
            <a:r>
              <a:rPr lang="en-US" sz="2000" dirty="0"/>
              <a:t>, </a:t>
            </a:r>
            <a:r>
              <a:rPr lang="en-US" sz="2000" dirty="0" err="1">
                <a:effectLst/>
              </a:rPr>
              <a:t>ou</a:t>
            </a:r>
            <a:r>
              <a:rPr lang="en-US" sz="2000" dirty="0">
                <a:effectLst/>
              </a:rPr>
              <a:t> vers </a:t>
            </a:r>
            <a:r>
              <a:rPr lang="en-US" sz="2000" dirty="0" err="1">
                <a:effectLst/>
              </a:rPr>
              <a:t>une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représentation</a:t>
            </a:r>
            <a:r>
              <a:rPr lang="en-US" sz="2000" dirty="0">
                <a:effectLst/>
              </a:rPr>
              <a:t> commune, tout </a:t>
            </a:r>
            <a:r>
              <a:rPr lang="en-US" sz="2000" dirty="0" err="1">
                <a:effectLst/>
              </a:rPr>
              <a:t>en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conservant</a:t>
            </a:r>
            <a:r>
              <a:rPr lang="en-US" sz="2000" dirty="0">
                <a:effectLst/>
              </a:rPr>
              <a:t> au </a:t>
            </a:r>
            <a:r>
              <a:rPr lang="en-US" sz="2000" dirty="0" err="1">
                <a:effectLst/>
              </a:rPr>
              <a:t>mieux</a:t>
            </a:r>
            <a:r>
              <a:rPr lang="en-US" sz="2000" dirty="0">
                <a:effectLst/>
              </a:rPr>
              <a:t> le </a:t>
            </a:r>
            <a:r>
              <a:rPr lang="en-US" sz="2000" dirty="0" err="1">
                <a:effectLst/>
              </a:rPr>
              <a:t>sens</a:t>
            </a:r>
            <a:r>
              <a:rPr lang="en-US" sz="2000" dirty="0">
                <a:effectLst/>
              </a:rPr>
              <a:t>, la structure et les </a:t>
            </a:r>
            <a:r>
              <a:rPr lang="en-US" sz="2000" dirty="0" err="1">
                <a:effectLst/>
              </a:rPr>
              <a:t>contraintes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utiles</a:t>
            </a:r>
            <a:r>
              <a:rPr lang="en-US" sz="2000" dirty="0">
                <a:effectLst/>
              </a:rPr>
              <a:t> pour </a:t>
            </a:r>
            <a:r>
              <a:rPr lang="en-US" sz="2000" dirty="0"/>
              <a:t>le </a:t>
            </a:r>
            <a:r>
              <a:rPr lang="en-US" sz="2000" dirty="0" err="1"/>
              <a:t>modéle</a:t>
            </a:r>
            <a:r>
              <a:rPr lang="en-US" sz="2000" dirty="0">
                <a:effectLst/>
              </a:rPr>
              <a:t>. </a:t>
            </a:r>
            <a:endParaRPr lang="en-US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04715F-64A9-2798-4B43-0A182CEEB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114078D-1DDF-AB97-041B-1AA6E3B17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346" y="278535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Exemple de Translation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EB4FA1-5664-3F22-2B3F-2710D9993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dirty="0"/>
              <a:t>Exemples typiques :</a:t>
            </a:r>
          </a:p>
          <a:p>
            <a:pPr lvl="1"/>
            <a:r>
              <a:rPr lang="fr-FR" i="1" dirty="0"/>
              <a:t>Image → texte</a:t>
            </a:r>
            <a:r>
              <a:rPr lang="fr-FR" dirty="0"/>
              <a:t> : OCR + restructuration, </a:t>
            </a:r>
          </a:p>
          <a:p>
            <a:pPr lvl="1"/>
            <a:r>
              <a:rPr lang="fr-FR" i="1" dirty="0"/>
              <a:t>Audio → texte</a:t>
            </a:r>
            <a:r>
              <a:rPr lang="fr-FR" dirty="0"/>
              <a:t> : transcription</a:t>
            </a:r>
          </a:p>
          <a:p>
            <a:pPr lvl="1"/>
            <a:r>
              <a:rPr lang="fr-FR" i="1" dirty="0"/>
              <a:t>Vidéo → texte</a:t>
            </a:r>
            <a:r>
              <a:rPr lang="fr-FR" dirty="0"/>
              <a:t> : résumé / description d’actions</a:t>
            </a:r>
          </a:p>
          <a:p>
            <a:pPr lvl="1"/>
            <a:r>
              <a:rPr lang="fr-FR" i="1" dirty="0"/>
              <a:t>Texte → image</a:t>
            </a:r>
            <a:r>
              <a:rPr lang="fr-FR" dirty="0"/>
              <a:t> : génération</a:t>
            </a:r>
          </a:p>
          <a:p>
            <a:endParaRPr lang="fr-F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FBD95A-5712-330E-7A4B-44A7E998A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56907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1B6286-E419-B031-5735-4630D84BB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Ajouter les forces et  les limites?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98A8DA-E65F-1C77-4B78-5F6F02BC5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B358792-C021-C34D-E399-BBFDDA9D1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76408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F1E377C-B493-3EAC-F9A5-9B44BBB34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Data Alignment</a:t>
            </a:r>
            <a:endParaRPr lang="fr-F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62B3776-4373-575D-E746-1882F87EB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AR" sz="2000" dirty="0"/>
              <a:t>Le </a:t>
            </a:r>
            <a:r>
              <a:rPr lang="es-AR" sz="2000" i="1" dirty="0"/>
              <a:t>data </a:t>
            </a:r>
            <a:r>
              <a:rPr lang="es-AR" sz="2000" i="1"/>
              <a:t>alignment</a:t>
            </a:r>
            <a:r>
              <a:rPr lang="es-AR" sz="2000" dirty="0"/>
              <a:t> consiste à </a:t>
            </a:r>
            <a:r>
              <a:rPr lang="es-AR" sz="2000"/>
              <a:t>identifier</a:t>
            </a:r>
            <a:r>
              <a:rPr lang="es-AR" sz="2000" dirty="0"/>
              <a:t> et </a:t>
            </a:r>
            <a:r>
              <a:rPr lang="es-AR" sz="2000"/>
              <a:t>établir</a:t>
            </a:r>
            <a:r>
              <a:rPr lang="es-AR" sz="2000" dirty="0"/>
              <a:t> des </a:t>
            </a:r>
            <a:r>
              <a:rPr lang="es-AR" sz="2000"/>
              <a:t>correspondances</a:t>
            </a:r>
            <a:r>
              <a:rPr lang="es-AR" sz="2000" dirty="0"/>
              <a:t> entre des </a:t>
            </a:r>
            <a:r>
              <a:rPr lang="es-AR" sz="2000"/>
              <a:t>éléments</a:t>
            </a:r>
            <a:r>
              <a:rPr lang="es-AR" sz="2000" dirty="0"/>
              <a:t> </a:t>
            </a:r>
            <a:r>
              <a:rPr lang="es-AR" sz="2000"/>
              <a:t>issus</a:t>
            </a:r>
            <a:r>
              <a:rPr lang="es-AR" sz="2000" dirty="0"/>
              <a:t> de </a:t>
            </a:r>
            <a:r>
              <a:rPr lang="es-AR" sz="2000"/>
              <a:t>différentes</a:t>
            </a:r>
            <a:r>
              <a:rPr lang="es-AR" sz="2000" dirty="0"/>
              <a:t> </a:t>
            </a:r>
            <a:r>
              <a:rPr lang="es-AR" sz="2000"/>
              <a:t>modalités</a:t>
            </a:r>
            <a:r>
              <a:rPr lang="es-AR" sz="2000" dirty="0"/>
              <a:t>. </a:t>
            </a:r>
            <a:r>
              <a:rPr lang="es-AR" sz="2000"/>
              <a:t>Il</a:t>
            </a:r>
            <a:r>
              <a:rPr lang="es-AR" sz="2000" dirty="0"/>
              <a:t> vise à </a:t>
            </a:r>
            <a:r>
              <a:rPr lang="es-AR" sz="2000"/>
              <a:t>aligner</a:t>
            </a:r>
            <a:r>
              <a:rPr lang="es-AR" sz="2000" dirty="0"/>
              <a:t> ces </a:t>
            </a:r>
            <a:r>
              <a:rPr lang="es-AR" sz="2000"/>
              <a:t>informations</a:t>
            </a:r>
            <a:r>
              <a:rPr lang="es-AR" sz="2000" dirty="0"/>
              <a:t> </a:t>
            </a:r>
            <a:r>
              <a:rPr lang="es-AR" sz="2000"/>
              <a:t>dans</a:t>
            </a:r>
            <a:r>
              <a:rPr lang="es-AR" sz="2000" dirty="0"/>
              <a:t> le </a:t>
            </a:r>
            <a:r>
              <a:rPr lang="es-AR" sz="2000"/>
              <a:t>temps</a:t>
            </a:r>
            <a:r>
              <a:rPr lang="es-AR" sz="2000" dirty="0"/>
              <a:t> et </a:t>
            </a:r>
            <a:r>
              <a:rPr lang="es-AR" sz="2000"/>
              <a:t>ou</a:t>
            </a:r>
            <a:r>
              <a:rPr lang="es-AR" sz="2000" dirty="0"/>
              <a:t> </a:t>
            </a:r>
            <a:r>
              <a:rPr lang="es-AR" sz="2000"/>
              <a:t>dans</a:t>
            </a:r>
            <a:r>
              <a:rPr lang="es-AR" sz="2000" dirty="0"/>
              <a:t> </a:t>
            </a:r>
            <a:r>
              <a:rPr lang="es-AR" sz="2000"/>
              <a:t>l’espace</a:t>
            </a:r>
            <a:r>
              <a:rPr lang="es-AR" sz="2000" dirty="0"/>
              <a:t>, </a:t>
            </a:r>
            <a:r>
              <a:rPr lang="es-AR" sz="2000"/>
              <a:t>afin</a:t>
            </a:r>
            <a:r>
              <a:rPr lang="es-AR" sz="2000" dirty="0"/>
              <a:t> de garantir une mise en </a:t>
            </a:r>
            <a:r>
              <a:rPr lang="es-AR" sz="2000"/>
              <a:t>relation</a:t>
            </a:r>
            <a:r>
              <a:rPr lang="es-AR" sz="2000" dirty="0"/>
              <a:t> </a:t>
            </a:r>
            <a:r>
              <a:rPr lang="es-AR" sz="2000"/>
              <a:t>cohérente</a:t>
            </a:r>
            <a:r>
              <a:rPr lang="es-AR" sz="2000" dirty="0"/>
              <a:t> et un </a:t>
            </a:r>
            <a:r>
              <a:rPr lang="es-AR" sz="2000"/>
              <a:t>partage</a:t>
            </a:r>
            <a:r>
              <a:rPr lang="es-AR" sz="2000" dirty="0"/>
              <a:t> </a:t>
            </a:r>
            <a:r>
              <a:rPr lang="es-AR" sz="2000"/>
              <a:t>pertinent</a:t>
            </a:r>
            <a:r>
              <a:rPr lang="es-AR" sz="2000" dirty="0"/>
              <a:t> de </a:t>
            </a:r>
            <a:r>
              <a:rPr lang="es-AR" sz="2000"/>
              <a:t>l’information</a:t>
            </a:r>
            <a:r>
              <a:rPr lang="es-AR" sz="2000" dirty="0"/>
              <a:t> entre les </a:t>
            </a:r>
            <a:r>
              <a:rPr lang="es-AR" sz="2000"/>
              <a:t>modalités</a:t>
            </a:r>
            <a:r>
              <a:rPr lang="es-AR" sz="2000" dirty="0"/>
              <a:t>.</a:t>
            </a:r>
            <a:endParaRPr lang="fr-FR" sz="2000" dirty="0"/>
          </a:p>
          <a:p>
            <a:endParaRPr lang="fr-F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C25C1BF-4B4E-ED0A-977F-799D8CD01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20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61588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567" y="207554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Exemple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dirty="0">
                <a:solidFill>
                  <a:srgbClr val="FFFFFF"/>
                </a:solidFill>
              </a:rPr>
              <a:t>Data 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7182676" y="3792778"/>
            <a:ext cx="4184373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kern="1200" dirty="0">
                <a:latin typeface="+mn-lt"/>
                <a:ea typeface="+mn-ea"/>
                <a:cs typeface="+mn-cs"/>
              </a:rPr>
              <a:t>“</a:t>
            </a:r>
            <a:r>
              <a:rPr lang="en-US" sz="2000" kern="1200" dirty="0">
                <a:highlight>
                  <a:srgbClr val="FF0000"/>
                </a:highlight>
                <a:latin typeface="+mn-lt"/>
                <a:ea typeface="+mn-ea"/>
                <a:cs typeface="+mn-cs"/>
              </a:rPr>
              <a:t>Le Chien </a:t>
            </a:r>
            <a:r>
              <a:rPr lang="en-US" sz="2000" kern="1200" dirty="0">
                <a:latin typeface="+mn-lt"/>
                <a:ea typeface="+mn-ea"/>
                <a:cs typeface="+mn-cs"/>
              </a:rPr>
              <a:t>court dans </a:t>
            </a:r>
            <a:r>
              <a:rPr lang="en-US" sz="2000" kern="1200" dirty="0">
                <a:highlight>
                  <a:srgbClr val="FFFF00"/>
                </a:highlight>
                <a:latin typeface="+mn-lt"/>
                <a:ea typeface="+mn-ea"/>
                <a:cs typeface="+mn-cs"/>
              </a:rPr>
              <a:t>l’ </a:t>
            </a:r>
            <a:r>
              <a:rPr lang="en-US" sz="2000" kern="1200" dirty="0" err="1">
                <a:highlight>
                  <a:srgbClr val="FFFF00"/>
                </a:highlight>
                <a:latin typeface="+mn-lt"/>
                <a:ea typeface="+mn-ea"/>
                <a:cs typeface="+mn-cs"/>
              </a:rPr>
              <a:t>herbe</a:t>
            </a:r>
            <a:r>
              <a:rPr lang="en-US" sz="2000" kern="1200" dirty="0">
                <a:highlight>
                  <a:srgbClr val="FFFF00"/>
                </a:highlight>
                <a:latin typeface="+mn-lt"/>
                <a:ea typeface="+mn-ea"/>
                <a:cs typeface="+mn-cs"/>
              </a:rPr>
              <a:t> verte</a:t>
            </a:r>
            <a:r>
              <a:rPr lang="en-US" sz="2000" kern="1200" dirty="0">
                <a:latin typeface="+mn-lt"/>
                <a:ea typeface="+mn-ea"/>
                <a:cs typeface="+mn-cs"/>
              </a:rPr>
              <a:t>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777564" y="2003504"/>
            <a:ext cx="5627548" cy="4452160"/>
          </a:xfrm>
          <a:prstGeom prst="rect">
            <a:avLst/>
          </a:prstGeom>
          <a:noFill/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D439D9F-E4F2-0F35-4538-A86106EA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FE8311-813D-5C3C-A6D7-CCD9E7AC5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BA767897-FD45-0631-108A-0A9D03944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B6F2375-7097-BCD2-BA71-754E007E3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CB93499-DB0F-2B33-7481-F0FCC27C66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D79EA06-0667-9710-C63F-512E4F21A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2CCAA3-A426-6EDB-DF10-5EB9788FC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CB761CC0-1A63-1068-FE69-8E449A88AD14}"/>
              </a:ext>
            </a:extLst>
          </p:cNvPr>
          <p:cNvSpPr txBox="1">
            <a:spLocks/>
          </p:cNvSpPr>
          <p:nvPr/>
        </p:nvSpPr>
        <p:spPr>
          <a:xfrm>
            <a:off x="440692" y="125656"/>
            <a:ext cx="9392421" cy="13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>
                <a:solidFill>
                  <a:schemeClr val="bg1"/>
                </a:solidFill>
              </a:rPr>
              <a:t>Structure d’</a:t>
            </a:r>
            <a:r>
              <a:rPr lang="en-US" dirty="0">
                <a:solidFill>
                  <a:schemeClr val="bg1"/>
                </a:solidFill>
              </a:rPr>
              <a:t> Alignment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8B4FCAD3-933B-02F1-B22C-B30C83210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12" name="Image 11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4ED8A8EF-330D-2BF1-6769-FE73EA254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2761" y="3186010"/>
            <a:ext cx="5462478" cy="194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532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771733-3A46-483C-A722-052BE6A9A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5808C39-2F74-7D77-DF0A-6BAEEAEF4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46574A0-3ACC-57B6-DE3A-E47833A677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518CFF-1C33-6DD8-78A4-6636BBCA7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9908B5E-5EA6-B7F6-2C9D-50ABD01FE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4310BBD-6ED5-C74C-13FD-6DF0DCB78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96" y="257977"/>
            <a:ext cx="7063721" cy="115920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4000" dirty="0" err="1">
                <a:solidFill>
                  <a:schemeClr val="bg1"/>
                </a:solidFill>
              </a:rPr>
              <a:t>Avantages</a:t>
            </a:r>
            <a:r>
              <a:rPr lang="en-US" sz="4000" dirty="0">
                <a:solidFill>
                  <a:schemeClr val="bg1"/>
                </a:solidFill>
              </a:rPr>
              <a:t> </a:t>
            </a: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et  </a:t>
            </a:r>
            <a:r>
              <a:rPr lang="en-US" sz="40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limites</a:t>
            </a:r>
            <a:r>
              <a:rPr lang="en-US" sz="4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40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l’alignement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D1256F-D1F4-9BFB-49FE-ABE35C3C8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23</a:t>
            </a:fld>
            <a:endParaRPr lang="fr-FR"/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25F22F00-9FD0-E86A-3E8E-5C4C7976DC0B}"/>
              </a:ext>
            </a:extLst>
          </p:cNvPr>
          <p:cNvSpPr txBox="1">
            <a:spLocks/>
          </p:cNvSpPr>
          <p:nvPr/>
        </p:nvSpPr>
        <p:spPr>
          <a:xfrm>
            <a:off x="839788" y="1681163"/>
            <a:ext cx="5157787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u="sng" dirty="0" err="1"/>
              <a:t>Avantages</a:t>
            </a:r>
            <a:r>
              <a:rPr lang="en-US" dirty="0"/>
              <a:t>:</a:t>
            </a:r>
          </a:p>
        </p:txBody>
      </p:sp>
      <p:sp>
        <p:nvSpPr>
          <p:cNvPr id="13" name="Espace réservé du contenu 3">
            <a:extLst>
              <a:ext uri="{FF2B5EF4-FFF2-40B4-BE49-F238E27FC236}">
                <a16:creationId xmlns:a16="http://schemas.microsoft.com/office/drawing/2014/main" id="{D453D0DD-A1EA-4848-9B62-EFFC0E3C0A19}"/>
              </a:ext>
            </a:extLst>
          </p:cNvPr>
          <p:cNvSpPr txBox="1">
            <a:spLocks/>
          </p:cNvSpPr>
          <p:nvPr/>
        </p:nvSpPr>
        <p:spPr>
          <a:xfrm>
            <a:off x="839788" y="2505075"/>
            <a:ext cx="5157787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L’alignement permet de relier directement des sous-éléments de deux modalités </a:t>
            </a:r>
          </a:p>
        </p:txBody>
      </p:sp>
      <p:sp>
        <p:nvSpPr>
          <p:cNvPr id="14" name="Espace réservé du texte 4">
            <a:extLst>
              <a:ext uri="{FF2B5EF4-FFF2-40B4-BE49-F238E27FC236}">
                <a16:creationId xmlns:a16="http://schemas.microsoft.com/office/drawing/2014/main" id="{D98CA4E1-4571-304F-F7BB-F04B20FA15FE}"/>
              </a:ext>
            </a:extLst>
          </p:cNvPr>
          <p:cNvSpPr txBox="1">
            <a:spLocks/>
          </p:cNvSpPr>
          <p:nvPr/>
        </p:nvSpPr>
        <p:spPr>
          <a:xfrm>
            <a:off x="6172200" y="1681163"/>
            <a:ext cx="5183188" cy="823912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u="sng" dirty="0"/>
              <a:t>Limites</a:t>
            </a:r>
            <a:r>
              <a:rPr lang="fr-FR" dirty="0"/>
              <a:t>: </a:t>
            </a:r>
          </a:p>
        </p:txBody>
      </p:sp>
      <p:sp>
        <p:nvSpPr>
          <p:cNvPr id="15" name="Espace réservé du contenu 5">
            <a:extLst>
              <a:ext uri="{FF2B5EF4-FFF2-40B4-BE49-F238E27FC236}">
                <a16:creationId xmlns:a16="http://schemas.microsoft.com/office/drawing/2014/main" id="{06C7FABF-6B20-6AFE-7A1B-2D84EBAA4791}"/>
              </a:ext>
            </a:extLst>
          </p:cNvPr>
          <p:cNvSpPr txBox="1">
            <a:spLocks/>
          </p:cNvSpPr>
          <p:nvPr/>
        </p:nvSpPr>
        <p:spPr>
          <a:xfrm>
            <a:off x="6172200" y="2505075"/>
            <a:ext cx="5183188" cy="3684588"/>
          </a:xfrm>
          <a:prstGeom prst="rect">
            <a:avLst/>
          </a:prstGeom>
          <a:ln>
            <a:solidFill>
              <a:schemeClr val="tx2"/>
            </a:solidFill>
          </a:ln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Risque de perdre la spécificité de chaque modalité.</a:t>
            </a:r>
          </a:p>
          <a:p>
            <a:r>
              <a:rPr lang="fr-FR"/>
              <a:t>Plus sensible aux modalités manquantes.</a:t>
            </a:r>
          </a:p>
          <a:p>
            <a:r>
              <a:rPr lang="fr-FR"/>
              <a:t>La fusion peut introduire du bruit ou de la redondance si elle est mal contrôlée.</a:t>
            </a:r>
          </a:p>
          <a:p>
            <a:r>
              <a:rPr lang="fr-FR"/>
              <a:t>Peut nécessiter beaucoup de données pour apprendre une représentation commune stable.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38220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696D38D-8A35-E72B-B2FE-5F6DCCA9E3C4}"/>
              </a:ext>
            </a:extLst>
          </p:cNvPr>
          <p:cNvSpPr txBox="1"/>
          <p:nvPr/>
        </p:nvSpPr>
        <p:spPr>
          <a:xfrm>
            <a:off x="5297557" y="3003756"/>
            <a:ext cx="5817895" cy="3339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Le </a:t>
            </a:r>
            <a:r>
              <a:rPr lang="fr-FR" dirty="0" err="1"/>
              <a:t>co-learning</a:t>
            </a:r>
            <a:r>
              <a:rPr lang="fr-FR" dirty="0"/>
              <a:t> multimodal est l’approche qui permet de transférer l’information d’une modalité vers une autre afin d’obtenir des modèles capables de fonctionner même avec des modalités manquantes, bruitées ou peu annotées.</a:t>
            </a:r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5400000">
            <a:off x="7049210" y="-1459407"/>
            <a:ext cx="2209913" cy="5922571"/>
          </a:xfrm>
          <a:prstGeom prst="rect">
            <a:avLst/>
          </a:prstGeom>
          <a:noFill/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652423-A3F4-01DA-D14D-7FAF6972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où les données sont souvent incomplètes ou imparfaites comme dans la santé, systèmes autonomes …</a:t>
            </a:r>
            <a:endParaRPr lang="es-A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18DD9-2199-D765-DFC5-022416D3C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D372D8-6FC8-FF8B-4132-75B9D17BA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14ACF0-BEE7-9776-296F-E5FD2B55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1A8254C-4A28-2E6A-DFEC-DF12A6B0C935}"/>
              </a:ext>
            </a:extLst>
          </p:cNvPr>
          <p:cNvSpPr txBox="1"/>
          <p:nvPr/>
        </p:nvSpPr>
        <p:spPr>
          <a:xfrm>
            <a:off x="660041" y="2767106"/>
            <a:ext cx="2880828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ouverts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et solutions possibles :</a:t>
            </a:r>
          </a:p>
        </p:txBody>
      </p:sp>
      <p:pic>
        <p:nvPicPr>
          <p:cNvPr id="48" name="Graphic 47" descr="Ampoule">
            <a:extLst>
              <a:ext uri="{FF2B5EF4-FFF2-40B4-BE49-F238E27FC236}">
                <a16:creationId xmlns:a16="http://schemas.microsoft.com/office/drawing/2014/main" id="{85324288-9544-26DB-290D-F606B3A8B0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3510" y="467208"/>
            <a:ext cx="5923584" cy="5923584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4BC51B5-7B7A-00B6-AE14-32A3548BE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19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27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527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C535EC-3D36-3C1B-5E8D-94956D810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C92C2BA-6A82-7941-09A0-3B873A353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Qualité des données 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94C3EDE-840F-25C0-4FCC-3C04444E36F7}"/>
              </a:ext>
            </a:extLst>
          </p:cNvPr>
          <p:cNvSpPr txBox="1"/>
          <p:nvPr/>
        </p:nvSpPr>
        <p:spPr>
          <a:xfrm>
            <a:off x="1371599" y="2318197"/>
            <a:ext cx="9724031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Défis</a:t>
            </a:r>
            <a:r>
              <a:rPr lang="en-US" sz="2000" dirty="0"/>
              <a:t>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Comme dans </a:t>
            </a:r>
            <a:r>
              <a:rPr lang="en-US" sz="2000" dirty="0" err="1"/>
              <a:t>tous</a:t>
            </a:r>
            <a:r>
              <a:rPr lang="en-US" sz="2000" dirty="0"/>
              <a:t> model </a:t>
            </a:r>
            <a:r>
              <a:rPr lang="en-US" sz="2000" dirty="0" err="1"/>
              <a:t>d’intelligence</a:t>
            </a:r>
            <a:r>
              <a:rPr lang="en-US" sz="2000" dirty="0"/>
              <a:t> </a:t>
            </a:r>
            <a:r>
              <a:rPr lang="en-US" sz="2000" dirty="0" err="1"/>
              <a:t>Artificiel</a:t>
            </a:r>
            <a:r>
              <a:rPr lang="en-US" sz="2000" dirty="0"/>
              <a:t> les données </a:t>
            </a:r>
            <a:r>
              <a:rPr lang="en-US" sz="2000" dirty="0" err="1"/>
              <a:t>sont</a:t>
            </a:r>
            <a:r>
              <a:rPr lang="en-US" sz="2000" dirty="0"/>
              <a:t> le nerf de la guerre il </a:t>
            </a:r>
            <a:r>
              <a:rPr lang="en-US" sz="2000" dirty="0" err="1"/>
              <a:t>esxiste</a:t>
            </a:r>
            <a:r>
              <a:rPr lang="en-US" sz="2000" dirty="0"/>
              <a:t> les </a:t>
            </a:r>
            <a:r>
              <a:rPr lang="en-US" sz="2000" dirty="0" err="1"/>
              <a:t>méme</a:t>
            </a:r>
            <a:r>
              <a:rPr lang="en-US" sz="2000" dirty="0"/>
              <a:t> </a:t>
            </a:r>
            <a:r>
              <a:rPr lang="en-US" sz="2000" dirty="0" err="1"/>
              <a:t>problématique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pour les model  </a:t>
            </a:r>
            <a:r>
              <a:rPr lang="en-US" sz="2000" dirty="0" err="1"/>
              <a:t>unimodaux</a:t>
            </a:r>
            <a:r>
              <a:rPr lang="en-US" sz="2000" dirty="0"/>
              <a:t> : 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Petite taille du dataset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Catégories </a:t>
            </a:r>
            <a:r>
              <a:rPr lang="en-US" sz="2000" dirty="0" err="1"/>
              <a:t>déséquilibrées</a:t>
            </a:r>
            <a:r>
              <a:rPr lang="en-US" sz="2000" dirty="0"/>
              <a:t>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Erreurs</a:t>
            </a:r>
            <a:r>
              <a:rPr lang="en-US" sz="2000" dirty="0"/>
              <a:t> </a:t>
            </a:r>
            <a:r>
              <a:rPr lang="en-US" sz="2000" dirty="0" err="1"/>
              <a:t>d’annotation</a:t>
            </a:r>
            <a:endParaRPr lang="en-US" sz="2000" dirty="0"/>
          </a:p>
          <a:p>
            <a:pPr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Solutions possibles 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Utilisation</a:t>
            </a:r>
            <a:r>
              <a:rPr lang="en-US" sz="2000" dirty="0"/>
              <a:t> de dataset augmenter par des données </a:t>
            </a:r>
            <a:r>
              <a:rPr lang="en-US" sz="2000" dirty="0" err="1"/>
              <a:t>synthétique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les </a:t>
            </a:r>
            <a:r>
              <a:rPr lang="en-US" sz="2000" dirty="0" err="1"/>
              <a:t>résultat</a:t>
            </a:r>
            <a:r>
              <a:rPr lang="en-US" sz="2000" dirty="0"/>
              <a:t> </a:t>
            </a:r>
            <a:r>
              <a:rPr lang="en-US" sz="2000" dirty="0" err="1"/>
              <a:t>reste</a:t>
            </a:r>
            <a:r>
              <a:rPr lang="en-US" sz="2000" dirty="0"/>
              <a:t> </a:t>
            </a:r>
            <a:r>
              <a:rPr lang="en-US" sz="2000" dirty="0" err="1"/>
              <a:t>limité</a:t>
            </a:r>
            <a:endParaRPr lang="en-US" sz="2000" dirty="0"/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GAN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Augmenter le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capteurs</a:t>
            </a:r>
            <a:r>
              <a:rPr lang="en-US" sz="2000" dirty="0"/>
              <a:t> pour </a:t>
            </a:r>
            <a:r>
              <a:rPr lang="en-US" sz="2000" dirty="0" err="1"/>
              <a:t>réduire</a:t>
            </a:r>
            <a:r>
              <a:rPr lang="en-US" sz="2000" dirty="0"/>
              <a:t> les variations </a:t>
            </a:r>
            <a:r>
              <a:rPr lang="en-US" sz="2000" dirty="0" err="1"/>
              <a:t>intrinsec</a:t>
            </a:r>
            <a:r>
              <a:rPr lang="en-US" sz="2000" dirty="0"/>
              <a:t> au  </a:t>
            </a:r>
            <a:r>
              <a:rPr lang="en-US" sz="2000" dirty="0" err="1"/>
              <a:t>capteur</a:t>
            </a:r>
            <a:r>
              <a:rPr lang="en-US" sz="2000" dirty="0"/>
              <a:t>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Porter </a:t>
            </a:r>
            <a:r>
              <a:rPr lang="en-US" sz="2000" dirty="0" err="1"/>
              <a:t>une</a:t>
            </a:r>
            <a:r>
              <a:rPr lang="en-US" sz="2000" dirty="0"/>
              <a:t> attention </a:t>
            </a:r>
            <a:r>
              <a:rPr lang="en-US" sz="2000" dirty="0" err="1"/>
              <a:t>particuliére</a:t>
            </a:r>
            <a:r>
              <a:rPr lang="en-US" sz="2000" dirty="0"/>
              <a:t> à  </a:t>
            </a:r>
            <a:r>
              <a:rPr lang="en-US" sz="2000" dirty="0" err="1"/>
              <a:t>l’équilibres</a:t>
            </a:r>
            <a:r>
              <a:rPr lang="en-US" sz="2000" dirty="0"/>
              <a:t> des données,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6CCEE14-FA7D-C8F6-2B28-F84F4CE63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28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16636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9084C-8296-34FA-BA65-E4FE210B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87169BE-AB4D-733E-CE83-AF0BE93E9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Perte d’information </a:t>
            </a:r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91137E7-8003-ABE0-A758-C52792C603EB}"/>
              </a:ext>
            </a:extLst>
          </p:cNvPr>
          <p:cNvSpPr txBox="1"/>
          <p:nvPr/>
        </p:nvSpPr>
        <p:spPr>
          <a:xfrm>
            <a:off x="1371599" y="2318197"/>
            <a:ext cx="9724031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Défis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La fusion </a:t>
            </a:r>
            <a:r>
              <a:rPr lang="en-US" sz="2000" dirty="0" err="1"/>
              <a:t>entraine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perte</a:t>
            </a:r>
            <a:r>
              <a:rPr lang="en-US" sz="2000" dirty="0"/>
              <a:t> </a:t>
            </a:r>
            <a:r>
              <a:rPr lang="en-US" sz="2000" dirty="0" err="1"/>
              <a:t>d’informations</a:t>
            </a:r>
            <a:r>
              <a:rPr lang="en-US" sz="2000" dirty="0"/>
              <a:t> </a:t>
            </a:r>
            <a:r>
              <a:rPr lang="en-US" sz="2000" dirty="0" err="1"/>
              <a:t>lors</a:t>
            </a:r>
            <a:r>
              <a:rPr lang="en-US" sz="2000" dirty="0"/>
              <a:t> de la translation des données </a:t>
            </a:r>
            <a:r>
              <a:rPr lang="en-US" sz="2000" dirty="0" err="1"/>
              <a:t>d’une</a:t>
            </a:r>
            <a:r>
              <a:rPr lang="en-US" sz="2000" dirty="0"/>
              <a:t> </a:t>
            </a:r>
            <a:r>
              <a:rPr lang="en-US" sz="2000" dirty="0" err="1"/>
              <a:t>modalité</a:t>
            </a:r>
            <a:r>
              <a:rPr lang="en-US" sz="2000" dirty="0"/>
              <a:t> vers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autre</a:t>
            </a:r>
            <a:r>
              <a:rPr lang="en-US" sz="2000" dirty="0"/>
              <a:t>. Par </a:t>
            </a:r>
            <a:r>
              <a:rPr lang="en-US" sz="2000" dirty="0" err="1"/>
              <a:t>exemple</a:t>
            </a:r>
            <a:r>
              <a:rPr lang="en-US" sz="2000" dirty="0"/>
              <a:t> </a:t>
            </a:r>
            <a:r>
              <a:rPr lang="en-US" sz="2000" dirty="0" err="1"/>
              <a:t>quand</a:t>
            </a:r>
            <a:r>
              <a:rPr lang="en-US" sz="2000" dirty="0"/>
              <a:t> on passe </a:t>
            </a:r>
            <a:r>
              <a:rPr lang="en-US" sz="2000" dirty="0" err="1"/>
              <a:t>d’une</a:t>
            </a:r>
            <a:r>
              <a:rPr lang="en-US" sz="2000" dirty="0"/>
              <a:t> </a:t>
            </a:r>
            <a:r>
              <a:rPr lang="en-US" sz="2000" dirty="0" err="1"/>
              <a:t>modalité</a:t>
            </a:r>
            <a:r>
              <a:rPr lang="en-US" sz="2000" dirty="0"/>
              <a:t> 3D </a:t>
            </a:r>
            <a:r>
              <a:rPr lang="en-US" sz="2000" dirty="0" err="1"/>
              <a:t>en</a:t>
            </a:r>
            <a:r>
              <a:rPr lang="en-US" sz="2000" dirty="0"/>
              <a:t> 2D il y a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perte</a:t>
            </a:r>
            <a:r>
              <a:rPr lang="en-US" sz="2000" dirty="0"/>
              <a:t> </a:t>
            </a:r>
            <a:r>
              <a:rPr lang="en-US" sz="2000" dirty="0" err="1"/>
              <a:t>d’informations</a:t>
            </a:r>
            <a:r>
              <a:rPr lang="en-US" sz="2000" dirty="0"/>
              <a:t> </a:t>
            </a:r>
            <a:r>
              <a:rPr lang="en-US" sz="2000" dirty="0" err="1"/>
              <a:t>ou</a:t>
            </a:r>
            <a:r>
              <a:rPr lang="en-US" sz="2000" dirty="0"/>
              <a:t>  </a:t>
            </a:r>
            <a:r>
              <a:rPr lang="en-US" sz="2000" dirty="0" err="1"/>
              <a:t>lors</a:t>
            </a:r>
            <a:r>
              <a:rPr lang="en-US" sz="2000" dirty="0"/>
              <a:t> </a:t>
            </a:r>
            <a:r>
              <a:rPr lang="en-US" sz="2000" dirty="0" err="1"/>
              <a:t>d’une</a:t>
            </a:r>
            <a:r>
              <a:rPr lang="en-US" sz="2000" dirty="0"/>
              <a:t> translation </a:t>
            </a:r>
            <a:r>
              <a:rPr lang="en-US" sz="2000" dirty="0" err="1"/>
              <a:t>d’images</a:t>
            </a:r>
            <a:r>
              <a:rPr lang="en-US" sz="2000" dirty="0"/>
              <a:t> vers </a:t>
            </a:r>
            <a:r>
              <a:rPr lang="en-US" sz="2000" dirty="0" err="1"/>
              <a:t>une</a:t>
            </a:r>
            <a:r>
              <a:rPr lang="en-US" sz="2000" dirty="0"/>
              <a:t> description.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Solutions possibles 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La convolution continue </a:t>
            </a:r>
            <a:r>
              <a:rPr lang="en-US" sz="2000" dirty="0" err="1"/>
              <a:t>reste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solution </a:t>
            </a:r>
            <a:r>
              <a:rPr lang="en-US" sz="2000" dirty="0" err="1"/>
              <a:t>potentiel</a:t>
            </a:r>
            <a:r>
              <a:rPr lang="en-US" sz="2000" dirty="0"/>
              <a:t>, </a:t>
            </a:r>
            <a:r>
              <a:rPr lang="fr-FR" sz="2000" dirty="0"/>
              <a:t>elle permet de réduire la perte d’information géométrique en capturant des informations locales.</a:t>
            </a:r>
            <a:endParaRPr lang="en-US" sz="20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AD93120-1070-07DE-38AA-60EC49C77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29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65884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465869-182C-0AD0-A4D8-34AB5377B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8662677-2987-83B9-FD1A-E6F0E2307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C3A56EC-A386-15BC-C4E0-FC6763B687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49709FE-A78E-A6BE-DA78-8222DA37B9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0CDC970-1033-520F-C0C8-BA2BDD957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F22B140-637E-C299-E830-F6A275B9D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4953D0E-538C-E65F-8715-0B1F02587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AR" sz="4000" dirty="0" err="1">
                <a:solidFill>
                  <a:schemeClr val="bg1"/>
                </a:solidFill>
              </a:rPr>
              <a:t>Accumulation</a:t>
            </a:r>
            <a:r>
              <a:rPr lang="es-AR" sz="4000" dirty="0">
                <a:solidFill>
                  <a:schemeClr val="bg1"/>
                </a:solidFill>
              </a:rPr>
              <a:t> </a:t>
            </a:r>
            <a:r>
              <a:rPr lang="es-AR" sz="4000" dirty="0" err="1">
                <a:solidFill>
                  <a:schemeClr val="bg1"/>
                </a:solidFill>
              </a:rPr>
              <a:t>d’erreurs</a:t>
            </a:r>
            <a:r>
              <a:rPr lang="es-AR" sz="4000" dirty="0">
                <a:solidFill>
                  <a:schemeClr val="bg1"/>
                </a:solidFill>
              </a:rPr>
              <a:t> </a:t>
            </a:r>
            <a:r>
              <a:rPr lang="en-US" sz="40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10B7C0-48FB-2B2E-295E-D7798BA132E4}"/>
              </a:ext>
            </a:extLst>
          </p:cNvPr>
          <p:cNvSpPr txBox="1"/>
          <p:nvPr/>
        </p:nvSpPr>
        <p:spPr>
          <a:xfrm>
            <a:off x="1371599" y="2318197"/>
            <a:ext cx="9724031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Défis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La fusion de </a:t>
            </a:r>
            <a:r>
              <a:rPr lang="en-US" sz="2000" dirty="0" err="1"/>
              <a:t>modalité</a:t>
            </a:r>
            <a:r>
              <a:rPr lang="en-US" sz="2000" dirty="0"/>
              <a:t> </a:t>
            </a:r>
            <a:r>
              <a:rPr lang="en-US" sz="2000" dirty="0" err="1"/>
              <a:t>peut</a:t>
            </a:r>
            <a:r>
              <a:rPr lang="en-US" sz="2000" dirty="0"/>
              <a:t> </a:t>
            </a:r>
            <a:r>
              <a:rPr lang="en-US" sz="2000" dirty="0" err="1"/>
              <a:t>introduit</a:t>
            </a:r>
            <a:r>
              <a:rPr lang="en-US" sz="2000" dirty="0"/>
              <a:t> du bruit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Deux type de bruit inter et  externe interne </a:t>
            </a:r>
            <a:r>
              <a:rPr lang="en-US" sz="2000" dirty="0" err="1"/>
              <a:t>viens</a:t>
            </a:r>
            <a:r>
              <a:rPr lang="en-US" sz="2000" dirty="0"/>
              <a:t> des données </a:t>
            </a:r>
            <a:r>
              <a:rPr lang="en-US" sz="2000" dirty="0" err="1"/>
              <a:t>elles</a:t>
            </a:r>
            <a:r>
              <a:rPr lang="en-US" sz="2000" dirty="0"/>
              <a:t> </a:t>
            </a:r>
            <a:r>
              <a:rPr lang="en-US" sz="2000" dirty="0" err="1"/>
              <a:t>méme</a:t>
            </a:r>
            <a:r>
              <a:rPr lang="en-US" sz="2000" dirty="0"/>
              <a:t> et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Le </a:t>
            </a:r>
            <a:r>
              <a:rPr lang="fr-FR" sz="2000" b="1" dirty="0"/>
              <a:t>bruit interne</a:t>
            </a:r>
            <a:r>
              <a:rPr lang="fr-FR" sz="2000" dirty="0"/>
              <a:t> désigne le bruit intrinsèque aux données elles-mêmes, également appelé </a:t>
            </a:r>
            <a:r>
              <a:rPr lang="fr-FR" sz="2000" b="1" dirty="0"/>
              <a:t>bruit caractéristique.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Le </a:t>
            </a:r>
            <a:r>
              <a:rPr lang="fr-FR" sz="2000" b="1" dirty="0"/>
              <a:t>bruit externe</a:t>
            </a:r>
            <a:r>
              <a:rPr lang="fr-FR" sz="2000" dirty="0"/>
              <a:t> correspond au bruit généré lors de l’étape de fusion des données multimodales.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Solutions possibles 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FR" sz="2000" dirty="0"/>
              <a:t>Certaines études utilisent des techniques de </a:t>
            </a:r>
            <a:r>
              <a:rPr lang="fr-FR" sz="2000" b="1" dirty="0"/>
              <a:t>traduction des données</a:t>
            </a:r>
            <a:r>
              <a:rPr lang="fr-FR" sz="2000" dirty="0"/>
              <a:t> pour convertir les données multimodales entre elles et unifier les données provenant de différentes modalités. Il est possible d’optimiser davantage ces approches sur cette base.</a:t>
            </a:r>
            <a:endParaRPr lang="en-US" sz="200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B018E5-5FE0-67F5-F871-6859B93E3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30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2092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B0CD2A-8E6D-2DBB-6389-51011E910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DCF7D8CD-41B6-44ED-DB0B-200027560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EB649D1-F5A6-A58D-54E5-DE7B09F431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4F123C3-9D97-9176-723A-81EBFA0B3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F1EB907-CB4D-0490-8444-DD281BD92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5FD5B13-5DFE-E687-D310-D7C041063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B2B2AF8-27E9-4D0C-2086-9FEE61CCC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AR" sz="4000" dirty="0" err="1">
                <a:solidFill>
                  <a:schemeClr val="bg1"/>
                </a:solidFill>
              </a:rPr>
              <a:t>Quantité</a:t>
            </a:r>
            <a:r>
              <a:rPr lang="es-AR" sz="4000" dirty="0">
                <a:solidFill>
                  <a:schemeClr val="bg1"/>
                </a:solidFill>
              </a:rPr>
              <a:t> de </a:t>
            </a:r>
            <a:r>
              <a:rPr lang="es-AR" sz="4000" dirty="0" err="1">
                <a:solidFill>
                  <a:schemeClr val="bg1"/>
                </a:solidFill>
              </a:rPr>
              <a:t>modalités</a:t>
            </a:r>
            <a:r>
              <a:rPr lang="es-AR" sz="4000" dirty="0">
                <a:solidFill>
                  <a:schemeClr val="bg1"/>
                </a:solidFill>
              </a:rPr>
              <a:t> </a:t>
            </a:r>
            <a:r>
              <a:rPr lang="en-US" sz="40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6C6DEFA-50C4-CE09-0628-526BB66E9012}"/>
              </a:ext>
            </a:extLst>
          </p:cNvPr>
          <p:cNvSpPr txBox="1"/>
          <p:nvPr/>
        </p:nvSpPr>
        <p:spPr>
          <a:xfrm>
            <a:off x="1371599" y="2318197"/>
            <a:ext cx="9724031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Défis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Plus de </a:t>
            </a:r>
            <a:r>
              <a:rPr lang="en-US" sz="2000" dirty="0" err="1"/>
              <a:t>modalité</a:t>
            </a:r>
            <a:r>
              <a:rPr lang="en-US" sz="2000" dirty="0"/>
              <a:t>  = </a:t>
            </a:r>
            <a:r>
              <a:rPr lang="en-US" sz="2000" dirty="0" err="1"/>
              <a:t>crée</a:t>
            </a:r>
            <a:r>
              <a:rPr lang="en-US" sz="2000" dirty="0"/>
              <a:t> plus de bruit et  des dimensions 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Solutions possibles 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La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67FC217-BB39-28B0-08FA-FD5D3BFF4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31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23976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956481-9C05-C2EE-4200-B0B1877D0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490D6A23-E5B7-28C5-4D99-C98CAAAA1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DA95082-9737-2E22-E612-9D8A27B396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211EB1D-644F-0A20-5605-D3866F908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2913725-AD89-0A77-BC77-B357BA23AF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240E08C-EC2E-13C2-DC8F-EB7CABF859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2401567-F394-572A-CCC9-BEC421F65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AR" sz="4000" dirty="0" err="1">
                <a:solidFill>
                  <a:schemeClr val="bg1"/>
                </a:solidFill>
              </a:rPr>
              <a:t>Garantie</a:t>
            </a:r>
            <a:r>
              <a:rPr lang="es-AR" sz="4000" dirty="0">
                <a:solidFill>
                  <a:schemeClr val="bg1"/>
                </a:solidFill>
              </a:rPr>
              <a:t> en </a:t>
            </a:r>
            <a:r>
              <a:rPr lang="es-AR" sz="4000" dirty="0" err="1">
                <a:solidFill>
                  <a:schemeClr val="bg1"/>
                </a:solidFill>
              </a:rPr>
              <a:t>temps</a:t>
            </a:r>
            <a:r>
              <a:rPr lang="es-AR" sz="4000" dirty="0">
                <a:solidFill>
                  <a:schemeClr val="bg1"/>
                </a:solidFill>
              </a:rPr>
              <a:t> </a:t>
            </a:r>
            <a:r>
              <a:rPr lang="es-AR" sz="4000" dirty="0" err="1">
                <a:solidFill>
                  <a:schemeClr val="bg1"/>
                </a:solidFill>
              </a:rPr>
              <a:t>réel</a:t>
            </a:r>
            <a:r>
              <a:rPr lang="es-AR" sz="4000" dirty="0">
                <a:solidFill>
                  <a:schemeClr val="bg1"/>
                </a:solidFill>
              </a:rPr>
              <a:t> </a:t>
            </a:r>
            <a:r>
              <a:rPr lang="en-US" sz="4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E67FC27-51B8-7818-777F-D2E28AD5329F}"/>
              </a:ext>
            </a:extLst>
          </p:cNvPr>
          <p:cNvSpPr txBox="1"/>
          <p:nvPr/>
        </p:nvSpPr>
        <p:spPr>
          <a:xfrm>
            <a:off x="1371599" y="2318197"/>
            <a:ext cx="9724031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Défis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Dans certain </a:t>
            </a:r>
            <a:r>
              <a:rPr lang="en-US" sz="2000" dirty="0" err="1"/>
              <a:t>systéme</a:t>
            </a:r>
            <a:r>
              <a:rPr lang="en-US" sz="2000" dirty="0"/>
              <a:t> les données MM </a:t>
            </a:r>
            <a:r>
              <a:rPr lang="en-US" sz="2000" dirty="0" err="1"/>
              <a:t>sont</a:t>
            </a:r>
            <a:r>
              <a:rPr lang="en-US" sz="2000" dirty="0"/>
              <a:t> </a:t>
            </a:r>
            <a:r>
              <a:rPr lang="en-US" sz="2000" dirty="0" err="1"/>
              <a:t>collecter</a:t>
            </a:r>
            <a:r>
              <a:rPr lang="en-US" sz="2000" dirty="0"/>
              <a:t> de manière </a:t>
            </a:r>
            <a:r>
              <a:rPr lang="en-US" sz="2000" dirty="0" err="1"/>
              <a:t>dynamique</a:t>
            </a:r>
            <a:r>
              <a:rPr lang="en-US" sz="2000" dirty="0"/>
              <a:t> </a:t>
            </a:r>
            <a:r>
              <a:rPr lang="en-US" sz="2000" dirty="0" err="1"/>
              <a:t>comme</a:t>
            </a:r>
            <a:r>
              <a:rPr lang="en-US" sz="2000" dirty="0"/>
              <a:t> pour la conduit </a:t>
            </a:r>
            <a:r>
              <a:rPr lang="en-US" sz="2000" dirty="0" err="1"/>
              <a:t>automatique</a:t>
            </a:r>
            <a:r>
              <a:rPr lang="en-US" sz="2000" dirty="0"/>
              <a:t>.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Solutions possibles 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La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519E10F-12DE-2BC4-91C9-7886FA768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32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36402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D6F20B-B41C-7872-9D06-CA6D052A7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FF70798C-740B-6008-ED3B-C80A3DB38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F67D5EA-1F6B-1BB7-3383-0D98C24BC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4333281-8043-6C86-1DAC-1F85DD2B8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1A497E5-A508-96AE-BEA3-A80015E0F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987398F-CB4E-F98C-E12E-3231CAC15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C92EAF7-0D0A-5152-42F4-6353CF144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AR" sz="4000" dirty="0" err="1">
                <a:solidFill>
                  <a:schemeClr val="bg1"/>
                </a:solidFill>
              </a:rPr>
              <a:t>Environnement</a:t>
            </a:r>
            <a:r>
              <a:rPr lang="es-AR" sz="4000" dirty="0">
                <a:solidFill>
                  <a:schemeClr val="bg1"/>
                </a:solidFill>
              </a:rPr>
              <a:t> </a:t>
            </a:r>
            <a:r>
              <a:rPr lang="es-AR" sz="4000" dirty="0" err="1">
                <a:solidFill>
                  <a:schemeClr val="bg1"/>
                </a:solidFill>
              </a:rPr>
              <a:t>dynamique</a:t>
            </a:r>
            <a:r>
              <a:rPr lang="es-AR" sz="4000" dirty="0">
                <a:solidFill>
                  <a:schemeClr val="bg1"/>
                </a:solidFill>
              </a:rPr>
              <a:t> </a:t>
            </a:r>
            <a:r>
              <a:rPr lang="en-US" sz="4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315165D-A46F-6604-6BF6-5693A7789E6E}"/>
              </a:ext>
            </a:extLst>
          </p:cNvPr>
          <p:cNvSpPr txBox="1"/>
          <p:nvPr/>
        </p:nvSpPr>
        <p:spPr>
          <a:xfrm>
            <a:off x="1371599" y="2318197"/>
            <a:ext cx="9724031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Défis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La fusion de </a:t>
            </a:r>
            <a:r>
              <a:rPr lang="en-US" sz="2000" dirty="0" err="1"/>
              <a:t>modalité</a:t>
            </a:r>
            <a:r>
              <a:rPr lang="en-US" sz="2000" dirty="0"/>
              <a:t> </a:t>
            </a:r>
            <a:r>
              <a:rPr lang="en-US" sz="2000" dirty="0" err="1"/>
              <a:t>peut</a:t>
            </a:r>
            <a:r>
              <a:rPr lang="en-US" sz="2000" dirty="0"/>
              <a:t> </a:t>
            </a:r>
            <a:r>
              <a:rPr lang="en-US" sz="2000" dirty="0" err="1"/>
              <a:t>introduit</a:t>
            </a:r>
            <a:r>
              <a:rPr lang="en-US" sz="2000" dirty="0"/>
              <a:t> du bruit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Solutions possibles 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La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E6E3619-C238-D6AA-3494-5D83B0042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33</a:t>
            </a:fld>
            <a:endParaRPr lang="en-US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36107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Les applications de la Fusion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  <a:p>
            <a:pPr lvl="1"/>
            <a:r>
              <a:rPr lang="fr-FR" sz="2000" dirty="0" err="1"/>
              <a:t>LLM’s</a:t>
            </a:r>
            <a:r>
              <a:rPr lang="fr-FR" sz="2000" dirty="0"/>
              <a:t> Enrichie</a:t>
            </a:r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9263" y="2495191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E55CAA-0CED-6858-93F5-A05447562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5EEBFD7-A76E-255A-BEA0-7B36E6B2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Conduite autonome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68E448-BC78-618F-0D96-A565DDCC10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Voiture Autonome </a:t>
            </a:r>
          </a:p>
          <a:p>
            <a:pPr lvl="1"/>
            <a:r>
              <a:rPr lang="fr-FR" sz="1600" dirty="0" err="1"/>
              <a:t>Lidar+Video</a:t>
            </a:r>
            <a:r>
              <a:rPr lang="fr-FR" sz="1600" dirty="0"/>
              <a:t>/Images pour la </a:t>
            </a:r>
            <a:r>
              <a:rPr lang="fr-FR" sz="1600" dirty="0" err="1"/>
              <a:t>detections</a:t>
            </a:r>
            <a:r>
              <a:rPr lang="fr-FR" sz="1600" dirty="0"/>
              <a:t> d’objet</a:t>
            </a:r>
          </a:p>
          <a:p>
            <a:pPr marL="457200" lvl="1" indent="0">
              <a:buNone/>
            </a:pPr>
            <a:endParaRPr lang="es-AR" sz="16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3A36BC-DF62-35A2-6C36-3DF67D581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35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7807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98824BB-26F5-8A3A-927B-B6C4B0C32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Analyse de sentiment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8D1E74-878B-7D04-5DF9-CC2F9A00F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9B1B337-2DE3-CEBE-D649-C79710949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36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7518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024517A-2DD6-AD3C-8D57-147E0E84B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Domaine Médicale</a:t>
            </a:r>
            <a:endParaRPr lang="es-AR" sz="4000">
              <a:solidFill>
                <a:srgbClr val="FFFFFF"/>
              </a:solidFill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BC0D00-9E40-451F-771C-1158ACC6B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37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0" name="Espace réservé du contenu 9" descr="Une image contenant texte, ligne, capture d’écran, Tracé&#10;&#10;Le contenu généré par l’IA peut être incorrect.">
            <a:extLst>
              <a:ext uri="{FF2B5EF4-FFF2-40B4-BE49-F238E27FC236}">
                <a16:creationId xmlns:a16="http://schemas.microsoft.com/office/drawing/2014/main" id="{C545ADAC-4055-8C61-842D-66573F23B8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61626" y="2129370"/>
            <a:ext cx="7868748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799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8DC2C-9315-309A-51B5-C5433D894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F7BC347A-0B4B-CA05-10FF-9E003C665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979EBD-F3ED-43B4-E592-7F9DE95465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4BF458-E54C-4377-71F5-EC6596A7C8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5988094-6EE5-15A0-8595-E770070BEC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ACDBCE-0801-4714-F232-501F73B020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89ACA2-29AB-5155-B737-81592DFD3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 dirty="0" err="1">
                <a:solidFill>
                  <a:srgbClr val="FFFFFF"/>
                </a:solidFill>
              </a:rPr>
              <a:t>LLM’s</a:t>
            </a:r>
            <a:r>
              <a:rPr lang="fr-FR" sz="4000" dirty="0">
                <a:solidFill>
                  <a:srgbClr val="FFFFFF"/>
                </a:solidFill>
              </a:rPr>
              <a:t> Enrichie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4A5BEE-2761-72F7-A68B-196F02E6F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s-AR" sz="200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51EB6D-02F5-5384-6FA6-AAA75158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04320" y="6455431"/>
            <a:ext cx="445913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 sz="110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38</a:t>
            </a:fld>
            <a:endParaRPr lang="fr-FR" sz="110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5882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FCB4D-5791-BDAD-9D64-F3CE4D60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Sources: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FF6EA4-8A67-DB1D-5EB1-7E17095F9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A Comprehensive Survey on Deep Learning Multi-Modal Fusion: Methods, Technologies and Applications </a:t>
            </a:r>
            <a:r>
              <a:rPr lang="es-AR" sz="1600" dirty="0" err="1"/>
              <a:t>Tianzhe</a:t>
            </a:r>
            <a:r>
              <a:rPr lang="es-AR" sz="1600" dirty="0"/>
              <a:t> </a:t>
            </a:r>
            <a:r>
              <a:rPr lang="es-AR" sz="1600" dirty="0" err="1"/>
              <a:t>Jiao</a:t>
            </a:r>
            <a:r>
              <a:rPr lang="es-AR" sz="1600" dirty="0"/>
              <a:t>, </a:t>
            </a:r>
            <a:r>
              <a:rPr lang="es-AR" sz="1600" dirty="0" err="1"/>
              <a:t>Chaopeng</a:t>
            </a:r>
            <a:r>
              <a:rPr lang="es-AR" sz="1600" dirty="0"/>
              <a:t> </a:t>
            </a:r>
            <a:r>
              <a:rPr lang="es-AR" sz="1600" dirty="0" err="1"/>
              <a:t>Guo</a:t>
            </a:r>
            <a:r>
              <a:rPr lang="es-AR" sz="1600" dirty="0"/>
              <a:t>, </a:t>
            </a:r>
            <a:r>
              <a:rPr lang="es-AR" sz="1600" dirty="0" err="1"/>
              <a:t>Xiaoyue</a:t>
            </a:r>
            <a:r>
              <a:rPr lang="es-AR" sz="1600" dirty="0"/>
              <a:t> Feng, </a:t>
            </a:r>
            <a:r>
              <a:rPr lang="es-AR" sz="1600" dirty="0" err="1"/>
              <a:t>Yuming</a:t>
            </a:r>
            <a:r>
              <a:rPr lang="es-AR" sz="1600" dirty="0"/>
              <a:t> Chen and Jie </a:t>
            </a:r>
            <a:r>
              <a:rPr lang="es-AR" sz="1600" dirty="0" err="1"/>
              <a:t>Song</a:t>
            </a:r>
            <a:r>
              <a:rPr lang="es-AR" sz="1600" dirty="0"/>
              <a:t> 2024</a:t>
            </a:r>
          </a:p>
          <a:p>
            <a:r>
              <a:rPr lang="en-US" sz="1600" dirty="0"/>
              <a:t>Multimodal Machine Learning: A Survey and Taxonomy Tadas Baltrusaitis, Chaitanya Ahuja, and Louis-Philippe Morency 2017</a:t>
            </a:r>
          </a:p>
          <a:p>
            <a:r>
              <a:rPr lang="es-AR" sz="1600" dirty="0"/>
              <a:t>Multimodal </a:t>
            </a:r>
            <a:r>
              <a:rPr lang="es-AR" sz="1600" dirty="0" err="1"/>
              <a:t>Co-learning</a:t>
            </a:r>
            <a:r>
              <a:rPr lang="es-AR" sz="1600" dirty="0"/>
              <a:t>: </a:t>
            </a:r>
            <a:r>
              <a:rPr lang="es-AR" sz="1600" dirty="0" err="1"/>
              <a:t>Challenges</a:t>
            </a:r>
            <a:r>
              <a:rPr lang="es-AR" sz="1600" dirty="0"/>
              <a:t>, </a:t>
            </a:r>
            <a:r>
              <a:rPr lang="es-AR" sz="1600" dirty="0" err="1"/>
              <a:t>Applications</a:t>
            </a:r>
            <a:r>
              <a:rPr lang="es-AR" sz="1600" dirty="0"/>
              <a:t> </a:t>
            </a:r>
            <a:r>
              <a:rPr lang="es-AR" sz="1600" dirty="0" err="1"/>
              <a:t>with</a:t>
            </a:r>
            <a:r>
              <a:rPr lang="es-AR" sz="1600" dirty="0"/>
              <a:t> </a:t>
            </a:r>
            <a:r>
              <a:rPr lang="es-AR" sz="1600" dirty="0" err="1"/>
              <a:t>Datasets</a:t>
            </a:r>
            <a:r>
              <a:rPr lang="es-AR" sz="1600" dirty="0"/>
              <a:t>, </a:t>
            </a:r>
            <a:r>
              <a:rPr lang="es-AR" sz="1600" dirty="0" err="1"/>
              <a:t>Recent</a:t>
            </a:r>
            <a:r>
              <a:rPr lang="es-AR" sz="1600" dirty="0"/>
              <a:t> </a:t>
            </a:r>
            <a:r>
              <a:rPr lang="es-AR" sz="1600" dirty="0" err="1"/>
              <a:t>Advances</a:t>
            </a:r>
            <a:r>
              <a:rPr lang="es-AR" sz="1600" dirty="0"/>
              <a:t> and Future </a:t>
            </a:r>
            <a:r>
              <a:rPr lang="es-AR" sz="1600" dirty="0" err="1"/>
              <a:t>Directions</a:t>
            </a:r>
            <a:r>
              <a:rPr lang="es-AR" sz="1600" dirty="0"/>
              <a:t> Anil </a:t>
            </a:r>
            <a:r>
              <a:rPr lang="es-AR" sz="1600" dirty="0" err="1"/>
              <a:t>Rahatea</a:t>
            </a:r>
            <a:r>
              <a:rPr lang="es-AR" sz="1600" dirty="0"/>
              <a:t> , </a:t>
            </a:r>
            <a:r>
              <a:rPr lang="es-AR" sz="1600" dirty="0" err="1"/>
              <a:t>Rahee</a:t>
            </a:r>
            <a:r>
              <a:rPr lang="es-AR" sz="1600" dirty="0"/>
              <a:t> </a:t>
            </a:r>
            <a:r>
              <a:rPr lang="es-AR" sz="1600" dirty="0" err="1"/>
              <a:t>Walambea</a:t>
            </a:r>
            <a:r>
              <a:rPr lang="es-AR" sz="1600" dirty="0"/>
              <a:t>, b, </a:t>
            </a:r>
            <a:r>
              <a:rPr lang="es-AR" sz="1600" dirty="0" err="1"/>
              <a:t>Sheela</a:t>
            </a:r>
            <a:r>
              <a:rPr lang="es-AR" sz="1600" dirty="0"/>
              <a:t> </a:t>
            </a:r>
            <a:r>
              <a:rPr lang="es-AR" sz="1600" dirty="0" err="1"/>
              <a:t>Ramannac</a:t>
            </a:r>
            <a:r>
              <a:rPr lang="es-AR" sz="1600" dirty="0"/>
              <a:t> , </a:t>
            </a:r>
            <a:r>
              <a:rPr lang="es-AR" sz="1600" dirty="0" err="1"/>
              <a:t>Ketan</a:t>
            </a:r>
            <a:r>
              <a:rPr lang="es-AR" sz="1600" dirty="0"/>
              <a:t> </a:t>
            </a:r>
            <a:r>
              <a:rPr lang="es-AR" sz="1600" dirty="0" err="1"/>
              <a:t>Kotechaa</a:t>
            </a:r>
            <a:r>
              <a:rPr lang="es-AR" sz="1600" dirty="0"/>
              <a:t> 2022 </a:t>
            </a:r>
          </a:p>
          <a:p>
            <a:r>
              <a:rPr lang="es-AR" sz="1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https://www.youtube.com/watch?v=kixc1mh55yY</a:t>
            </a:r>
            <a:endParaRPr lang="es-AR" sz="1600" dirty="0"/>
          </a:p>
          <a:p>
            <a:r>
              <a:rPr lang="es-AR" sz="1600" dirty="0"/>
              <a:t>https://www.youtube.com/watch?v=xcOMHwjNLaA</a:t>
            </a:r>
          </a:p>
          <a:p>
            <a:endParaRPr lang="es-AR" sz="16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68CB79-5CD9-AB4A-7239-D9C964CF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0042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6900</TotalTime>
  <Words>1796</Words>
  <Application>Microsoft Office PowerPoint</Application>
  <PresentationFormat>Grand écran</PresentationFormat>
  <Paragraphs>294</Paragraphs>
  <Slides>39</Slides>
  <Notes>26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39</vt:i4>
      </vt:variant>
    </vt:vector>
  </HeadingPairs>
  <TitlesOfParts>
    <vt:vector size="44" baseType="lpstr">
      <vt:lpstr>Aptos</vt:lpstr>
      <vt:lpstr>Aptos Display</vt:lpstr>
      <vt:lpstr>Arial</vt:lpstr>
      <vt:lpstr>Calibri</vt:lpstr>
      <vt:lpstr>Thème Office</vt:lpstr>
      <vt:lpstr>La Multimodalité</vt:lpstr>
      <vt:lpstr>Présentation PowerPoint</vt:lpstr>
      <vt:lpstr>Modalité</vt:lpstr>
      <vt:lpstr>La multimodalité: </vt:lpstr>
      <vt:lpstr>Les 5 clefs de la multimodalité</vt:lpstr>
      <vt:lpstr>La fusion</vt:lpstr>
      <vt:lpstr>Model unimodal </vt:lpstr>
      <vt:lpstr>Les méthodes de fusion</vt:lpstr>
      <vt:lpstr>Early  Fusion</vt:lpstr>
      <vt:lpstr>Deep  Fusion</vt:lpstr>
      <vt:lpstr>Late  Fusion</vt:lpstr>
      <vt:lpstr>Hybrid  Fusion</vt:lpstr>
      <vt:lpstr>Technologies de Fusion</vt:lpstr>
      <vt:lpstr>Data Representation:</vt:lpstr>
      <vt:lpstr>Coordinated Representation</vt:lpstr>
      <vt:lpstr>Joint Representation</vt:lpstr>
      <vt:lpstr>Data Translation</vt:lpstr>
      <vt:lpstr>Exemple de Translation</vt:lpstr>
      <vt:lpstr>Ajouter les forces et  les limites?</vt:lpstr>
      <vt:lpstr>Data Alignment</vt:lpstr>
      <vt:lpstr>Exemple Data Alignment</vt:lpstr>
      <vt:lpstr>Présentation PowerPoint</vt:lpstr>
      <vt:lpstr>Avantages et  limites de l’alignement</vt:lpstr>
      <vt:lpstr>Le Co-learning</vt:lpstr>
      <vt:lpstr>Présentation PowerPoint</vt:lpstr>
      <vt:lpstr>Présentation PowerPoint</vt:lpstr>
      <vt:lpstr>Présentation PowerPoint</vt:lpstr>
      <vt:lpstr>Qualité des données :</vt:lpstr>
      <vt:lpstr>Perte d’information :</vt:lpstr>
      <vt:lpstr>Accumulation d’erreurs :</vt:lpstr>
      <vt:lpstr>Quantité de modalités :</vt:lpstr>
      <vt:lpstr>Garantie en temps réel :</vt:lpstr>
      <vt:lpstr>Environnement dynamique :</vt:lpstr>
      <vt:lpstr>Les applications de la Fusion</vt:lpstr>
      <vt:lpstr>Conduite autonome</vt:lpstr>
      <vt:lpstr>Analyse de sentiment</vt:lpstr>
      <vt:lpstr>Domaine Médicale</vt:lpstr>
      <vt:lpstr>LLM’s Enrichie</vt:lpstr>
      <vt:lpstr>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28</cp:revision>
  <dcterms:created xsi:type="dcterms:W3CDTF">2025-09-05T12:51:10Z</dcterms:created>
  <dcterms:modified xsi:type="dcterms:W3CDTF">2026-01-20T15:26:16Z</dcterms:modified>
</cp:coreProperties>
</file>