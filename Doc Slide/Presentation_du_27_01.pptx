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1" r:id="rId2"/>
    <p:sldId id="301" r:id="rId3"/>
    <p:sldId id="302" r:id="rId4"/>
    <p:sldId id="303" r:id="rId5"/>
    <p:sldId id="265" r:id="rId6"/>
    <p:sldId id="264" r:id="rId7"/>
    <p:sldId id="266" r:id="rId8"/>
    <p:sldId id="304" r:id="rId9"/>
    <p:sldId id="270" r:id="rId10"/>
    <p:sldId id="271" r:id="rId11"/>
    <p:sldId id="267" r:id="rId12"/>
    <p:sldId id="269" r:id="rId13"/>
    <p:sldId id="272" r:id="rId14"/>
    <p:sldId id="275" r:id="rId15"/>
    <p:sldId id="276" r:id="rId16"/>
    <p:sldId id="277" r:id="rId17"/>
    <p:sldId id="278" r:id="rId18"/>
    <p:sldId id="279" r:id="rId19"/>
    <p:sldId id="280" r:id="rId20"/>
    <p:sldId id="259" r:id="rId21"/>
    <p:sldId id="299" r:id="rId22"/>
    <p:sldId id="258" r:id="rId23"/>
    <p:sldId id="282" r:id="rId24"/>
    <p:sldId id="281" r:id="rId25"/>
    <p:sldId id="300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467" autoAdjust="0"/>
  </p:normalViewPr>
  <p:slideViewPr>
    <p:cSldViewPr snapToGrid="0">
      <p:cViewPr varScale="1">
        <p:scale>
          <a:sx n="95" d="100"/>
          <a:sy n="95" d="100"/>
        </p:scale>
        <p:origin x="1134" y="96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 dirty="0"/>
            <a:t>Fusion</a:t>
          </a:r>
          <a:r>
            <a:rPr lang="fr-FR" dirty="0"/>
            <a:t> </a:t>
          </a:r>
          <a:endParaRPr lang="en-US" dirty="0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 dirty="0" err="1"/>
            <a:t>Late</a:t>
          </a:r>
          <a:r>
            <a:rPr lang="fr-FR" dirty="0"/>
            <a:t> fusion</a:t>
          </a:r>
          <a:endParaRPr lang="en-US" dirty="0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 dirty="0" err="1"/>
            <a:t>Early</a:t>
          </a:r>
          <a:r>
            <a:rPr lang="fr-FR" dirty="0"/>
            <a:t> fusion</a:t>
          </a:r>
          <a:endParaRPr lang="en-US" dirty="0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 dirty="0" err="1"/>
            <a:t>Modéles</a:t>
          </a:r>
          <a:r>
            <a:rPr lang="fr-FR" dirty="0"/>
            <a:t> Graphiques</a:t>
          </a:r>
          <a:endParaRPr lang="en-US" dirty="0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Fusion</a:t>
          </a:r>
          <a:r>
            <a:rPr lang="fr-FR" sz="2000" kern="1200" dirty="0"/>
            <a:t> </a:t>
          </a:r>
          <a:endParaRPr lang="en-US" sz="2000" kern="1200" dirty="0"/>
        </a:p>
      </dsp:txBody>
      <dsp:txXfrm>
        <a:off x="333914" y="2049612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49612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49612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49612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4961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Late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Early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Modéles</a:t>
          </a:r>
          <a:r>
            <a:rPr lang="fr-FR" sz="3600" kern="1200" dirty="0"/>
            <a:t> Graphiques</a:t>
          </a:r>
          <a:endParaRPr lang="en-US" sz="3600" kern="1200" dirty="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5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20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  <a:p>
            <a:r>
              <a:rPr lang="fr-FR" dirty="0"/>
              <a:t>Exemple:</a:t>
            </a:r>
          </a:p>
          <a:p>
            <a:r>
              <a:rPr lang="fr-FR" dirty="0"/>
              <a:t>Chat-GPT de la génération d’image ou de textes à partir de d’image et textes </a:t>
            </a:r>
          </a:p>
          <a:p>
            <a:r>
              <a:rPr lang="fr-FR" dirty="0"/>
              <a:t>Spécifier une question à  l’aide d’une image et  d’un texte -&gt; de quel  couleurs /où se trouve ? </a:t>
            </a:r>
          </a:p>
          <a:p>
            <a:endParaRPr lang="fr-FR" dirty="0"/>
          </a:p>
          <a:p>
            <a:r>
              <a:rPr lang="fr-FR" dirty="0"/>
              <a:t>Pour de l’identification d’une plante  fournir une photo + l’</a:t>
            </a:r>
            <a:r>
              <a:rPr lang="fr-FR" dirty="0" err="1"/>
              <a:t>endroie</a:t>
            </a:r>
            <a:r>
              <a:rPr lang="fr-FR" dirty="0"/>
              <a:t> et la date de la photo  en textuel  possibilité d’enlevé des ambiguïté :</a:t>
            </a:r>
          </a:p>
          <a:p>
            <a:r>
              <a:rPr lang="fr-FR" b="1" dirty="0"/>
              <a:t>Aloe </a:t>
            </a:r>
            <a:r>
              <a:rPr lang="fr-FR" b="1" dirty="0" err="1"/>
              <a:t>vera</a:t>
            </a:r>
            <a:r>
              <a:rPr lang="fr-FR" dirty="0"/>
              <a:t> : Afrique et péninsule arabique</a:t>
            </a:r>
          </a:p>
          <a:p>
            <a:r>
              <a:rPr lang="fr-FR" b="1" dirty="0"/>
              <a:t>Agave</a:t>
            </a:r>
            <a:r>
              <a:rPr lang="fr-FR" dirty="0"/>
              <a:t> : Amérique centrale et Mexique</a:t>
            </a:r>
          </a:p>
          <a:p>
            <a:endParaRPr lang="fr-FR" dirty="0"/>
          </a:p>
          <a:p>
            <a:r>
              <a:rPr lang="fr-FR" dirty="0"/>
              <a:t>Donne l’exemple des IA </a:t>
            </a:r>
            <a:r>
              <a:rPr lang="fr-FR" dirty="0" err="1"/>
              <a:t>generatives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5703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51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BB98-C514-87F7-4A61-4F586157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5595E7-5E40-EB12-F51A-113C991E8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BCF12F-4FE4-6EED-FE4B-B29944FE9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Chargement</a:t>
            </a:r>
            <a:endParaRPr lang="fr-FR" dirty="0"/>
          </a:p>
          <a:p>
            <a:r>
              <a:rPr lang="fr-FR" dirty="0"/>
              <a:t>Lecture du fichier (JPEG/PNG) → image en mémoire.</a:t>
            </a:r>
          </a:p>
          <a:p>
            <a:r>
              <a:rPr lang="fr-FR" b="1" dirty="0" err="1"/>
              <a:t>Préprocessing</a:t>
            </a:r>
            <a:endParaRPr lang="fr-FR" dirty="0"/>
          </a:p>
          <a:p>
            <a:r>
              <a:rPr lang="fr-FR" b="1" dirty="0"/>
              <a:t>Redimensionnement</a:t>
            </a:r>
            <a:r>
              <a:rPr lang="fr-FR" dirty="0"/>
              <a:t> vers une taille fixe (ex. 224×224).</a:t>
            </a:r>
          </a:p>
          <a:p>
            <a:r>
              <a:rPr lang="fr-FR" b="1" dirty="0"/>
              <a:t>Conversion en tenseur</a:t>
            </a:r>
            <a:r>
              <a:rPr lang="fr-FR" dirty="0"/>
              <a:t> (souvent H×W×C → C×H×W).</a:t>
            </a:r>
          </a:p>
          <a:p>
            <a:r>
              <a:rPr lang="fr-FR" b="1" dirty="0"/>
              <a:t>Mise à l’échelle / normalisation</a:t>
            </a:r>
            <a:r>
              <a:rPr lang="fr-FR" dirty="0"/>
              <a:t> des pixels (ex. [0,255] → [0,1], puis éventuellement (x−mean)/std).</a:t>
            </a:r>
          </a:p>
          <a:p>
            <a:r>
              <a:rPr lang="fr-FR" dirty="0"/>
              <a:t>(En entraînement) </a:t>
            </a:r>
            <a:r>
              <a:rPr lang="fr-FR" b="1" dirty="0"/>
              <a:t>augmentations</a:t>
            </a:r>
            <a:r>
              <a:rPr lang="fr-FR" dirty="0"/>
              <a:t> : flip, </a:t>
            </a:r>
            <a:r>
              <a:rPr lang="fr-FR" dirty="0" err="1"/>
              <a:t>crop</a:t>
            </a:r>
            <a:r>
              <a:rPr lang="fr-FR" dirty="0"/>
              <a:t>, rotation légère, </a:t>
            </a:r>
            <a:r>
              <a:rPr lang="fr-FR" dirty="0" err="1"/>
              <a:t>jitter</a:t>
            </a:r>
            <a:r>
              <a:rPr lang="fr-FR" dirty="0"/>
              <a:t> couleur, etc.</a:t>
            </a:r>
          </a:p>
          <a:p>
            <a:r>
              <a:rPr lang="fr-FR" b="1" dirty="0"/>
              <a:t>Backbone CNN (extraction de features)</a:t>
            </a:r>
            <a:endParaRPr lang="fr-FR" dirty="0"/>
          </a:p>
          <a:p>
            <a:r>
              <a:rPr lang="fr-FR" dirty="0"/>
              <a:t>Suites de </a:t>
            </a:r>
            <a:r>
              <a:rPr lang="fr-FR" b="1" dirty="0"/>
              <a:t>convolutions + activation (</a:t>
            </a:r>
            <a:r>
              <a:rPr lang="fr-FR" b="1" dirty="0" err="1"/>
              <a:t>ReLU</a:t>
            </a:r>
            <a:r>
              <a:rPr lang="fr-FR" b="1" dirty="0"/>
              <a:t>) + (</a:t>
            </a:r>
            <a:r>
              <a:rPr lang="fr-FR" b="1" dirty="0" err="1"/>
              <a:t>BatchNorm</a:t>
            </a:r>
            <a:r>
              <a:rPr lang="fr-FR" b="1" dirty="0"/>
              <a:t>) + </a:t>
            </a:r>
            <a:r>
              <a:rPr lang="fr-FR" b="1" dirty="0" err="1"/>
              <a:t>pooling</a:t>
            </a:r>
            <a:r>
              <a:rPr lang="fr-FR" dirty="0"/>
              <a:t>.</a:t>
            </a:r>
          </a:p>
          <a:p>
            <a:r>
              <a:rPr lang="fr-FR" dirty="0"/>
              <a:t>L’image devient des </a:t>
            </a:r>
            <a:r>
              <a:rPr lang="fr-FR" b="1" dirty="0"/>
              <a:t>cartes de caractéristiques</a:t>
            </a:r>
            <a:r>
              <a:rPr lang="fr-FR" dirty="0"/>
              <a:t> de plus en plus abstraites, avec une résolution qui diminue et un nombre de canaux qui augmente.</a:t>
            </a:r>
          </a:p>
          <a:p>
            <a:r>
              <a:rPr lang="fr-FR" b="1" dirty="0"/>
              <a:t>Agrégation</a:t>
            </a:r>
            <a:endParaRPr lang="fr-FR" dirty="0"/>
          </a:p>
          <a:p>
            <a:r>
              <a:rPr lang="fr-FR" dirty="0"/>
              <a:t>Souvent </a:t>
            </a:r>
            <a:r>
              <a:rPr lang="fr-FR" b="1" dirty="0"/>
              <a:t>Global </a:t>
            </a:r>
            <a:r>
              <a:rPr lang="fr-FR" b="1" dirty="0" err="1"/>
              <a:t>Average</a:t>
            </a:r>
            <a:r>
              <a:rPr lang="fr-FR" b="1" dirty="0"/>
              <a:t> </a:t>
            </a:r>
            <a:r>
              <a:rPr lang="fr-FR" b="1" dirty="0" err="1"/>
              <a:t>Pooling</a:t>
            </a:r>
            <a:r>
              <a:rPr lang="fr-FR" dirty="0"/>
              <a:t> (ou </a:t>
            </a:r>
            <a:r>
              <a:rPr lang="fr-FR" dirty="0" err="1"/>
              <a:t>flatten</a:t>
            </a:r>
            <a:r>
              <a:rPr lang="fr-FR" dirty="0"/>
              <a:t>) pour passer des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maps</a:t>
            </a:r>
            <a:r>
              <a:rPr lang="fr-FR" dirty="0"/>
              <a:t> à un vecteur.</a:t>
            </a:r>
          </a:p>
          <a:p>
            <a:r>
              <a:rPr lang="fr-FR" b="1" dirty="0"/>
              <a:t>Head (prédiction)</a:t>
            </a:r>
            <a:endParaRPr lang="fr-FR" dirty="0"/>
          </a:p>
          <a:p>
            <a:r>
              <a:rPr lang="fr-FR" dirty="0"/>
              <a:t>Une ou quelques couches </a:t>
            </a:r>
            <a:r>
              <a:rPr lang="fr-FR" b="1" dirty="0" err="1"/>
              <a:t>fully-connected</a:t>
            </a:r>
            <a:r>
              <a:rPr lang="fr-FR" dirty="0"/>
              <a:t> (MLP) → sortie.</a:t>
            </a:r>
          </a:p>
          <a:p>
            <a:r>
              <a:rPr lang="fr-FR" b="1" dirty="0" err="1"/>
              <a:t>Softmax</a:t>
            </a:r>
            <a:r>
              <a:rPr lang="fr-FR" dirty="0"/>
              <a:t> (multi-classe) ou </a:t>
            </a:r>
            <a:r>
              <a:rPr lang="fr-FR" b="1" dirty="0" err="1"/>
              <a:t>sigmoid</a:t>
            </a:r>
            <a:r>
              <a:rPr lang="fr-FR" dirty="0"/>
              <a:t> (multi-label).</a:t>
            </a:r>
          </a:p>
          <a:p>
            <a:r>
              <a:rPr lang="fr-FR" b="1" dirty="0"/>
              <a:t>Post-traitement (selon la tâche)</a:t>
            </a:r>
            <a:endParaRPr lang="fr-FR" dirty="0"/>
          </a:p>
          <a:p>
            <a:r>
              <a:rPr lang="fr-FR" dirty="0"/>
              <a:t>Prendre la classe top-1/top-k, appliquer un seuil, etc.</a:t>
            </a:r>
          </a:p>
          <a:p>
            <a:r>
              <a:rPr lang="fr-FR" dirty="0"/>
              <a:t>En une ligne : </a:t>
            </a:r>
            <a:r>
              <a:rPr lang="fr-FR" b="1" dirty="0"/>
              <a:t>image → </a:t>
            </a:r>
            <a:r>
              <a:rPr lang="fr-FR" b="1" dirty="0" err="1"/>
              <a:t>preprocessing</a:t>
            </a:r>
            <a:r>
              <a:rPr lang="fr-FR" b="1" dirty="0"/>
              <a:t> → backbone (</a:t>
            </a:r>
            <a:r>
              <a:rPr lang="fr-FR" b="1" dirty="0" err="1"/>
              <a:t>conv</a:t>
            </a:r>
            <a:r>
              <a:rPr lang="fr-FR" b="1" dirty="0"/>
              <a:t>) → </a:t>
            </a:r>
            <a:r>
              <a:rPr lang="fr-FR" b="1" dirty="0" err="1"/>
              <a:t>pooling</a:t>
            </a:r>
            <a:r>
              <a:rPr lang="fr-FR" b="1" dirty="0"/>
              <a:t> → </a:t>
            </a:r>
            <a:r>
              <a:rPr lang="fr-FR" b="1" dirty="0" err="1"/>
              <a:t>head</a:t>
            </a:r>
            <a:r>
              <a:rPr lang="fr-FR" b="1" dirty="0"/>
              <a:t> (dense) → prédiction</a:t>
            </a:r>
            <a:r>
              <a:rPr lang="fr-FR" dirty="0"/>
              <a:t>.</a:t>
            </a:r>
          </a:p>
          <a:p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EDF5C2-335C-2295-9B98-9289FABD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499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0150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 concentre sur l’intégration et l’interprétation d’informations provenant de différentes modalités, telles que le texte, les images, l’audio ou la vidéo, en les projetant dans un espace latent partagé.</a:t>
            </a:r>
          </a:p>
          <a:p>
            <a:endParaRPr lang="fr-FR" dirty="0"/>
          </a:p>
          <a:p>
            <a:r>
              <a:rPr lang="fr-FR" dirty="0"/>
              <a:t>Joint AV</a:t>
            </a:r>
          </a:p>
          <a:p>
            <a:r>
              <a:rPr lang="fr-FR" dirty="0"/>
              <a:t>Joint DV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 des </a:t>
            </a:r>
            <a:r>
              <a:rPr lang="fr-FR" dirty="0" err="1"/>
              <a:t>embeding</a:t>
            </a:r>
            <a:r>
              <a:rPr lang="fr-FR" dirty="0"/>
              <a:t> pour donner l’exemple</a:t>
            </a:r>
          </a:p>
          <a:p>
            <a:endParaRPr lang="fr-FR" dirty="0"/>
          </a:p>
          <a:p>
            <a:r>
              <a:rPr lang="fr-FR" dirty="0"/>
              <a:t>C’est de passé d’une modalité à une autre de la traduire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0767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possiblement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14/01/2026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14/01/2026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14/01/2026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14/01/2026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14/01/2026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14/01/2026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14/01/2026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14/01/2026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14/01/2026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14/01/2026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14/01/2026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14/01/2026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F5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</a:t>
            </a:r>
            <a:r>
              <a:rPr lang="en-US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multimodalité</a:t>
            </a:r>
            <a:endParaRPr lang="en-US" sz="24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7D077AA-5C0D-E1A6-2E1A-0FD35C2584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360698"/>
            <a:ext cx="7188199" cy="4133214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1FCC933-B2F0-1BDA-8665-273FDC5D1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0257" y="6356350"/>
            <a:ext cx="56000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898989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rrière-plan de carte de circuit imprimé">
            <a:extLst>
              <a:ext uri="{FF2B5EF4-FFF2-40B4-BE49-F238E27FC236}">
                <a16:creationId xmlns:a16="http://schemas.microsoft.com/office/drawing/2014/main" id="{40DA87CF-CC19-9877-2794-4F5A3A05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46" r="4099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2B5EC8-D024-B2A3-AE7B-C5A7DCB34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La multimodalité</a:t>
            </a:r>
          </a:p>
          <a:p>
            <a:r>
              <a:rPr lang="fr-FR" sz="2000" dirty="0"/>
              <a:t>Les 5 clefs</a:t>
            </a:r>
          </a:p>
          <a:p>
            <a:r>
              <a:rPr lang="fr-FR" sz="2000" dirty="0"/>
              <a:t>La fusion</a:t>
            </a:r>
          </a:p>
          <a:p>
            <a:r>
              <a:rPr lang="fr-FR" sz="2000" dirty="0"/>
              <a:t>Les technologies de fusion</a:t>
            </a:r>
          </a:p>
          <a:p>
            <a:r>
              <a:rPr lang="fr-FR" sz="2000" dirty="0"/>
              <a:t>Le </a:t>
            </a:r>
            <a:r>
              <a:rPr lang="fr-FR" sz="2000" dirty="0" err="1"/>
              <a:t>co-learning</a:t>
            </a:r>
            <a:endParaRPr lang="fr-FR" sz="2000" dirty="0"/>
          </a:p>
          <a:p>
            <a:r>
              <a:rPr lang="fr-FR" sz="2000" dirty="0"/>
              <a:t>Domaines d’applications</a:t>
            </a:r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2A657-B0EB-5916-15EB-E333F72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97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9C1425A-61FE-9953-C009-595773A3BC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0" b="8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53D618-21D5-B52D-6309-A7835837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La multimodalité: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7D760F-65A3-B682-D2A8-D583AA6DB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FFFFFF"/>
                </a:solidFill>
              </a:rPr>
              <a:pPr defTabSz="457200"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90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FB3C81-96AF-73E6-EE64-FCCBD7DDB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Trouver slide d’exemple rapide 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6C1FF8-E2CC-C7BD-9A78-D6520AF6B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037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52703"/>
              </p:ext>
            </p:extLst>
          </p:nvPr>
        </p:nvGraphicFramePr>
        <p:xfrm>
          <a:off x="644056" y="2615979"/>
          <a:ext cx="10927829" cy="3739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261946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CA16D-5769-48EF-CA4C-73F741A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8E2EEF1-A01C-8EFD-9DE0-E73F8FFB4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49E5A1-38A3-B04D-4025-5A2DB0135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C384252-5B83-F3BB-179D-53E730578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ED89E3-27EC-288E-7990-4131F037E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9A4C64-AB5F-42F9-2A44-7A5FD99E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 unimodal 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4B20A7-78C2-4A32-9AC5-27E03B20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  <p:pic>
        <p:nvPicPr>
          <p:cNvPr id="8" name="Image 7" descr="Une image contenant texte, chie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D7EC4CA-3865-B300-1EC3-969ECE0A2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491" y="3108783"/>
            <a:ext cx="9231013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03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27F67BC9-5F04-593E-C9F2-E698E02E2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23" y="190590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  <p:pic>
        <p:nvPicPr>
          <p:cNvPr id="10" name="Image 9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68D3721-CFC0-8973-EFF5-7DA3FA522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807" y="1907554"/>
            <a:ext cx="972638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  <p:pic>
        <p:nvPicPr>
          <p:cNvPr id="8" name="Image 7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A6D3E72-A02D-0855-21D5-47361B67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80" y="1905908"/>
            <a:ext cx="10288436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18BF3DFB-6C59-F2D6-B1DC-9001D6C9F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123" y="182234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Representation: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  <p:pic>
        <p:nvPicPr>
          <p:cNvPr id="9" name="Image 8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5AC5A39-8449-AFC0-DC3C-F0FBB16DC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239" y="2241055"/>
            <a:ext cx="5703902" cy="23758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87B079-388D-89B6-240A-0E148844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 dirty="0" err="1">
                <a:effectLst/>
              </a:rPr>
              <a:t>générateur</a:t>
            </a:r>
            <a:r>
              <a:rPr lang="en-US" sz="2000" dirty="0">
                <a:effectLst/>
              </a:rPr>
              <a:t> est </a:t>
            </a:r>
            <a:r>
              <a:rPr lang="en-US" sz="2000" dirty="0" err="1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 dirty="0" err="1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 dirty="0" err="1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 dirty="0" err="1"/>
              <a:t>lui</a:t>
            </a:r>
            <a:r>
              <a:rPr lang="en-US" sz="2000" dirty="0"/>
              <a:t> </a:t>
            </a:r>
            <a:r>
              <a:rPr lang="en-US" sz="2000" dirty="0" err="1"/>
              <a:t>va</a:t>
            </a:r>
            <a:r>
              <a:rPr lang="en-US" sz="2000" dirty="0"/>
              <a:t> juger du </a:t>
            </a:r>
            <a:r>
              <a:rPr lang="en-US" sz="2000" dirty="0" err="1"/>
              <a:t>niveau</a:t>
            </a:r>
            <a:r>
              <a:rPr lang="en-US" sz="2000" dirty="0"/>
              <a:t> de </a:t>
            </a:r>
            <a:r>
              <a:rPr lang="en-US" sz="2000" dirty="0" err="1"/>
              <a:t>précision</a:t>
            </a:r>
            <a:r>
              <a:rPr lang="en-US" sz="2000" dirty="0"/>
              <a:t> des données </a:t>
            </a:r>
            <a:r>
              <a:rPr lang="en-US" sz="2000" dirty="0" err="1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2728A31-EE25-2A3C-96C8-7777BFD8A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court dans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5312BD-D6D8-C88E-1A65-1588FEE9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EE0986-6D94-42CA-FF7A-95E78DE9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  <a:p>
            <a:pPr lvl="1"/>
            <a:r>
              <a:rPr lang="fr-FR" sz="2000" dirty="0" err="1"/>
              <a:t>LLM’s</a:t>
            </a:r>
            <a:r>
              <a:rPr lang="fr-FR" sz="2000" dirty="0"/>
              <a:t> Enrichie</a:t>
            </a:r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263" y="2495191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</a:t>
            </a:r>
            <a:r>
              <a:rPr lang="es-AR" sz="1600"/>
              <a:t>2022 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4720</TotalTime>
  <Words>1029</Words>
  <Application>Microsoft Office PowerPoint</Application>
  <PresentationFormat>Grand écran</PresentationFormat>
  <Paragraphs>171</Paragraphs>
  <Slides>25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Thème Office</vt:lpstr>
      <vt:lpstr>La multimodalité</vt:lpstr>
      <vt:lpstr>Présentation PowerPoint</vt:lpstr>
      <vt:lpstr>La multimodalité: </vt:lpstr>
      <vt:lpstr>Trouver slide d’exemple rapide </vt:lpstr>
      <vt:lpstr>Les 5 clefs de la multimodalité</vt:lpstr>
      <vt:lpstr>La fusion</vt:lpstr>
      <vt:lpstr>Les méthodes de fusion</vt:lpstr>
      <vt:lpstr>Model unimodal </vt:lpstr>
      <vt:lpstr>Late  Fusion</vt:lpstr>
      <vt:lpstr>Deep  Fusion</vt:lpstr>
      <vt:lpstr>Early  Fusion</vt:lpstr>
      <vt:lpstr>Hybrid  Fusion</vt:lpstr>
      <vt:lpstr>Technologies de Fusion</vt:lpstr>
      <vt:lpstr>Data Representation: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Présentation PowerPoint</vt:lpstr>
      <vt:lpstr>Les applications de la Fusion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22</cp:revision>
  <dcterms:created xsi:type="dcterms:W3CDTF">2025-09-05T12:51:10Z</dcterms:created>
  <dcterms:modified xsi:type="dcterms:W3CDTF">2026-01-14T10:40:40Z</dcterms:modified>
</cp:coreProperties>
</file>