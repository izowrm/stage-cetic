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8" r:id="rId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52FEF21-BE07-C767-6D06-CA7AC7F61F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AB6A65D8-4228-BBC1-C68B-B7438AA507B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8481885A-1A2C-3C19-7326-77E968DF81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B137D759-0697-C512-8DB1-6F74DB5F1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A06B875-45CF-958A-E98F-D899BE5DA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792556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04731ED-D666-E47F-6968-876ED86821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A7484E6-C068-F46C-C254-EE9DEA6163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4F8AE677-3ADC-2392-6A8A-9291FD1135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739F935-51D3-7B5E-860F-FE0FD0DE85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0556D72D-B83D-8F15-0917-19DF133B9A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01560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495BD6-4F5A-47DF-00A5-BCFE842B2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8E33194D-A5A5-7F53-E6BB-10ABC19FC6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AA285A67-7AE2-096A-5849-0B2C8DDF8E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5D2372D-4AB3-7667-452B-2AE5087D89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F59139E3-1049-FA9B-1312-C56D5D1DEF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1561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DEE8B1-49F8-B7C7-D323-150DCDCDA3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6D31B1F-AC0F-7891-4034-0A655837095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3FF2C907-CD58-FFD9-B1CF-A5A67B7D60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C62277E3-BC90-29E6-8592-24A5098AD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C547F5B8-788B-26CD-F07F-B5D3227028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426BD32-5FFD-C238-F0E0-E0CB1580E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65093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B555028-61BB-4707-4BF2-DB1C33DF2B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7381BCD-72BE-027A-B773-747AC020F9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F379EBCB-D800-8B45-9515-D356BCB3C5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AD26BCCF-1628-A962-4A05-F4E794F198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0F91449E-A6EA-42E9-1133-ECAA092C3F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2BC8F80D-B5B7-5163-C849-C07CAA28A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BB575822-4A04-C0C2-44DE-22C30D84F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9E6E4F87-6DDC-93D7-A2B3-3CA8A6647E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012840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C50798F-34EA-C7AF-C7E8-2ACE511515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3B3AEEC2-CDC1-942E-AE90-35C538304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71A28256-6E06-B150-0AE9-3E664B4B27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D5F77DEC-5C15-A48B-F1B9-B1956FE6B2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377660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7E66B2-7B3A-B9F5-80DA-A1B3989AE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A890969-6C25-7E22-D1D2-C088504539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75E38297-A3C8-FB90-D231-95F2E0DD2B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6371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70F2BF0-E471-2BF8-795E-87D6AFD03B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9810BBD-9A55-AD92-1453-C33D9916EA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42DDD96-CF79-65BA-1588-C8B405C2753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CD88BF7-2719-FCAD-13B7-4B5492A1A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AD550B3B-6EED-4C5A-11BF-A10057F0CD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CC65A815-A939-069E-9B43-22718216D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17355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92DE17-34A0-0FAA-C27F-9ACB82962F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79FB5BC-2203-BE1A-83F2-AC126DE4B7D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F82EDC98-2130-1FD8-5624-C090E196324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4147D0A9-F84A-00B4-7130-4D8BF5C042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60ADC480-639E-252B-C8C5-AE86E77F28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67E4955-EEE0-04A6-0E28-9EABCCC7FE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39944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375A681-4CA9-BB0C-4BFC-542EB03BA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1771ADB-7713-8915-9C2B-8CB7EC0897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10885611-0EC6-1147-0D66-131556F43D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9864813-959F-EF55-E4A4-F78010EB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5E24510-22FB-000E-E129-9DE2E8EA8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841167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9CC24598-E7BA-754B-486F-BEB67379ABD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22E47A81-FC0C-D5A1-5C5A-E069BAE668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D9977DE5-ACC5-43E7-3EA3-1D9A3EEF18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DD618474-730F-7697-0270-51726F234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AAF35F53-8A2B-16A4-DF94-5CC8908881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7371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45188544-5627-BEB8-E1A9-9F258A7735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CD1928C-0617-D19F-6634-73737EF6AB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054FEFD-22C9-B210-98A1-EBB5ABFC8C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467743-7149-468D-8631-B8D9925B4116}" type="datetimeFigureOut">
              <a:rPr lang="fr-FR" smtClean="0"/>
              <a:t>16/09/2025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224CB006-5F5C-3788-892E-0936FBD52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8F1FDBCB-0611-9C7D-2E28-A6D54D7C50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C07E23-5D66-4BDA-857C-D8615BC30D3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6265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3A421D-0DC3-6210-0A5E-7F1ADAE612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5DD65831-B457-9C3F-3F03-423AC10BB29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6409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1DF91F20-B96F-4F77-AC3E-2CDD3BAA10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C3D487F7-9050-4871-B351-34A72ADB29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484" y="-1"/>
            <a:ext cx="8111296" cy="6858000"/>
          </a:xfrm>
          <a:prstGeom prst="rect">
            <a:avLst/>
          </a:prstGeom>
          <a:gradFill>
            <a:gsLst>
              <a:gs pos="8000">
                <a:srgbClr val="000000">
                  <a:alpha val="94000"/>
                </a:srgbClr>
              </a:gs>
              <a:gs pos="100000">
                <a:schemeClr val="accent1"/>
              </a:gs>
            </a:gsLst>
            <a:lin ang="2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43C27DD-EF6A-4C48-9669-C2970E71A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858281" y="-401562"/>
            <a:ext cx="6858004" cy="7661129"/>
          </a:xfrm>
          <a:prstGeom prst="rect">
            <a:avLst/>
          </a:prstGeom>
          <a:gradFill>
            <a:gsLst>
              <a:gs pos="0">
                <a:schemeClr val="accent1">
                  <a:alpha val="23000"/>
                </a:schemeClr>
              </a:gs>
              <a:gs pos="71000">
                <a:schemeClr val="accent1">
                  <a:lumMod val="50000"/>
                  <a:alpha val="0"/>
                </a:schemeClr>
              </a:gs>
              <a:gs pos="100000">
                <a:srgbClr val="000000">
                  <a:alpha val="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4384FE-1C88-4CAA-8FB8-2313A3AE73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9" y="-1"/>
            <a:ext cx="8118331" cy="6858000"/>
          </a:xfrm>
          <a:prstGeom prst="rect">
            <a:avLst/>
          </a:prstGeom>
          <a:gradFill>
            <a:gsLst>
              <a:gs pos="14000">
                <a:schemeClr val="accent1">
                  <a:alpha val="0"/>
                </a:schemeClr>
              </a:gs>
              <a:gs pos="100000">
                <a:srgbClr val="000000">
                  <a:alpha val="82000"/>
                </a:srgb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7B6A113-58CD-406C-BCE4-6E1F1F2BE6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5449520">
            <a:off x="2569700" y="983306"/>
            <a:ext cx="5005754" cy="5005754"/>
          </a:xfrm>
          <a:prstGeom prst="ellipse">
            <a:avLst/>
          </a:prstGeom>
          <a:gradFill>
            <a:gsLst>
              <a:gs pos="17000">
                <a:schemeClr val="accent1">
                  <a:lumMod val="75000"/>
                  <a:alpha val="0"/>
                </a:schemeClr>
              </a:gs>
              <a:gs pos="82000">
                <a:srgbClr val="000000">
                  <a:alpha val="24000"/>
                </a:srgbClr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ED33EF-C029-9B2C-C2EC-CAED1E7D0C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1948" y="857251"/>
            <a:ext cx="6219582" cy="3160113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 Co-learning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5A1AA86-B7E6-4C02-AA34-F1A25CD4C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7518" y="4354178"/>
            <a:ext cx="8118330" cy="2503817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33000"/>
                </a:schemeClr>
              </a:gs>
              <a:gs pos="83000">
                <a:srgbClr val="000000">
                  <a:alpha val="21000"/>
                </a:srgb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Espace réservé du contenu 3" descr="Une image contenant texte, capture d’écran, Police, Rectangle&#10;&#10;Le contenu généré par l’IA peut être incorrect.">
            <a:extLst>
              <a:ext uri="{FF2B5EF4-FFF2-40B4-BE49-F238E27FC236}">
                <a16:creationId xmlns:a16="http://schemas.microsoft.com/office/drawing/2014/main" id="{F401D835-4EA5-E9DA-3880-AEEAC28DD20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039010" y="457200"/>
            <a:ext cx="2217760" cy="5943600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6030243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1" name="Rectangle 40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77EA4B7-0DBF-872B-1E7B-50471FB77089}"/>
              </a:ext>
            </a:extLst>
          </p:cNvPr>
          <p:cNvSpPr txBox="1"/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37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objectifs du co-learning multimodal</a:t>
            </a:r>
          </a:p>
        </p:txBody>
      </p:sp>
      <p:graphicFrame>
        <p:nvGraphicFramePr>
          <p:cNvPr id="2" name="Tableau 1">
            <a:extLst>
              <a:ext uri="{FF2B5EF4-FFF2-40B4-BE49-F238E27FC236}">
                <a16:creationId xmlns:a16="http://schemas.microsoft.com/office/drawing/2014/main" id="{8A86A2A0-472C-48CF-7C71-1A5A7C1A11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0862482"/>
              </p:ext>
            </p:extLst>
          </p:nvPr>
        </p:nvGraphicFramePr>
        <p:xfrm>
          <a:off x="432225" y="1981866"/>
          <a:ext cx="11327549" cy="4421016"/>
        </p:xfrm>
        <a:graphic>
          <a:graphicData uri="http://schemas.openxmlformats.org/drawingml/2006/table">
            <a:tbl>
              <a:tblPr firstRow="1" bandRow="1">
                <a:noFill/>
              </a:tblPr>
              <a:tblGrid>
                <a:gridCol w="2785352">
                  <a:extLst>
                    <a:ext uri="{9D8B030D-6E8A-4147-A177-3AD203B41FA5}">
                      <a16:colId xmlns:a16="http://schemas.microsoft.com/office/drawing/2014/main" val="1658389980"/>
                    </a:ext>
                  </a:extLst>
                </a:gridCol>
                <a:gridCol w="8542197">
                  <a:extLst>
                    <a:ext uri="{9D8B030D-6E8A-4147-A177-3AD203B41FA5}">
                      <a16:colId xmlns:a16="http://schemas.microsoft.com/office/drawing/2014/main" val="426916927"/>
                    </a:ext>
                  </a:extLst>
                </a:gridCol>
              </a:tblGrid>
              <a:tr h="417924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 dirty="0" err="1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Objectif</a:t>
                      </a:r>
                      <a:endParaRPr lang="es-AR" sz="1200" b="1" i="0" u="none" strike="noStrike" cap="all" spc="60" dirty="0">
                        <a:solidFill>
                          <a:schemeClr val="tx1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6715" marR="28014" marT="94983" marB="94983" anchor="b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200" b="1" i="0" u="none" strike="noStrike" cap="all" spc="6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But</a:t>
                      </a:r>
                    </a:p>
                  </a:txBody>
                  <a:tcPr marL="96715" marR="28014" marT="94983" marB="94983" anchor="b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59178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Présence de modalité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prédire lorsqu’une ou plusieurs modalités sont totalement ou partiellement absentes à l’entraînement ou au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796871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Parallélisme des données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prendre en charge des données fortement appariées, faiblement appariées ou appariées via une modalité partagée.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6187663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Modalité bruitée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fonctionner dans des conditions bruitées, que ce soit au niveau des données ou des annotations.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00303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Annotations des modalités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gérer les modalités annotées, partiellement annotées ou non annotées pendant l’entraînement.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978210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Adaptation de domaine</a:t>
                      </a:r>
                    </a:p>
                  </a:txBody>
                  <a:tcPr marL="96715" marR="28014" marT="27633" marB="94983" anchor="ctr">
                    <a:lnL w="12700" cap="flat" cmpd="sng" algn="ctr">
                      <a:solidFill>
                        <a:schemeClr val="tx1"/>
                      </a:solidFill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être performant même lorsqu’il y a un changement de jeu de données / domaine / modalité entre l’entraînement et le test.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5416478"/>
                  </a:ext>
                </a:extLst>
              </a:tr>
              <a:tr h="667182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s-AR" sz="1700" b="0" i="0" u="none" strike="noStrike" cap="none" spc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Interprétabilité et équité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fr-FR" sz="1700" b="0" i="0" u="none" strike="noStrike" cap="none" spc="0" dirty="0">
                          <a:solidFill>
                            <a:schemeClr val="tx1"/>
                          </a:solidFill>
                          <a:effectLst/>
                          <a:latin typeface="Calibri" panose="020F0502020204030204" pitchFamily="34" charset="0"/>
                        </a:rPr>
                        <a:t>Doit fournir des prédictions interprétables et non biaisées, accompagnées d’explications et respectant l’équité.</a:t>
                      </a:r>
                    </a:p>
                  </a:txBody>
                  <a:tcPr marL="96715" marR="28014" marT="27633" marB="9498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noFill/>
                      <a:prstDash val="soli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348267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9905292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130</Words>
  <Application>Microsoft Office PowerPoint</Application>
  <PresentationFormat>Grand écran</PresentationFormat>
  <Paragraphs>16</Paragraphs>
  <Slides>3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Thème Office</vt:lpstr>
      <vt:lpstr>Présentation PowerPoint</vt:lpstr>
      <vt:lpstr>Le Co-learning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Robin Mougne</dc:creator>
  <cp:lastModifiedBy>MOUGNE Robin</cp:lastModifiedBy>
  <cp:revision>2</cp:revision>
  <dcterms:created xsi:type="dcterms:W3CDTF">2025-09-05T12:51:10Z</dcterms:created>
  <dcterms:modified xsi:type="dcterms:W3CDTF">2025-09-16T10:05:52Z</dcterms:modified>
</cp:coreProperties>
</file>