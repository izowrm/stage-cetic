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60" r:id="rId3"/>
    <p:sldId id="262" r:id="rId4"/>
    <p:sldId id="300" r:id="rId5"/>
    <p:sldId id="263" r:id="rId6"/>
    <p:sldId id="261" r:id="rId7"/>
    <p:sldId id="301" r:id="rId8"/>
    <p:sldId id="265" r:id="rId9"/>
    <p:sldId id="264" r:id="rId10"/>
    <p:sldId id="282" r:id="rId11"/>
    <p:sldId id="266" r:id="rId12"/>
    <p:sldId id="267" r:id="rId13"/>
    <p:sldId id="271" r:id="rId14"/>
    <p:sldId id="270" r:id="rId15"/>
    <p:sldId id="269" r:id="rId16"/>
    <p:sldId id="272" r:id="rId17"/>
    <p:sldId id="275" r:id="rId18"/>
    <p:sldId id="276" r:id="rId19"/>
    <p:sldId id="277" r:id="rId20"/>
    <p:sldId id="278" r:id="rId21"/>
    <p:sldId id="279" r:id="rId22"/>
    <p:sldId id="280" r:id="rId23"/>
    <p:sldId id="259" r:id="rId24"/>
    <p:sldId id="299" r:id="rId25"/>
    <p:sldId id="258" r:id="rId26"/>
    <p:sldId id="281" r:id="rId27"/>
    <p:sldId id="288" r:id="rId28"/>
    <p:sldId id="293" r:id="rId29"/>
    <p:sldId id="287" r:id="rId30"/>
    <p:sldId id="290" r:id="rId31"/>
    <p:sldId id="294" r:id="rId32"/>
    <p:sldId id="292" r:id="rId33"/>
    <p:sldId id="296" r:id="rId34"/>
    <p:sldId id="297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603" autoAdjust="0"/>
    <p:restoredTop sz="86467" autoAdjust="0"/>
  </p:normalViewPr>
  <p:slideViewPr>
    <p:cSldViewPr snapToGrid="0">
      <p:cViewPr varScale="1">
        <p:scale>
          <a:sx n="95" d="100"/>
          <a:sy n="95" d="100"/>
        </p:scale>
        <p:origin x="396" y="96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8CF7FA5-AC32-46DD-BD1D-C2041514175F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EA6A0C6-8106-432A-9D49-5D9105F22A11}">
      <dgm:prSet/>
      <dgm:spPr/>
      <dgm:t>
        <a:bodyPr/>
        <a:lstStyle/>
        <a:p>
          <a:r>
            <a:rPr lang="fr-FR" u="sng"/>
            <a:t>Plan 2D :</a:t>
          </a:r>
          <a:endParaRPr lang="en-US"/>
        </a:p>
      </dgm:t>
    </dgm:pt>
    <dgm:pt modelId="{37CD52F6-D03E-40A7-8227-60A72C97453B}" type="parTrans" cxnId="{24261536-E169-477E-9035-FEB1480EE263}">
      <dgm:prSet/>
      <dgm:spPr/>
      <dgm:t>
        <a:bodyPr/>
        <a:lstStyle/>
        <a:p>
          <a:endParaRPr lang="en-US"/>
        </a:p>
      </dgm:t>
    </dgm:pt>
    <dgm:pt modelId="{CB71C16D-FE79-4BA5-BE33-0EA14D87C847}" type="sibTrans" cxnId="{24261536-E169-477E-9035-FEB1480EE263}">
      <dgm:prSet/>
      <dgm:spPr/>
      <dgm:t>
        <a:bodyPr/>
        <a:lstStyle/>
        <a:p>
          <a:endParaRPr lang="en-US"/>
        </a:p>
      </dgm:t>
    </dgm:pt>
    <dgm:pt modelId="{FD75E7B6-9F64-4246-AF34-64C66D11E0A4}">
      <dgm:prSet custT="1"/>
      <dgm:spPr/>
      <dgm:t>
        <a:bodyPr/>
        <a:lstStyle/>
        <a:p>
          <a:r>
            <a:rPr lang="fr-FR" sz="2700" dirty="0"/>
            <a:t>Format raster (</a:t>
          </a:r>
          <a:r>
            <a:rPr lang="fr-FR" sz="2700" dirty="0" err="1"/>
            <a:t>Pdf</a:t>
          </a:r>
          <a:r>
            <a:rPr lang="fr-FR" sz="2700" dirty="0"/>
            <a:t>, jpeg, …) </a:t>
          </a:r>
          <a:endParaRPr lang="en-US" sz="2700" dirty="0"/>
        </a:p>
      </dgm:t>
    </dgm:pt>
    <dgm:pt modelId="{B7B9AC7E-E084-4D80-8F24-52DCE40B7900}" type="parTrans" cxnId="{34CCD7B3-7B4F-483F-9026-41B2C6D5D523}">
      <dgm:prSet/>
      <dgm:spPr/>
      <dgm:t>
        <a:bodyPr/>
        <a:lstStyle/>
        <a:p>
          <a:endParaRPr lang="en-US"/>
        </a:p>
      </dgm:t>
    </dgm:pt>
    <dgm:pt modelId="{C8083533-0F19-4C19-B322-0465BCF32A08}" type="sibTrans" cxnId="{34CCD7B3-7B4F-483F-9026-41B2C6D5D523}">
      <dgm:prSet/>
      <dgm:spPr/>
      <dgm:t>
        <a:bodyPr/>
        <a:lstStyle/>
        <a:p>
          <a:endParaRPr lang="en-US"/>
        </a:p>
      </dgm:t>
    </dgm:pt>
    <dgm:pt modelId="{87F57765-DC46-44BF-BB91-743DC5A33805}">
      <dgm:prSet custT="1"/>
      <dgm:spPr/>
      <dgm:t>
        <a:bodyPr/>
        <a:lstStyle/>
        <a:p>
          <a:r>
            <a:rPr lang="fr-FR" sz="2700" dirty="0"/>
            <a:t>Format vectorisé (DWG, DXF, …) </a:t>
          </a:r>
          <a:endParaRPr lang="en-US" sz="2700" dirty="0"/>
        </a:p>
      </dgm:t>
    </dgm:pt>
    <dgm:pt modelId="{CB9FCA72-7E4E-4D36-9753-ED5A719C0540}" type="parTrans" cxnId="{D2122BC9-1A49-419A-939A-785AA4CE5249}">
      <dgm:prSet/>
      <dgm:spPr/>
      <dgm:t>
        <a:bodyPr/>
        <a:lstStyle/>
        <a:p>
          <a:endParaRPr lang="en-US"/>
        </a:p>
      </dgm:t>
    </dgm:pt>
    <dgm:pt modelId="{735D94F7-F658-48C2-A093-FE54B8CE322D}" type="sibTrans" cxnId="{D2122BC9-1A49-419A-939A-785AA4CE5249}">
      <dgm:prSet/>
      <dgm:spPr/>
      <dgm:t>
        <a:bodyPr/>
        <a:lstStyle/>
        <a:p>
          <a:endParaRPr lang="en-US"/>
        </a:p>
      </dgm:t>
    </dgm:pt>
    <dgm:pt modelId="{3F8AA0FD-1A37-4AA9-B42E-13A34FE08CBE}">
      <dgm:prSet custT="1"/>
      <dgm:spPr/>
      <dgm:t>
        <a:bodyPr/>
        <a:lstStyle/>
        <a:p>
          <a:r>
            <a:rPr lang="fr-FR" sz="2700"/>
            <a:t>Nuage de points</a:t>
          </a:r>
          <a:endParaRPr lang="en-US" sz="2700"/>
        </a:p>
      </dgm:t>
    </dgm:pt>
    <dgm:pt modelId="{1EED28CA-7289-4F51-B13F-BC5074A5ED48}" type="parTrans" cxnId="{CB80CFEA-0DC0-4A2A-B164-6A21D1395F9C}">
      <dgm:prSet/>
      <dgm:spPr/>
      <dgm:t>
        <a:bodyPr/>
        <a:lstStyle/>
        <a:p>
          <a:endParaRPr lang="en-US"/>
        </a:p>
      </dgm:t>
    </dgm:pt>
    <dgm:pt modelId="{AD430539-17B2-433D-A4CC-69A2992501CA}" type="sibTrans" cxnId="{CB80CFEA-0DC0-4A2A-B164-6A21D1395F9C}">
      <dgm:prSet/>
      <dgm:spPr/>
      <dgm:t>
        <a:bodyPr/>
        <a:lstStyle/>
        <a:p>
          <a:endParaRPr lang="en-US"/>
        </a:p>
      </dgm:t>
    </dgm:pt>
    <dgm:pt modelId="{41DBEA6F-1F5B-47EC-9B05-B57E231C81AF}">
      <dgm:prSet custT="1"/>
      <dgm:spPr/>
      <dgm:t>
        <a:bodyPr/>
        <a:lstStyle/>
        <a:p>
          <a:r>
            <a:rPr lang="fr-FR" sz="2700" dirty="0"/>
            <a:t>Donnée </a:t>
          </a:r>
          <a:r>
            <a:rPr lang="es-AR" sz="2700" dirty="0" err="1"/>
            <a:t>textuelles</a:t>
          </a:r>
          <a:endParaRPr lang="en-US" sz="2700" dirty="0"/>
        </a:p>
      </dgm:t>
    </dgm:pt>
    <dgm:pt modelId="{0843C571-C9C1-44EE-AADB-F48754BDC533}" type="parTrans" cxnId="{B9479FD4-DA55-4AEE-99A9-82F2D65BB781}">
      <dgm:prSet/>
      <dgm:spPr/>
      <dgm:t>
        <a:bodyPr/>
        <a:lstStyle/>
        <a:p>
          <a:endParaRPr lang="en-US"/>
        </a:p>
      </dgm:t>
    </dgm:pt>
    <dgm:pt modelId="{714BFD5A-9C07-4442-8D1C-5AA5AFBE30D3}" type="sibTrans" cxnId="{B9479FD4-DA55-4AEE-99A9-82F2D65BB781}">
      <dgm:prSet/>
      <dgm:spPr/>
      <dgm:t>
        <a:bodyPr/>
        <a:lstStyle/>
        <a:p>
          <a:endParaRPr lang="en-US"/>
        </a:p>
      </dgm:t>
    </dgm:pt>
    <dgm:pt modelId="{2EE2E432-0CA7-427E-9AB4-7367E4D3E2BC}">
      <dgm:prSet/>
      <dgm:spPr/>
      <dgm:t>
        <a:bodyPr/>
        <a:lstStyle/>
        <a:p>
          <a:r>
            <a:rPr lang="fr-FR" u="sng" dirty="0"/>
            <a:t>Plans 3D:</a:t>
          </a:r>
          <a:endParaRPr lang="en-US" dirty="0"/>
        </a:p>
      </dgm:t>
    </dgm:pt>
    <dgm:pt modelId="{8701D73E-03B6-4A1F-80F6-DE6A6CB0033D}" type="parTrans" cxnId="{BD6E15AB-350D-4D86-8063-CC54582B4603}">
      <dgm:prSet/>
      <dgm:spPr/>
      <dgm:t>
        <a:bodyPr/>
        <a:lstStyle/>
        <a:p>
          <a:endParaRPr lang="en-US"/>
        </a:p>
      </dgm:t>
    </dgm:pt>
    <dgm:pt modelId="{AF73B773-4EF4-4155-9500-BDE131370C4E}" type="sibTrans" cxnId="{BD6E15AB-350D-4D86-8063-CC54582B4603}">
      <dgm:prSet/>
      <dgm:spPr/>
      <dgm:t>
        <a:bodyPr/>
        <a:lstStyle/>
        <a:p>
          <a:endParaRPr lang="en-US"/>
        </a:p>
      </dgm:t>
    </dgm:pt>
    <dgm:pt modelId="{84A066A8-8FF3-462C-8C2C-4524809A611D}">
      <dgm:prSet custT="1"/>
      <dgm:spPr/>
      <dgm:t>
        <a:bodyPr/>
        <a:lstStyle/>
        <a:p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</dgm:t>
    </dgm:pt>
    <dgm:pt modelId="{0D34D162-2F91-4EBF-8572-3910068677F7}" type="parTrans" cxnId="{3DB8348F-BA70-469F-B7AE-995ADF946AB7}">
      <dgm:prSet/>
      <dgm:spPr/>
      <dgm:t>
        <a:bodyPr/>
        <a:lstStyle/>
        <a:p>
          <a:endParaRPr lang="fr-FR"/>
        </a:p>
      </dgm:t>
    </dgm:pt>
    <dgm:pt modelId="{87BFA511-3A61-42E7-97CB-0493749CED51}" type="sibTrans" cxnId="{3DB8348F-BA70-469F-B7AE-995ADF946AB7}">
      <dgm:prSet/>
      <dgm:spPr/>
      <dgm:t>
        <a:bodyPr/>
        <a:lstStyle/>
        <a:p>
          <a:endParaRPr lang="fr-FR"/>
        </a:p>
      </dgm:t>
    </dgm:pt>
    <dgm:pt modelId="{DB3F77B9-6483-4CAB-B2D6-D119FD09A537}">
      <dgm:prSet custT="1"/>
      <dgm:spPr/>
      <dgm:t>
        <a:bodyPr/>
        <a:lstStyle/>
        <a:p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</dgm:t>
    </dgm:pt>
    <dgm:pt modelId="{35D6DB4F-8408-41C0-AAA1-6A735177B08E}" type="parTrans" cxnId="{DA37397A-B0C1-46B6-8C26-F8735DD253CF}">
      <dgm:prSet/>
      <dgm:spPr/>
      <dgm:t>
        <a:bodyPr/>
        <a:lstStyle/>
        <a:p>
          <a:endParaRPr lang="es-AR"/>
        </a:p>
      </dgm:t>
    </dgm:pt>
    <dgm:pt modelId="{0D51B4D0-B2FC-4F61-A63C-CC41E9D99C1F}" type="sibTrans" cxnId="{DA37397A-B0C1-46B6-8C26-F8735DD253CF}">
      <dgm:prSet/>
      <dgm:spPr/>
      <dgm:t>
        <a:bodyPr/>
        <a:lstStyle/>
        <a:p>
          <a:endParaRPr lang="es-AR"/>
        </a:p>
      </dgm:t>
    </dgm:pt>
    <dgm:pt modelId="{C42F1EEF-C1CD-413D-A46E-A3E883E9A130}">
      <dgm:prSet custT="1"/>
      <dgm:spPr/>
      <dgm:t>
        <a:bodyPr/>
        <a:lstStyle/>
        <a:p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gm:t>
    </dgm:pt>
    <dgm:pt modelId="{459DE83B-AB09-4A83-AECD-159DDE07772C}" type="parTrans" cxnId="{A991B4D4-1284-4379-A18A-9F4BDA3E1D32}">
      <dgm:prSet/>
      <dgm:spPr/>
      <dgm:t>
        <a:bodyPr/>
        <a:lstStyle/>
        <a:p>
          <a:endParaRPr lang="es-AR"/>
        </a:p>
      </dgm:t>
    </dgm:pt>
    <dgm:pt modelId="{D62CFB12-BF18-46DD-848B-691B48ACCA0C}" type="sibTrans" cxnId="{A991B4D4-1284-4379-A18A-9F4BDA3E1D32}">
      <dgm:prSet/>
      <dgm:spPr/>
      <dgm:t>
        <a:bodyPr/>
        <a:lstStyle/>
        <a:p>
          <a:endParaRPr lang="es-AR"/>
        </a:p>
      </dgm:t>
    </dgm:pt>
    <dgm:pt modelId="{048B8695-3770-44C8-A1B4-2435F2A71866}" type="pres">
      <dgm:prSet presAssocID="{48CF7FA5-AC32-46DD-BD1D-C2041514175F}" presName="Name0" presStyleCnt="0">
        <dgm:presLayoutVars>
          <dgm:dir/>
          <dgm:animLvl val="lvl"/>
          <dgm:resizeHandles val="exact"/>
        </dgm:presLayoutVars>
      </dgm:prSet>
      <dgm:spPr/>
    </dgm:pt>
    <dgm:pt modelId="{A9B13D2C-05B9-48C8-9AC7-E80F1E609933}" type="pres">
      <dgm:prSet presAssocID="{8EA6A0C6-8106-432A-9D49-5D9105F22A11}" presName="composite" presStyleCnt="0"/>
      <dgm:spPr/>
    </dgm:pt>
    <dgm:pt modelId="{4126C0DD-1387-4AD1-A38A-C1366A388FE3}" type="pres">
      <dgm:prSet presAssocID="{8EA6A0C6-8106-432A-9D49-5D9105F22A1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D85E36C9-6486-4178-B726-A052386DB544}" type="pres">
      <dgm:prSet presAssocID="{8EA6A0C6-8106-432A-9D49-5D9105F22A11}" presName="desTx" presStyleLbl="alignAccFollowNode1" presStyleIdx="0" presStyleCnt="2">
        <dgm:presLayoutVars>
          <dgm:bulletEnabled val="1"/>
        </dgm:presLayoutVars>
      </dgm:prSet>
      <dgm:spPr/>
    </dgm:pt>
    <dgm:pt modelId="{70915E93-2294-49F4-AA3B-DC8812665AE0}" type="pres">
      <dgm:prSet presAssocID="{CB71C16D-FE79-4BA5-BE33-0EA14D87C847}" presName="space" presStyleCnt="0"/>
      <dgm:spPr/>
    </dgm:pt>
    <dgm:pt modelId="{6250629E-B526-46BC-9AAE-6BD609BFB0C8}" type="pres">
      <dgm:prSet presAssocID="{2EE2E432-0CA7-427E-9AB4-7367E4D3E2BC}" presName="composite" presStyleCnt="0"/>
      <dgm:spPr/>
    </dgm:pt>
    <dgm:pt modelId="{D93F844E-E1CA-448D-A73E-529E6E10DC35}" type="pres">
      <dgm:prSet presAssocID="{2EE2E432-0CA7-427E-9AB4-7367E4D3E2B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CCD8904C-086B-402C-97E0-D94F55F747C2}" type="pres">
      <dgm:prSet presAssocID="{2EE2E432-0CA7-427E-9AB4-7367E4D3E2B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7F6720F-C98A-4C35-A2CD-C93CCFE53E4E}" type="presOf" srcId="{48CF7FA5-AC32-46DD-BD1D-C2041514175F}" destId="{048B8695-3770-44C8-A1B4-2435F2A71866}" srcOrd="0" destOrd="0" presId="urn:microsoft.com/office/officeart/2005/8/layout/hList1"/>
    <dgm:cxn modelId="{42D51D23-2BE2-4CB7-B3FB-A178F68CCB8E}" type="presOf" srcId="{2EE2E432-0CA7-427E-9AB4-7367E4D3E2BC}" destId="{D93F844E-E1CA-448D-A73E-529E6E10DC35}" srcOrd="0" destOrd="0" presId="urn:microsoft.com/office/officeart/2005/8/layout/hList1"/>
    <dgm:cxn modelId="{9B437932-B590-4EA6-863E-A5393AC41441}" type="presOf" srcId="{FD75E7B6-9F64-4246-AF34-64C66D11E0A4}" destId="{D85E36C9-6486-4178-B726-A052386DB544}" srcOrd="0" destOrd="0" presId="urn:microsoft.com/office/officeart/2005/8/layout/hList1"/>
    <dgm:cxn modelId="{E568CA33-FFE8-41D6-B41B-873171A9C282}" type="presOf" srcId="{87F57765-DC46-44BF-BB91-743DC5A33805}" destId="{D85E36C9-6486-4178-B726-A052386DB544}" srcOrd="0" destOrd="1" presId="urn:microsoft.com/office/officeart/2005/8/layout/hList1"/>
    <dgm:cxn modelId="{24261536-E169-477E-9035-FEB1480EE263}" srcId="{48CF7FA5-AC32-46DD-BD1D-C2041514175F}" destId="{8EA6A0C6-8106-432A-9D49-5D9105F22A11}" srcOrd="0" destOrd="0" parTransId="{37CD52F6-D03E-40A7-8227-60A72C97453B}" sibTransId="{CB71C16D-FE79-4BA5-BE33-0EA14D87C847}"/>
    <dgm:cxn modelId="{F797D94B-E859-4259-A36C-818A5BE20431}" type="presOf" srcId="{41DBEA6F-1F5B-47EC-9B05-B57E231C81AF}" destId="{D85E36C9-6486-4178-B726-A052386DB544}" srcOrd="0" destOrd="3" presId="urn:microsoft.com/office/officeart/2005/8/layout/hList1"/>
    <dgm:cxn modelId="{DA37397A-B0C1-46B6-8C26-F8735DD253CF}" srcId="{2EE2E432-0CA7-427E-9AB4-7367E4D3E2BC}" destId="{DB3F77B9-6483-4CAB-B2D6-D119FD09A537}" srcOrd="1" destOrd="0" parTransId="{35D6DB4F-8408-41C0-AAA1-6A735177B08E}" sibTransId="{0D51B4D0-B2FC-4F61-A63C-CC41E9D99C1F}"/>
    <dgm:cxn modelId="{3DB8348F-BA70-469F-B7AE-995ADF946AB7}" srcId="{2EE2E432-0CA7-427E-9AB4-7367E4D3E2BC}" destId="{84A066A8-8FF3-462C-8C2C-4524809A611D}" srcOrd="0" destOrd="0" parTransId="{0D34D162-2F91-4EBF-8572-3910068677F7}" sibTransId="{87BFA511-3A61-42E7-97CB-0493749CED51}"/>
    <dgm:cxn modelId="{7F790C9B-1683-4211-8351-EFF69A04A2A9}" type="presOf" srcId="{8EA6A0C6-8106-432A-9D49-5D9105F22A11}" destId="{4126C0DD-1387-4AD1-A38A-C1366A388FE3}" srcOrd="0" destOrd="0" presId="urn:microsoft.com/office/officeart/2005/8/layout/hList1"/>
    <dgm:cxn modelId="{64E542A0-E0A3-4D01-B62C-F76CC3A02C4B}" type="presOf" srcId="{3F8AA0FD-1A37-4AA9-B42E-13A34FE08CBE}" destId="{D85E36C9-6486-4178-B726-A052386DB544}" srcOrd="0" destOrd="2" presId="urn:microsoft.com/office/officeart/2005/8/layout/hList1"/>
    <dgm:cxn modelId="{BD6E15AB-350D-4D86-8063-CC54582B4603}" srcId="{48CF7FA5-AC32-46DD-BD1D-C2041514175F}" destId="{2EE2E432-0CA7-427E-9AB4-7367E4D3E2BC}" srcOrd="1" destOrd="0" parTransId="{8701D73E-03B6-4A1F-80F6-DE6A6CB0033D}" sibTransId="{AF73B773-4EF4-4155-9500-BDE131370C4E}"/>
    <dgm:cxn modelId="{34CCD7B3-7B4F-483F-9026-41B2C6D5D523}" srcId="{8EA6A0C6-8106-432A-9D49-5D9105F22A11}" destId="{FD75E7B6-9F64-4246-AF34-64C66D11E0A4}" srcOrd="0" destOrd="0" parTransId="{B7B9AC7E-E084-4D80-8F24-52DCE40B7900}" sibTransId="{C8083533-0F19-4C19-B322-0465BCF32A08}"/>
    <dgm:cxn modelId="{D2122BC9-1A49-419A-939A-785AA4CE5249}" srcId="{8EA6A0C6-8106-432A-9D49-5D9105F22A11}" destId="{87F57765-DC46-44BF-BB91-743DC5A33805}" srcOrd="1" destOrd="0" parTransId="{CB9FCA72-7E4E-4D36-9753-ED5A719C0540}" sibTransId="{735D94F7-F658-48C2-A093-FE54B8CE322D}"/>
    <dgm:cxn modelId="{0CDAC0D1-9863-41B2-8719-686C978DCAC9}" type="presOf" srcId="{84A066A8-8FF3-462C-8C2C-4524809A611D}" destId="{CCD8904C-086B-402C-97E0-D94F55F747C2}" srcOrd="0" destOrd="0" presId="urn:microsoft.com/office/officeart/2005/8/layout/hList1"/>
    <dgm:cxn modelId="{B9479FD4-DA55-4AEE-99A9-82F2D65BB781}" srcId="{8EA6A0C6-8106-432A-9D49-5D9105F22A11}" destId="{41DBEA6F-1F5B-47EC-9B05-B57E231C81AF}" srcOrd="3" destOrd="0" parTransId="{0843C571-C9C1-44EE-AADB-F48754BDC533}" sibTransId="{714BFD5A-9C07-4442-8D1C-5AA5AFBE30D3}"/>
    <dgm:cxn modelId="{A991B4D4-1284-4379-A18A-9F4BDA3E1D32}" srcId="{2EE2E432-0CA7-427E-9AB4-7367E4D3E2BC}" destId="{C42F1EEF-C1CD-413D-A46E-A3E883E9A130}" srcOrd="2" destOrd="0" parTransId="{459DE83B-AB09-4A83-AECD-159DDE07772C}" sibTransId="{D62CFB12-BF18-46DD-848B-691B48ACCA0C}"/>
    <dgm:cxn modelId="{D5B48BDE-9199-4518-9C72-F3AC1103B515}" type="presOf" srcId="{DB3F77B9-6483-4CAB-B2D6-D119FD09A537}" destId="{CCD8904C-086B-402C-97E0-D94F55F747C2}" srcOrd="0" destOrd="1" presId="urn:microsoft.com/office/officeart/2005/8/layout/hList1"/>
    <dgm:cxn modelId="{CB80CFEA-0DC0-4A2A-B164-6A21D1395F9C}" srcId="{8EA6A0C6-8106-432A-9D49-5D9105F22A11}" destId="{3F8AA0FD-1A37-4AA9-B42E-13A34FE08CBE}" srcOrd="2" destOrd="0" parTransId="{1EED28CA-7289-4F51-B13F-BC5074A5ED48}" sibTransId="{AD430539-17B2-433D-A4CC-69A2992501CA}"/>
    <dgm:cxn modelId="{661EC6F7-A96F-49EF-B59B-020780BDEBAF}" type="presOf" srcId="{C42F1EEF-C1CD-413D-A46E-A3E883E9A130}" destId="{CCD8904C-086B-402C-97E0-D94F55F747C2}" srcOrd="0" destOrd="2" presId="urn:microsoft.com/office/officeart/2005/8/layout/hList1"/>
    <dgm:cxn modelId="{367A3AC0-5D4B-4619-98E6-65FA57BC8695}" type="presParOf" srcId="{048B8695-3770-44C8-A1B4-2435F2A71866}" destId="{A9B13D2C-05B9-48C8-9AC7-E80F1E609933}" srcOrd="0" destOrd="0" presId="urn:microsoft.com/office/officeart/2005/8/layout/hList1"/>
    <dgm:cxn modelId="{EF6E2A67-4B52-422F-A0BC-4576F60A5050}" type="presParOf" srcId="{A9B13D2C-05B9-48C8-9AC7-E80F1E609933}" destId="{4126C0DD-1387-4AD1-A38A-C1366A388FE3}" srcOrd="0" destOrd="0" presId="urn:microsoft.com/office/officeart/2005/8/layout/hList1"/>
    <dgm:cxn modelId="{8C6BF6A5-F350-4B4B-935F-5CFF9E3B8D02}" type="presParOf" srcId="{A9B13D2C-05B9-48C8-9AC7-E80F1E609933}" destId="{D85E36C9-6486-4178-B726-A052386DB544}" srcOrd="1" destOrd="0" presId="urn:microsoft.com/office/officeart/2005/8/layout/hList1"/>
    <dgm:cxn modelId="{CDC13DF1-09B2-4C71-A20F-69C505F98AFF}" type="presParOf" srcId="{048B8695-3770-44C8-A1B4-2435F2A71866}" destId="{70915E93-2294-49F4-AA3B-DC8812665AE0}" srcOrd="1" destOrd="0" presId="urn:microsoft.com/office/officeart/2005/8/layout/hList1"/>
    <dgm:cxn modelId="{E460982B-806C-4815-8335-87216D5AD82B}" type="presParOf" srcId="{048B8695-3770-44C8-A1B4-2435F2A71866}" destId="{6250629E-B526-46BC-9AAE-6BD609BFB0C8}" srcOrd="2" destOrd="0" presId="urn:microsoft.com/office/officeart/2005/8/layout/hList1"/>
    <dgm:cxn modelId="{207A77EF-8C0D-4789-99E1-ED9F33818624}" type="presParOf" srcId="{6250629E-B526-46BC-9AAE-6BD609BFB0C8}" destId="{D93F844E-E1CA-448D-A73E-529E6E10DC35}" srcOrd="0" destOrd="0" presId="urn:microsoft.com/office/officeart/2005/8/layout/hList1"/>
    <dgm:cxn modelId="{81129124-9C65-4C2F-B5AB-22B517574BCD}" type="presParOf" srcId="{6250629E-B526-46BC-9AAE-6BD609BFB0C8}" destId="{CCD8904C-086B-402C-97E0-D94F55F747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26C0DD-1387-4AD1-A38A-C1366A388FE3}">
      <dsp:nvSpPr>
        <dsp:cNvPr id="0" name=""/>
        <dsp:cNvSpPr/>
      </dsp:nvSpPr>
      <dsp:spPr>
        <a:xfrm>
          <a:off x="51" y="8781"/>
          <a:ext cx="4913783" cy="1152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/>
            <a:t>Plan 2D :</a:t>
          </a:r>
          <a:endParaRPr lang="en-US" sz="4000" kern="1200"/>
        </a:p>
      </dsp:txBody>
      <dsp:txXfrm>
        <a:off x="51" y="8781"/>
        <a:ext cx="4913783" cy="1152000"/>
      </dsp:txXfrm>
    </dsp:sp>
    <dsp:sp modelId="{D85E36C9-6486-4178-B726-A052386DB544}">
      <dsp:nvSpPr>
        <dsp:cNvPr id="0" name=""/>
        <dsp:cNvSpPr/>
      </dsp:nvSpPr>
      <dsp:spPr>
        <a:xfrm>
          <a:off x="51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raster (</a:t>
          </a:r>
          <a:r>
            <a:rPr lang="fr-FR" sz="2700" kern="1200" dirty="0" err="1"/>
            <a:t>Pdf</a:t>
          </a:r>
          <a:r>
            <a:rPr lang="fr-FR" sz="2700" kern="1200" dirty="0"/>
            <a:t>, jpeg,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vectorisé (DWG, DXF,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/>
            <a:t>Nuage de points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Donnée </a:t>
          </a:r>
          <a:r>
            <a:rPr lang="es-AR" sz="2700" kern="1200" dirty="0" err="1"/>
            <a:t>textuelles</a:t>
          </a:r>
          <a:endParaRPr lang="en-US" sz="2700" kern="1200" dirty="0"/>
        </a:p>
      </dsp:txBody>
      <dsp:txXfrm>
        <a:off x="51" y="1160781"/>
        <a:ext cx="4913783" cy="2779312"/>
      </dsp:txXfrm>
    </dsp:sp>
    <dsp:sp modelId="{D93F844E-E1CA-448D-A73E-529E6E10DC35}">
      <dsp:nvSpPr>
        <dsp:cNvPr id="0" name=""/>
        <dsp:cNvSpPr/>
      </dsp:nvSpPr>
      <dsp:spPr>
        <a:xfrm>
          <a:off x="5601764" y="8781"/>
          <a:ext cx="4913783" cy="115200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 dirty="0"/>
            <a:t>Plans 3D:</a:t>
          </a:r>
          <a:endParaRPr lang="en-US" sz="4000" kern="1200" dirty="0"/>
        </a:p>
      </dsp:txBody>
      <dsp:txXfrm>
        <a:off x="5601764" y="8781"/>
        <a:ext cx="4913783" cy="1152000"/>
      </dsp:txXfrm>
    </dsp:sp>
    <dsp:sp modelId="{CCD8904C-086B-402C-97E0-D94F55F747C2}">
      <dsp:nvSpPr>
        <dsp:cNvPr id="0" name=""/>
        <dsp:cNvSpPr/>
      </dsp:nvSpPr>
      <dsp:spPr>
        <a:xfrm>
          <a:off x="5601764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sp:txBody>
      <dsp:txXfrm>
        <a:off x="5601764" y="1160781"/>
        <a:ext cx="4913783" cy="2779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Réduire </a:t>
            </a:r>
            <a:r>
              <a:rPr lang="fr-FR" dirty="0" err="1"/>
              <a:t>Hétérog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l’images des </a:t>
            </a:r>
            <a:r>
              <a:rPr lang="fr-FR" dirty="0" err="1"/>
              <a:t>embeding</a:t>
            </a:r>
            <a:r>
              <a:rPr lang="fr-FR" dirty="0"/>
              <a:t> pour donner l’</a:t>
            </a:r>
            <a:r>
              <a:rPr lang="fr-FR" dirty="0" err="1"/>
              <a:t>exmple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</a:t>
            </a:r>
            <a:r>
              <a:rPr lang="fr-FR" dirty="0" err="1"/>
              <a:t>possibement</a:t>
            </a:r>
            <a:r>
              <a:rPr lang="fr-FR" dirty="0"/>
              <a:t>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16 mini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6414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6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6944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Voir si  plan de </a:t>
            </a:r>
            <a:r>
              <a:rPr lang="fr-FR" dirty="0" err="1"/>
              <a:t>depart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1552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Craft + CRNN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4023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Regrouper et définir la thématique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226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15/10/2025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>
                <a:solidFill>
                  <a:srgbClr val="FFFFFF"/>
                </a:solidFill>
              </a:rPr>
              <a:t>Présentation du  projet: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4515DB-31FB-564F-DB33-A449B217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/>
              <a:t>Les plans 2D </a:t>
            </a:r>
          </a:p>
        </p:txBody>
      </p:sp>
      <p:sp>
        <p:nvSpPr>
          <p:cNvPr id="3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F54695-5744-B7B5-7078-22F57AA1C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dirty="0"/>
              <a:t>Représentation et Formats :</a:t>
            </a:r>
          </a:p>
          <a:p>
            <a:r>
              <a:rPr lang="fr-FR" sz="2200" dirty="0"/>
              <a:t>Vectoriels </a:t>
            </a:r>
          </a:p>
          <a:p>
            <a:pPr lvl="1"/>
            <a:r>
              <a:rPr lang="fr-FR" sz="1800" dirty="0"/>
              <a:t>DWG, DXF, SVG</a:t>
            </a:r>
          </a:p>
          <a:p>
            <a:r>
              <a:rPr lang="fr-FR" sz="2200" dirty="0"/>
              <a:t>Raster</a:t>
            </a:r>
          </a:p>
          <a:p>
            <a:pPr lvl="1"/>
            <a:r>
              <a:rPr lang="fr-FR" sz="1800" dirty="0"/>
              <a:t>PDF, JPEG  </a:t>
            </a:r>
          </a:p>
          <a:p>
            <a:r>
              <a:rPr lang="fr-FR" sz="2200" dirty="0"/>
              <a:t>Nuages de points</a:t>
            </a:r>
          </a:p>
          <a:p>
            <a:pPr lvl="1"/>
            <a:r>
              <a:rPr lang="fr-FR" sz="1800" dirty="0"/>
              <a:t>LAS, LAZ </a:t>
            </a:r>
            <a:endParaRPr lang="fr-FR" sz="2200" dirty="0"/>
          </a:p>
          <a:p>
            <a:pPr marL="0" indent="0">
              <a:buNone/>
            </a:pPr>
            <a:endParaRPr lang="fr-FR" sz="2200" dirty="0"/>
          </a:p>
        </p:txBody>
      </p:sp>
      <p:pic>
        <p:nvPicPr>
          <p:cNvPr id="7" name="Image 6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CBC09184-B023-F262-EA3E-F4C3FDB5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425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7D1B4-A55E-58B3-AC4E-9B99A42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397AE8-A67B-82AA-0F74-AF093486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dirty="0"/>
              <a:t>Les plans 3D </a:t>
            </a:r>
          </a:p>
        </p:txBody>
      </p:sp>
      <p:sp>
        <p:nvSpPr>
          <p:cNvPr id="4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7B81BD-6C00-8E19-9CA5-D651F10C6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dirty="0"/>
              <a:t>Représentation et Formats:</a:t>
            </a:r>
          </a:p>
          <a:p>
            <a:r>
              <a:rPr lang="fr-FR" sz="1200" dirty="0"/>
              <a:t>Vectoriels</a:t>
            </a:r>
          </a:p>
          <a:p>
            <a:pPr lvl="1"/>
            <a:r>
              <a:rPr lang="fr-FR" sz="800" dirty="0"/>
              <a:t>BIM -&gt; IFC</a:t>
            </a:r>
          </a:p>
          <a:p>
            <a:pPr lvl="1"/>
            <a:r>
              <a:rPr lang="fr-FR" sz="800" dirty="0"/>
              <a:t>DWG 3D</a:t>
            </a:r>
          </a:p>
          <a:p>
            <a:r>
              <a:rPr lang="fr-FR" sz="1200" dirty="0"/>
              <a:t>Nuage de points</a:t>
            </a:r>
          </a:p>
          <a:p>
            <a:pPr lvl="1"/>
            <a:r>
              <a:rPr lang="fr-FR" sz="800" dirty="0"/>
              <a:t>LAS </a:t>
            </a:r>
          </a:p>
          <a:p>
            <a:pPr lvl="1"/>
            <a:r>
              <a:rPr lang="fr-FR" sz="800" dirty="0"/>
              <a:t>LAZ</a:t>
            </a:r>
          </a:p>
          <a:p>
            <a:r>
              <a:rPr lang="fr-FR" sz="1200" dirty="0"/>
              <a:t>Plans Raster </a:t>
            </a:r>
          </a:p>
          <a:p>
            <a:pPr lvl="1"/>
            <a:r>
              <a:rPr lang="fr-FR" sz="800" dirty="0"/>
              <a:t>JPEG </a:t>
            </a:r>
          </a:p>
          <a:p>
            <a:pPr lvl="1"/>
            <a:r>
              <a:rPr lang="fr-FR" sz="800" dirty="0"/>
              <a:t>PDF </a:t>
            </a:r>
          </a:p>
          <a:p>
            <a:endParaRPr lang="fr-FR" sz="1200" dirty="0"/>
          </a:p>
          <a:p>
            <a:pPr lvl="1"/>
            <a:endParaRPr lang="fr-FR" sz="800" dirty="0"/>
          </a:p>
          <a:p>
            <a:endParaRPr lang="fr-FR" sz="1200" dirty="0"/>
          </a:p>
        </p:txBody>
      </p:sp>
      <p:pic>
        <p:nvPicPr>
          <p:cNvPr id="5" name="Image 4" descr="Une image contenant capture d’écran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6F11F3AA-BF0C-CF0C-06FE-6157A550E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29" r="2405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907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du contenu 5" descr="Une image contenant bâtiment, nuit, léger, plein air&#10;&#10;Le contenu généré par l’IA peut être incorrect.">
            <a:extLst>
              <a:ext uri="{FF2B5EF4-FFF2-40B4-BE49-F238E27FC236}">
                <a16:creationId xmlns:a16="http://schemas.microsoft.com/office/drawing/2014/main" id="{4659B812-8604-AC83-6EED-032744663F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395EBB4-49AC-C5BD-7230-454B5BB1F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Nuage de points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3957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1F62601-603F-F3A9-B794-0AAFB20B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52" b="1011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109F35-9407-301C-3DFF-C98BEBF6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FR" sz="4000" dirty="0"/>
              <a:t>Un métré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E1C267-B050-B8BF-D21F-D0A64EFEB5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34201"/>
            <a:ext cx="3822189" cy="374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Relever les dimensions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Quantifier les matériaux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Lister les ouvrages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Préparer le devis et estimer le coût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4765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98128-34A8-DE2C-0BE0-CEC991DDD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BF2AFB-351E-B382-F9F6-BDA8CEBC5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9993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5 défis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Représentation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“Le Chien court dans 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 verte”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F482658-DADD-FF87-94CB-5F37086E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sz="5400"/>
              <a:t>Les types d’entrées possible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55F451D-2930-9D3C-98F1-545DEEEFD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32518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61236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EBCE1-AFD9-EF7C-3D5A-3C7DD0FA8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955758-AB76-1CAB-DE91-951B0620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Quelques exemples</a:t>
            </a:r>
          </a:p>
        </p:txBody>
      </p:sp>
      <p:pic>
        <p:nvPicPr>
          <p:cNvPr id="15" name="Graphic 14" descr="Coche">
            <a:extLst>
              <a:ext uri="{FF2B5EF4-FFF2-40B4-BE49-F238E27FC236}">
                <a16:creationId xmlns:a16="http://schemas.microsoft.com/office/drawing/2014/main" id="{79476B2D-42D8-B3FF-60B4-0FEB7487C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17" name="Graphic 16" descr="Coche">
            <a:extLst>
              <a:ext uri="{FF2B5EF4-FFF2-40B4-BE49-F238E27FC236}">
                <a16:creationId xmlns:a16="http://schemas.microsoft.com/office/drawing/2014/main" id="{6D09FE65-57BD-493C-AEF1-C3E4FC67C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5870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BDA681-C5EE-C047-09DF-E20B4228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Raster-to-Graph R2G</a:t>
            </a:r>
            <a:br>
              <a:rPr lang="en-US" dirty="0"/>
            </a:br>
            <a:r>
              <a:rPr lang="fr-FR" sz="2000" dirty="0"/>
              <a:t>2024</a:t>
            </a:r>
            <a:endParaRPr lang="en-US" sz="20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2B9C18-1CF8-1F2F-D0A1-4F9F9757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98" y="553454"/>
            <a:ext cx="9406773" cy="2469279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A3F03-7F3C-E8D2-FE4B-52CF86607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387741" cy="2398713"/>
          </a:xfr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r>
              <a:rPr lang="en-US" sz="2000" kern="1200" dirty="0">
                <a:latin typeface="+mn-lt"/>
                <a:ea typeface="+mn-ea"/>
                <a:cs typeface="+mn-cs"/>
              </a:rPr>
              <a:t>Pla</a:t>
            </a:r>
            <a:r>
              <a:rPr lang="en-US" sz="2000" dirty="0"/>
              <a:t>n raster</a:t>
            </a:r>
          </a:p>
          <a:p>
            <a:r>
              <a:rPr lang="fr-FR" sz="2000" dirty="0"/>
              <a:t>modèle Transformer </a:t>
            </a:r>
            <a:r>
              <a:rPr lang="fr-FR" sz="2000" dirty="0" err="1"/>
              <a:t>autoregressif</a:t>
            </a:r>
            <a:endParaRPr lang="fr-FR" sz="2000" dirty="0"/>
          </a:p>
          <a:p>
            <a:r>
              <a:rPr lang="fr-FR" sz="2000" dirty="0"/>
              <a:t>Dataset: LIFULL HOME’S </a:t>
            </a:r>
          </a:p>
          <a:p>
            <a:pPr lvl="1"/>
            <a:r>
              <a:rPr lang="fr-FR" sz="1600" dirty="0"/>
              <a:t>60 000 </a:t>
            </a:r>
            <a:r>
              <a:rPr lang="fr-FR" sz="1600" dirty="0" err="1"/>
              <a:t>floorplans</a:t>
            </a:r>
            <a:r>
              <a:rPr lang="fr-FR" sz="1600" dirty="0"/>
              <a:t> dataset total</a:t>
            </a:r>
          </a:p>
          <a:p>
            <a:pPr lvl="1"/>
            <a:r>
              <a:rPr lang="fr-FR" sz="1600" dirty="0"/>
              <a:t>10 804 </a:t>
            </a:r>
            <a:r>
              <a:rPr lang="fr-FR" sz="1600" dirty="0" err="1"/>
              <a:t>floorplans</a:t>
            </a:r>
            <a:r>
              <a:rPr lang="fr-FR" sz="1600" dirty="0"/>
              <a:t> retenue</a:t>
            </a:r>
          </a:p>
          <a:p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1"/>
            <a:r>
              <a:rPr lang="en-US" sz="1600" dirty="0"/>
              <a:t>R2G RPLAN </a:t>
            </a:r>
            <a:r>
              <a:rPr lang="en-US" sz="1600" dirty="0" err="1"/>
              <a:t>erreur</a:t>
            </a:r>
            <a:r>
              <a:rPr lang="en-US" sz="1600" dirty="0"/>
              <a:t> de surface 9,5%</a:t>
            </a:r>
          </a:p>
          <a:p>
            <a:pPr lvl="1"/>
            <a:r>
              <a:rPr lang="en-US" sz="1600" dirty="0"/>
              <a:t>R2V RPLAN </a:t>
            </a:r>
            <a:r>
              <a:rPr lang="en-US" sz="1600" dirty="0" err="1"/>
              <a:t>erreur</a:t>
            </a:r>
            <a:r>
              <a:rPr lang="en-US" sz="1600" dirty="0"/>
              <a:t> de surface de 11,9%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R2G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10,7%</a:t>
            </a:r>
          </a:p>
          <a:p>
            <a:pPr lvl="1"/>
            <a:r>
              <a:rPr lang="en-US" sz="1600" dirty="0"/>
              <a:t>R2V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13,4%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4325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5F6724-F093-CAE7-4E56-0EC50968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7361B5B-3F39-F196-70FB-DC864A666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584C63-BCC5-8B64-0B7F-400154EA6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363D763-3E41-29AF-49D6-FF5E5CCBA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14191"/>
            <a:ext cx="2720009" cy="2090355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Enhanced Automated Construction Quantity </a:t>
            </a:r>
            <a:r>
              <a:rPr lang="en-US" dirty="0" err="1"/>
              <a:t>Takeof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4F9407-78EF-E4ED-0564-9861E53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25000" lnSpcReduction="20000"/>
          </a:bodyPr>
          <a:lstStyle/>
          <a:p>
            <a:r>
              <a:rPr lang="en-US" sz="6400" dirty="0"/>
              <a:t>Entrées </a:t>
            </a:r>
          </a:p>
          <a:p>
            <a:pPr lvl="1"/>
            <a:r>
              <a:rPr lang="fr-FR" sz="6400" dirty="0" err="1"/>
              <a:t>external</a:t>
            </a:r>
            <a:r>
              <a:rPr lang="fr-FR" sz="6400" dirty="0"/>
              <a:t> </a:t>
            </a:r>
            <a:r>
              <a:rPr lang="fr-FR" sz="6400" dirty="0" err="1"/>
              <a:t>quantity</a:t>
            </a:r>
            <a:r>
              <a:rPr lang="fr-FR" sz="6400" dirty="0"/>
              <a:t> takeoff </a:t>
            </a:r>
            <a:r>
              <a:rPr lang="fr-FR" sz="6400" dirty="0" err="1"/>
              <a:t>rules</a:t>
            </a:r>
            <a:endParaRPr lang="fr-FR" sz="6400" dirty="0"/>
          </a:p>
          <a:p>
            <a:pPr lvl="1"/>
            <a:r>
              <a:rPr lang="fr-FR" sz="6400" dirty="0"/>
              <a:t>Plans raster et documents de chantier</a:t>
            </a:r>
            <a:endParaRPr lang="en-US" sz="6400" dirty="0"/>
          </a:p>
          <a:p>
            <a:r>
              <a:rPr lang="fr-FR" sz="6400" dirty="0"/>
              <a:t>modèle Chat </a:t>
            </a:r>
            <a:r>
              <a:rPr lang="fr-FR" sz="6400" dirty="0" err="1"/>
              <a:t>gpt</a:t>
            </a:r>
            <a:r>
              <a:rPr lang="fr-FR" sz="6400" dirty="0"/>
              <a:t> 4o</a:t>
            </a:r>
          </a:p>
          <a:p>
            <a:r>
              <a:rPr lang="fr-FR" sz="6400" dirty="0" err="1"/>
              <a:t>Objetif</a:t>
            </a:r>
            <a:endParaRPr lang="fr-FR" sz="6400" dirty="0"/>
          </a:p>
          <a:p>
            <a:pPr lvl="1"/>
            <a:r>
              <a:rPr lang="fr-FR" sz="6400" dirty="0"/>
              <a:t>proposer une méthode pour automatiser le </a:t>
            </a:r>
            <a:r>
              <a:rPr lang="fr-FR" sz="6400" dirty="0" err="1"/>
              <a:t>Quantity</a:t>
            </a:r>
            <a:r>
              <a:rPr lang="fr-FR" sz="6400" dirty="0"/>
              <a:t> Takeoff directement à partir de documents traditionnels en 2D</a:t>
            </a:r>
          </a:p>
          <a:p>
            <a:r>
              <a:rPr lang="fr-FR" sz="6400" dirty="0"/>
              <a:t>Dataset: Dataset privé </a:t>
            </a:r>
          </a:p>
          <a:p>
            <a:r>
              <a:rPr lang="fr-FR" sz="6400" dirty="0"/>
              <a:t>Résultats :</a:t>
            </a:r>
          </a:p>
          <a:p>
            <a:r>
              <a:rPr lang="fr-FR" sz="6400" dirty="0"/>
              <a:t>GPT-4o seul → 0/30 correctes (0 %)</a:t>
            </a:r>
          </a:p>
          <a:p>
            <a:r>
              <a:rPr lang="fr-FR" sz="6400" dirty="0"/>
              <a:t>GPT-4o + leur méthode → 24/30 correctes (80 %)</a:t>
            </a:r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earthwork</a:t>
            </a:r>
            <a:endParaRPr lang="fr-FR" sz="6400" dirty="0"/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masonry</a:t>
            </a:r>
            <a:endParaRPr lang="fr-FR" sz="6400" dirty="0"/>
          </a:p>
          <a:p>
            <a:pPr lvl="1"/>
            <a:r>
              <a:rPr lang="fr-FR" sz="6400" dirty="0"/>
              <a:t>0/6 correctes en </a:t>
            </a:r>
            <a:r>
              <a:rPr lang="fr-FR" sz="6400" dirty="0" err="1"/>
              <a:t>rebar</a:t>
            </a:r>
            <a:r>
              <a:rPr lang="fr-FR" sz="6400" dirty="0"/>
              <a:t> (problèmes liés aux images et à la complexité géométrique).</a:t>
            </a:r>
          </a:p>
          <a:p>
            <a:endParaRPr lang="en-US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16C153B-7F99-53F3-C4DB-964AB6612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6706" y="104158"/>
            <a:ext cx="6748145" cy="322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486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91044-5E04-CEFB-301C-010DBD86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09FF225-B0D9-80FE-4977-9048F1D7E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2B264FE-5C9E-1ADB-A911-3BE484F01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A64E040-9280-9337-7574-48678BD67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Automatic Quantity Takeoff for Irregular Areas of Architectural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848C7-2220-B155-43F4-F50089244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dirty="0"/>
              <a:t>Entrées </a:t>
            </a:r>
          </a:p>
          <a:p>
            <a:pPr lvl="1"/>
            <a:r>
              <a:rPr lang="fr-FR" sz="1600" dirty="0"/>
              <a:t>Plans raster</a:t>
            </a:r>
            <a:endParaRPr lang="en-US" sz="1600" dirty="0"/>
          </a:p>
          <a:p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1"/>
            <a:r>
              <a:rPr lang="fr-FR" sz="1600" dirty="0"/>
              <a:t>Prédire une quantité de matériaux pour la construction de ponts. Centrée sur les formes irrégulières.</a:t>
            </a:r>
          </a:p>
          <a:p>
            <a:r>
              <a:rPr lang="fr-FR" sz="2000" dirty="0"/>
              <a:t>modèle </a:t>
            </a:r>
            <a:r>
              <a:rPr lang="fr-FR" sz="2100" dirty="0"/>
              <a:t>YOLO</a:t>
            </a:r>
          </a:p>
          <a:p>
            <a:r>
              <a:rPr lang="fr-FR" sz="2000" dirty="0"/>
              <a:t>surface fermée → aire en pixels → conversion en unités réelles grâce à l’échelle du plan.</a:t>
            </a:r>
          </a:p>
          <a:p>
            <a:r>
              <a:rPr lang="fr-FR" sz="2000" dirty="0"/>
              <a:t>Dataset: </a:t>
            </a:r>
            <a:r>
              <a:rPr lang="fr-FR" sz="2000" dirty="0" err="1"/>
              <a:t>Roboflow</a:t>
            </a:r>
            <a:r>
              <a:rPr lang="fr-FR" sz="2000" dirty="0"/>
              <a:t> public </a:t>
            </a:r>
            <a:r>
              <a:rPr lang="fr-FR" sz="2000" dirty="0" err="1"/>
              <a:t>datasets</a:t>
            </a:r>
            <a:endParaRPr lang="fr-FR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EA04A41-F0A2-B698-BCB2-936DA9079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43" y="553454"/>
            <a:ext cx="8576913" cy="24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1972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E7B99-E902-2399-AD55-B8434F7A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487CBE-6B1C-669A-E81D-6B36EA996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eDOCr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633BB4-6C04-85E1-C3EB-1BBD97629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Entrées </a:t>
            </a:r>
          </a:p>
          <a:p>
            <a:pPr lvl="1"/>
            <a:r>
              <a:rPr lang="fr-FR" sz="2000" dirty="0"/>
              <a:t>Plans raster</a:t>
            </a:r>
          </a:p>
          <a:p>
            <a:pPr lvl="1"/>
            <a:r>
              <a:rPr lang="fr-FR" sz="2000" dirty="0"/>
              <a:t>Plans vectoriels rastériser </a:t>
            </a:r>
          </a:p>
          <a:p>
            <a:r>
              <a:rPr lang="en-US" sz="2000" dirty="0" err="1"/>
              <a:t>Objetif</a:t>
            </a:r>
            <a:endParaRPr lang="en-US" sz="2000" dirty="0"/>
          </a:p>
          <a:p>
            <a:pPr lvl="1"/>
            <a:r>
              <a:rPr lang="en-US" sz="2000" dirty="0" err="1"/>
              <a:t>Automatiser</a:t>
            </a:r>
            <a:r>
              <a:rPr lang="en-US" sz="2000" dirty="0"/>
              <a:t> le </a:t>
            </a:r>
            <a:r>
              <a:rPr lang="fr-FR" sz="2000" dirty="0"/>
              <a:t>contrôle qualité dans l’industrie mécanique</a:t>
            </a:r>
          </a:p>
          <a:p>
            <a:r>
              <a:rPr lang="fr-FR" sz="2000" dirty="0"/>
              <a:t>Modèle </a:t>
            </a:r>
          </a:p>
          <a:p>
            <a:pPr lvl="1"/>
            <a:r>
              <a:rPr lang="fr-FR" sz="2000" dirty="0"/>
              <a:t>CRAFT</a:t>
            </a:r>
          </a:p>
          <a:p>
            <a:pPr lvl="1"/>
            <a:r>
              <a:rPr lang="fr-FR" sz="2000" dirty="0"/>
              <a:t>CRNN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CFE30EF-AD1E-9192-ABAB-2E577411F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58723"/>
            <a:ext cx="4788505" cy="3208297"/>
          </a:xfrm>
          <a:prstGeom prst="rect">
            <a:avLst/>
          </a:prstGeom>
        </p:spPr>
      </p:pic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1354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A4D1C-D776-B8D7-184A-EB7EB897E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C2B245E-5FE7-ABAE-2ADB-070F43506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484A5C4-B8D8-DCEC-3056-2BA3008D3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0A663-161E-2743-7AA1-2C2CA293A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CADSpotting</a:t>
            </a:r>
            <a:br>
              <a:rPr lang="en-US" dirty="0"/>
            </a:b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DE8D57-A5DB-2844-E006-A1EB5353A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7043" y="3821501"/>
            <a:ext cx="6008548" cy="3189278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pPr lvl="1"/>
            <a:r>
              <a:rPr lang="en-US" sz="2000" dirty="0"/>
              <a:t>Plan type </a:t>
            </a:r>
            <a:r>
              <a:rPr lang="fr-FR" sz="2000" dirty="0"/>
              <a:t>CAD 2D</a:t>
            </a:r>
          </a:p>
          <a:p>
            <a:pPr lvl="1"/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2"/>
            <a:r>
              <a:rPr lang="en-US" sz="1600" dirty="0"/>
              <a:t>Transformer un plan CAD </a:t>
            </a:r>
            <a:r>
              <a:rPr lang="en-US" sz="1600" dirty="0" err="1"/>
              <a:t>en</a:t>
            </a:r>
            <a:r>
              <a:rPr lang="en-US" sz="1600" dirty="0"/>
              <a:t> 3D </a:t>
            </a:r>
          </a:p>
          <a:p>
            <a:pPr lvl="1"/>
            <a:r>
              <a:rPr lang="fr-FR" sz="2000" dirty="0"/>
              <a:t>Modèle</a:t>
            </a:r>
          </a:p>
          <a:p>
            <a:pPr lvl="2"/>
            <a:r>
              <a:rPr lang="fr-FR" sz="1600" dirty="0"/>
              <a:t>Point Transformer V3  </a:t>
            </a:r>
          </a:p>
          <a:p>
            <a:pPr lvl="2"/>
            <a:r>
              <a:rPr lang="fr-FR" sz="1600" dirty="0"/>
              <a:t>Transformer </a:t>
            </a:r>
            <a:r>
              <a:rPr lang="fr-FR" sz="1600" dirty="0" err="1"/>
              <a:t>decoder</a:t>
            </a:r>
            <a:endParaRPr lang="fr-FR" sz="1600" dirty="0"/>
          </a:p>
          <a:p>
            <a:pPr lvl="1"/>
            <a:r>
              <a:rPr lang="fr-FR" sz="2000" dirty="0"/>
              <a:t>Dataset</a:t>
            </a:r>
          </a:p>
          <a:p>
            <a:pPr lvl="2"/>
            <a:r>
              <a:rPr lang="fr-FR" sz="1600" dirty="0" err="1"/>
              <a:t>FloorPlanCAD</a:t>
            </a:r>
            <a:r>
              <a:rPr lang="fr-FR" sz="1600" dirty="0"/>
              <a:t> </a:t>
            </a:r>
          </a:p>
          <a:p>
            <a:pPr lvl="2"/>
            <a:r>
              <a:rPr lang="fr-FR" sz="1600" dirty="0"/>
              <a:t>LS-CAD seulement pour l’évaluation </a:t>
            </a:r>
          </a:p>
          <a:p>
            <a:pPr lvl="1"/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2"/>
            <a:r>
              <a:rPr lang="fr-FR" sz="1600" dirty="0"/>
              <a:t>Sur </a:t>
            </a:r>
            <a:r>
              <a:rPr lang="fr-FR" sz="1600" dirty="0" err="1"/>
              <a:t>FloorPlanCAD</a:t>
            </a:r>
            <a:r>
              <a:rPr lang="fr-FR" sz="1600" dirty="0"/>
              <a:t>, </a:t>
            </a:r>
            <a:r>
              <a:rPr lang="fr-FR" sz="1600" dirty="0" err="1"/>
              <a:t>CADSpotting</a:t>
            </a:r>
            <a:r>
              <a:rPr lang="fr-FR" sz="1600" dirty="0"/>
              <a:t> bat tous les modèles existants avec :</a:t>
            </a:r>
          </a:p>
          <a:p>
            <a:pPr lvl="3"/>
            <a:r>
              <a:rPr lang="fr-FR" sz="1600" dirty="0"/>
              <a:t>+6 points F1 en sémantique,</a:t>
            </a:r>
          </a:p>
          <a:p>
            <a:pPr lvl="3"/>
            <a:r>
              <a:rPr lang="fr-FR" sz="1600" dirty="0"/>
              <a:t>+13,5 points </a:t>
            </a:r>
            <a:r>
              <a:rPr lang="fr-FR" sz="1600" dirty="0" err="1"/>
              <a:t>mAP</a:t>
            </a:r>
            <a:r>
              <a:rPr lang="fr-FR" sz="1600" dirty="0"/>
              <a:t> en instance,</a:t>
            </a:r>
          </a:p>
          <a:p>
            <a:pPr lvl="3"/>
            <a:r>
              <a:rPr lang="fr-FR" sz="1600" dirty="0"/>
              <a:t>+4 points PQ en panoptique.</a:t>
            </a:r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4" name="Image 3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C6CACBF4-0321-D21D-1634-05899C6F9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08" y="643185"/>
            <a:ext cx="11259183" cy="216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188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58254" y="-358254"/>
            <a:ext cx="6858000" cy="7574507"/>
          </a:xfrm>
          <a:prstGeom prst="rect">
            <a:avLst/>
          </a:prstGeom>
          <a:ln>
            <a:noFill/>
          </a:ln>
          <a:effectLst>
            <a:outerShdw blurRad="304800" dist="3175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3EB8414-13FE-2F9B-7CE3-A6921BCBA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85" y="464676"/>
            <a:ext cx="6032738" cy="1288211"/>
          </a:xfrm>
        </p:spPr>
        <p:txBody>
          <a:bodyPr anchor="b">
            <a:normAutofit/>
          </a:bodyPr>
          <a:lstStyle/>
          <a:p>
            <a:r>
              <a:rPr lang="en-US" sz="2800" b="1" u="sng" dirty="0"/>
              <a:t>4D-BIM based dynamic construction site layout planning</a:t>
            </a:r>
            <a:br>
              <a:rPr lang="es-AR" sz="2800" b="1" u="sng" dirty="0"/>
            </a:br>
            <a:endParaRPr lang="es-AR" sz="28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A5C7085-69D0-0684-44D5-E5A28D132B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344" r="21743" b="-1"/>
          <a:stretch>
            <a:fillRect/>
          </a:stretch>
        </p:blipFill>
        <p:spPr>
          <a:xfrm>
            <a:off x="621722" y="1886552"/>
            <a:ext cx="6334867" cy="408139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5502BD-7507-38CD-7D14-6EA5EF6EC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6006" y="743803"/>
            <a:ext cx="3304272" cy="5474173"/>
          </a:xfrm>
        </p:spPr>
        <p:txBody>
          <a:bodyPr anchor="ctr">
            <a:normAutofit/>
          </a:bodyPr>
          <a:lstStyle/>
          <a:p>
            <a:pPr marL="0"/>
            <a:r>
              <a:rPr lang="fr-FR" sz="1900" dirty="0"/>
              <a:t>Plan type :</a:t>
            </a:r>
          </a:p>
          <a:p>
            <a:pPr marL="457200" lvl="2"/>
            <a:r>
              <a:rPr lang="fr-FR" sz="1900" dirty="0"/>
              <a:t>3D BIM</a:t>
            </a:r>
          </a:p>
          <a:p>
            <a:pPr marL="0"/>
            <a:r>
              <a:rPr lang="fr-FR" sz="1900" dirty="0"/>
              <a:t> Objectif :</a:t>
            </a:r>
          </a:p>
          <a:p>
            <a:pPr marL="457200" lvl="2"/>
            <a:r>
              <a:rPr lang="fr-FR" sz="1900" dirty="0"/>
              <a:t>Optimiser l’aménagement dynamique du site (coût, sécurité, productivité)</a:t>
            </a:r>
          </a:p>
          <a:p>
            <a:pPr marL="0"/>
            <a:r>
              <a:rPr lang="fr-FR" sz="1900" dirty="0"/>
              <a:t>Modèle :</a:t>
            </a:r>
          </a:p>
          <a:p>
            <a:pPr marL="457200" lvl="2"/>
            <a:r>
              <a:rPr lang="fr-FR" sz="1900" dirty="0"/>
              <a:t>Algorithmes génétiques </a:t>
            </a:r>
          </a:p>
          <a:p>
            <a:pPr marL="0"/>
            <a:r>
              <a:rPr lang="fr-FR" sz="1900" dirty="0"/>
              <a:t>Dataset :</a:t>
            </a:r>
          </a:p>
          <a:p>
            <a:pPr marL="457200" lvl="2"/>
            <a:r>
              <a:rPr lang="fr-FR" sz="1900" dirty="0"/>
              <a:t>Cas réel : 14 bâtiments résidentiels</a:t>
            </a:r>
          </a:p>
          <a:p>
            <a:pPr marL="0"/>
            <a:r>
              <a:rPr lang="fr-FR" sz="1900" dirty="0"/>
              <a:t>Résultats :</a:t>
            </a:r>
          </a:p>
          <a:p>
            <a:pPr marL="457200" lvl="2"/>
            <a:r>
              <a:rPr lang="fr-FR" sz="1900" dirty="0"/>
              <a:t>Convergence à la 12ᵉ génération</a:t>
            </a:r>
          </a:p>
          <a:p>
            <a:pPr marL="457200" lvl="2"/>
            <a:r>
              <a:rPr lang="fr-FR" sz="1900" dirty="0"/>
              <a:t>Coût minimal : 753 361 </a:t>
            </a:r>
          </a:p>
        </p:txBody>
      </p:sp>
    </p:spTree>
    <p:extLst>
      <p:ext uri="{BB962C8B-B14F-4D97-AF65-F5344CB8AC3E}">
        <p14:creationId xmlns:p14="http://schemas.microsoft.com/office/powerpoint/2010/main" val="29897084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3442</TotalTime>
  <Words>979</Words>
  <Application>Microsoft Office PowerPoint</Application>
  <PresentationFormat>Grand écran</PresentationFormat>
  <Paragraphs>206</Paragraphs>
  <Slides>34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Thème Office</vt:lpstr>
      <vt:lpstr>Présentation du  projet: </vt:lpstr>
      <vt:lpstr>Les plans 2D </vt:lpstr>
      <vt:lpstr>Les plans 3D </vt:lpstr>
      <vt:lpstr>Nuage de points</vt:lpstr>
      <vt:lpstr>Un métré</vt:lpstr>
      <vt:lpstr>La multimodalité</vt:lpstr>
      <vt:lpstr>Présentation PowerPoint</vt:lpstr>
      <vt:lpstr>Les 5 défis de la multimodalité</vt:lpstr>
      <vt:lpstr>La fusion</vt:lpstr>
      <vt:lpstr>Présentation PowerPoint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Représentation: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Les applications de la Fusion</vt:lpstr>
      <vt:lpstr>Les types d’entrées possible</vt:lpstr>
      <vt:lpstr>Quelques exemples</vt:lpstr>
      <vt:lpstr>Raster-to-Graph R2G 2024</vt:lpstr>
      <vt:lpstr>Enhanced Automated Construction Quantity Takeof</vt:lpstr>
      <vt:lpstr>Automatic Quantity Takeoff for Irregular Areas of Architectural</vt:lpstr>
      <vt:lpstr>eDOCr</vt:lpstr>
      <vt:lpstr>CADSpotting </vt:lpstr>
      <vt:lpstr>4D-BIM based dynamic construction site layout planning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16</cp:revision>
  <dcterms:created xsi:type="dcterms:W3CDTF">2025-09-05T12:51:10Z</dcterms:created>
  <dcterms:modified xsi:type="dcterms:W3CDTF">2025-10-15T13:20:25Z</dcterms:modified>
</cp:coreProperties>
</file>