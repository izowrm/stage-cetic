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60" r:id="rId3"/>
    <p:sldId id="262" r:id="rId4"/>
    <p:sldId id="300" r:id="rId5"/>
    <p:sldId id="263" r:id="rId6"/>
    <p:sldId id="261" r:id="rId7"/>
    <p:sldId id="301" r:id="rId8"/>
    <p:sldId id="265" r:id="rId9"/>
    <p:sldId id="264" r:id="rId10"/>
    <p:sldId id="282" r:id="rId11"/>
    <p:sldId id="266" r:id="rId12"/>
    <p:sldId id="267" r:id="rId13"/>
    <p:sldId id="271" r:id="rId14"/>
    <p:sldId id="270" r:id="rId15"/>
    <p:sldId id="269" r:id="rId16"/>
    <p:sldId id="272" r:id="rId17"/>
    <p:sldId id="275" r:id="rId18"/>
    <p:sldId id="276" r:id="rId19"/>
    <p:sldId id="277" r:id="rId20"/>
    <p:sldId id="278" r:id="rId21"/>
    <p:sldId id="279" r:id="rId22"/>
    <p:sldId id="280" r:id="rId23"/>
    <p:sldId id="259" r:id="rId24"/>
    <p:sldId id="299" r:id="rId25"/>
    <p:sldId id="258" r:id="rId26"/>
    <p:sldId id="281" r:id="rId27"/>
    <p:sldId id="288" r:id="rId28"/>
    <p:sldId id="293" r:id="rId29"/>
    <p:sldId id="287" r:id="rId30"/>
    <p:sldId id="290" r:id="rId31"/>
    <p:sldId id="294" r:id="rId32"/>
    <p:sldId id="292" r:id="rId33"/>
    <p:sldId id="296" r:id="rId34"/>
    <p:sldId id="297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03" autoAdjust="0"/>
    <p:restoredTop sz="86467" autoAdjust="0"/>
  </p:normalViewPr>
  <p:slideViewPr>
    <p:cSldViewPr snapToGrid="0">
      <p:cViewPr varScale="1">
        <p:scale>
          <a:sx n="96" d="100"/>
          <a:sy n="96" d="100"/>
        </p:scale>
        <p:origin x="354" y="96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 custT="1"/>
      <dgm:spPr/>
      <dgm:t>
        <a:bodyPr/>
        <a:lstStyle/>
        <a:p>
          <a:r>
            <a:rPr lang="fr-FR" sz="2700" dirty="0"/>
            <a:t>Format raster (</a:t>
          </a:r>
          <a:r>
            <a:rPr lang="fr-FR" sz="2700" dirty="0" err="1"/>
            <a:t>Pdf</a:t>
          </a:r>
          <a:r>
            <a:rPr lang="fr-FR" sz="2700" dirty="0"/>
            <a:t>, jpeg, …) </a:t>
          </a:r>
          <a:endParaRPr lang="en-US" sz="2700" dirty="0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 custT="1"/>
      <dgm:spPr/>
      <dgm:t>
        <a:bodyPr/>
        <a:lstStyle/>
        <a:p>
          <a:r>
            <a:rPr lang="fr-FR" sz="2700" dirty="0"/>
            <a:t>Format vectorisé (DWG, DXF, …) </a:t>
          </a:r>
          <a:endParaRPr lang="en-US" sz="2700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 custT="1"/>
      <dgm:spPr/>
      <dgm:t>
        <a:bodyPr/>
        <a:lstStyle/>
        <a:p>
          <a:r>
            <a:rPr lang="fr-FR" sz="2700"/>
            <a:t>Nuage de points</a:t>
          </a:r>
          <a:endParaRPr lang="en-US" sz="2700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 custT="1"/>
      <dgm:spPr/>
      <dgm:t>
        <a:bodyPr/>
        <a:lstStyle/>
        <a:p>
          <a:r>
            <a:rPr lang="fr-FR" sz="2700" dirty="0"/>
            <a:t>Donnée </a:t>
          </a:r>
          <a:r>
            <a:rPr lang="es-AR" sz="2700" dirty="0" err="1"/>
            <a:t>textuelles</a:t>
          </a:r>
          <a:endParaRPr lang="en-US" sz="2700" dirty="0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 custT="1"/>
      <dgm:spPr/>
      <dgm:t>
        <a:bodyPr/>
        <a:lstStyle/>
        <a:p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DB3F77B9-6483-4CAB-B2D6-D119FD09A537}">
      <dgm:prSet custT="1"/>
      <dgm:spPr/>
      <dgm:t>
        <a:bodyPr/>
        <a:lstStyle/>
        <a:p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</dgm:t>
    </dgm:pt>
    <dgm:pt modelId="{35D6DB4F-8408-41C0-AAA1-6A735177B08E}" type="parTrans" cxnId="{DA37397A-B0C1-46B6-8C26-F8735DD253CF}">
      <dgm:prSet/>
      <dgm:spPr/>
      <dgm:t>
        <a:bodyPr/>
        <a:lstStyle/>
        <a:p>
          <a:endParaRPr lang="es-AR"/>
        </a:p>
      </dgm:t>
    </dgm:pt>
    <dgm:pt modelId="{0D51B4D0-B2FC-4F61-A63C-CC41E9D99C1F}" type="sibTrans" cxnId="{DA37397A-B0C1-46B6-8C26-F8735DD253CF}">
      <dgm:prSet/>
      <dgm:spPr/>
      <dgm:t>
        <a:bodyPr/>
        <a:lstStyle/>
        <a:p>
          <a:endParaRPr lang="es-AR"/>
        </a:p>
      </dgm:t>
    </dgm:pt>
    <dgm:pt modelId="{C42F1EEF-C1CD-413D-A46E-A3E883E9A130}">
      <dgm:prSet custT="1"/>
      <dgm:spPr/>
      <dgm:t>
        <a:bodyPr/>
        <a:lstStyle/>
        <a:p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gm:t>
    </dgm:pt>
    <dgm:pt modelId="{459DE83B-AB09-4A83-AECD-159DDE07772C}" type="parTrans" cxnId="{A991B4D4-1284-4379-A18A-9F4BDA3E1D32}">
      <dgm:prSet/>
      <dgm:spPr/>
      <dgm:t>
        <a:bodyPr/>
        <a:lstStyle/>
        <a:p>
          <a:endParaRPr lang="es-AR"/>
        </a:p>
      </dgm:t>
    </dgm:pt>
    <dgm:pt modelId="{D62CFB12-BF18-46DD-848B-691B48ACCA0C}" type="sibTrans" cxnId="{A991B4D4-1284-4379-A18A-9F4BDA3E1D32}">
      <dgm:prSet/>
      <dgm:spPr/>
      <dgm:t>
        <a:bodyPr/>
        <a:lstStyle/>
        <a:p>
          <a:endParaRPr lang="es-A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DA37397A-B0C1-46B6-8C26-F8735DD253CF}" srcId="{2EE2E432-0CA7-427E-9AB4-7367E4D3E2BC}" destId="{DB3F77B9-6483-4CAB-B2D6-D119FD09A537}" srcOrd="1" destOrd="0" parTransId="{35D6DB4F-8408-41C0-AAA1-6A735177B08E}" sibTransId="{0D51B4D0-B2FC-4F61-A63C-CC41E9D99C1F}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A991B4D4-1284-4379-A18A-9F4BDA3E1D32}" srcId="{2EE2E432-0CA7-427E-9AB4-7367E4D3E2BC}" destId="{C42F1EEF-C1CD-413D-A46E-A3E883E9A130}" srcOrd="2" destOrd="0" parTransId="{459DE83B-AB09-4A83-AECD-159DDE07772C}" sibTransId="{D62CFB12-BF18-46DD-848B-691B48ACCA0C}"/>
    <dgm:cxn modelId="{D5B48BDE-9199-4518-9C72-F3AC1103B515}" type="presOf" srcId="{DB3F77B9-6483-4CAB-B2D6-D119FD09A537}" destId="{CCD8904C-086B-402C-97E0-D94F55F747C2}" srcOrd="0" destOrd="1" presId="urn:microsoft.com/office/officeart/2005/8/layout/hList1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661EC6F7-A96F-49EF-B59B-020780BDEBAF}" type="presOf" srcId="{C42F1EEF-C1CD-413D-A46E-A3E883E9A130}" destId="{CCD8904C-086B-402C-97E0-D94F55F747C2}" srcOrd="0" destOrd="2" presId="urn:microsoft.com/office/officeart/2005/8/layout/hList1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8781"/>
          <a:ext cx="4913783" cy="1152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/>
            <a:t>Plan 2D :</a:t>
          </a:r>
          <a:endParaRPr lang="en-US" sz="4000" kern="1200"/>
        </a:p>
      </dsp:txBody>
      <dsp:txXfrm>
        <a:off x="51" y="8781"/>
        <a:ext cx="4913783" cy="1152000"/>
      </dsp:txXfrm>
    </dsp:sp>
    <dsp:sp modelId="{D85E36C9-6486-4178-B726-A052386DB544}">
      <dsp:nvSpPr>
        <dsp:cNvPr id="0" name=""/>
        <dsp:cNvSpPr/>
      </dsp:nvSpPr>
      <dsp:spPr>
        <a:xfrm>
          <a:off x="51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raster (</a:t>
          </a:r>
          <a:r>
            <a:rPr lang="fr-FR" sz="2700" kern="1200" dirty="0" err="1"/>
            <a:t>Pdf</a:t>
          </a:r>
          <a:r>
            <a:rPr lang="fr-FR" sz="2700" kern="1200" dirty="0"/>
            <a:t>, jpeg,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vectorisé (DWG, DXF,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/>
            <a:t>Nuage de points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Donnée </a:t>
          </a:r>
          <a:r>
            <a:rPr lang="es-AR" sz="2700" kern="1200" dirty="0" err="1"/>
            <a:t>textuelles</a:t>
          </a:r>
          <a:endParaRPr lang="en-US" sz="2700" kern="1200" dirty="0"/>
        </a:p>
      </dsp:txBody>
      <dsp:txXfrm>
        <a:off x="51" y="1160781"/>
        <a:ext cx="4913783" cy="2779312"/>
      </dsp:txXfrm>
    </dsp:sp>
    <dsp:sp modelId="{D93F844E-E1CA-448D-A73E-529E6E10DC35}">
      <dsp:nvSpPr>
        <dsp:cNvPr id="0" name=""/>
        <dsp:cNvSpPr/>
      </dsp:nvSpPr>
      <dsp:spPr>
        <a:xfrm>
          <a:off x="5601764" y="8781"/>
          <a:ext cx="4913783" cy="11520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 dirty="0"/>
            <a:t>Plans 3D:</a:t>
          </a:r>
          <a:endParaRPr lang="en-US" sz="4000" kern="1200" dirty="0"/>
        </a:p>
      </dsp:txBody>
      <dsp:txXfrm>
        <a:off x="5601764" y="8781"/>
        <a:ext cx="4913783" cy="1152000"/>
      </dsp:txXfrm>
    </dsp:sp>
    <dsp:sp modelId="{CCD8904C-086B-402C-97E0-D94F55F747C2}">
      <dsp:nvSpPr>
        <dsp:cNvPr id="0" name=""/>
        <dsp:cNvSpPr/>
      </dsp:nvSpPr>
      <dsp:spPr>
        <a:xfrm>
          <a:off x="5601764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sp:txBody>
      <dsp:txXfrm>
        <a:off x="5601764" y="1160781"/>
        <a:ext cx="4913783" cy="2779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Réduire </a:t>
            </a:r>
            <a:r>
              <a:rPr lang="fr-FR" dirty="0" err="1"/>
              <a:t>Hétérog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l’images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</a:t>
            </a:r>
            <a:r>
              <a:rPr lang="fr-FR" dirty="0" err="1"/>
              <a:t>possibement</a:t>
            </a:r>
            <a:r>
              <a:rPr lang="fr-FR" dirty="0"/>
              <a:t>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16 mini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6414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6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6944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Voir si  plan de </a:t>
            </a:r>
            <a:r>
              <a:rPr lang="fr-FR" dirty="0" err="1"/>
              <a:t>depart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1552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Craft + CRNN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4023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Regrouper et définir la thématique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226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Représentation et Formats :</a:t>
            </a:r>
          </a:p>
          <a:p>
            <a:r>
              <a:rPr lang="fr-FR" sz="2200" dirty="0"/>
              <a:t>Vectoriels </a:t>
            </a:r>
          </a:p>
          <a:p>
            <a:pPr lvl="1"/>
            <a:r>
              <a:rPr lang="fr-FR" sz="1800" dirty="0"/>
              <a:t>DWG, DXF, SVG</a:t>
            </a:r>
          </a:p>
          <a:p>
            <a:r>
              <a:rPr lang="fr-FR" sz="2200" dirty="0"/>
              <a:t>Raster</a:t>
            </a:r>
          </a:p>
          <a:p>
            <a:pPr lvl="1"/>
            <a:r>
              <a:rPr lang="fr-FR" sz="1800" dirty="0"/>
              <a:t>PDF, JPEG  </a:t>
            </a:r>
          </a:p>
          <a:p>
            <a:r>
              <a:rPr lang="fr-FR" sz="2200" dirty="0"/>
              <a:t>Nuages de points</a:t>
            </a:r>
          </a:p>
          <a:p>
            <a:pPr lvl="1"/>
            <a:r>
              <a:rPr lang="fr-FR" sz="1800" dirty="0"/>
              <a:t>LAS, LAZ </a:t>
            </a:r>
            <a:endParaRPr lang="fr-FR" sz="2200" dirty="0"/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/>
              <a:t>Représentation et Formats:</a:t>
            </a:r>
          </a:p>
          <a:p>
            <a:r>
              <a:rPr lang="fr-FR" sz="1200" dirty="0"/>
              <a:t>Vectoriels</a:t>
            </a:r>
          </a:p>
          <a:p>
            <a:pPr lvl="1"/>
            <a:r>
              <a:rPr lang="fr-FR" sz="800" dirty="0"/>
              <a:t>BIM -&gt; IFC</a:t>
            </a:r>
          </a:p>
          <a:p>
            <a:pPr lvl="1"/>
            <a:r>
              <a:rPr lang="fr-FR" sz="800" dirty="0"/>
              <a:t>DWG 3D</a:t>
            </a:r>
          </a:p>
          <a:p>
            <a:r>
              <a:rPr lang="fr-FR" sz="1200" dirty="0"/>
              <a:t>Nuage de points</a:t>
            </a:r>
          </a:p>
          <a:p>
            <a:pPr lvl="1"/>
            <a:r>
              <a:rPr lang="fr-FR" sz="800" dirty="0"/>
              <a:t>LAS </a:t>
            </a:r>
          </a:p>
          <a:p>
            <a:pPr lvl="1"/>
            <a:r>
              <a:rPr lang="fr-FR" sz="800" dirty="0"/>
              <a:t>LAZ</a:t>
            </a:r>
          </a:p>
          <a:p>
            <a:r>
              <a:rPr lang="fr-FR" sz="1200" dirty="0"/>
              <a:t>Plans Raster </a:t>
            </a:r>
          </a:p>
          <a:p>
            <a:pPr lvl="1"/>
            <a:r>
              <a:rPr lang="fr-FR" sz="800" dirty="0"/>
              <a:t>JPEG </a:t>
            </a:r>
          </a:p>
          <a:p>
            <a:pPr lvl="1"/>
            <a:r>
              <a:rPr lang="fr-FR" sz="800" dirty="0"/>
              <a:t>PDF </a:t>
            </a:r>
          </a:p>
          <a:p>
            <a:endParaRPr lang="fr-FR" sz="1200" dirty="0"/>
          </a:p>
          <a:p>
            <a:pPr lvl="1"/>
            <a:endParaRPr lang="fr-FR" sz="800" dirty="0"/>
          </a:p>
          <a:p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du contenu 5" descr="Une image contenant bâtiment, nuit, léger, plein air&#10;&#10;Le contenu généré par l’IA peut être incorrect.">
            <a:extLst>
              <a:ext uri="{FF2B5EF4-FFF2-40B4-BE49-F238E27FC236}">
                <a16:creationId xmlns:a16="http://schemas.microsoft.com/office/drawing/2014/main" id="{4659B812-8604-AC83-6EED-032744663F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395EBB4-49AC-C5BD-7230-454B5BB1F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Nuage de points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3957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98128-34A8-DE2C-0BE0-CEC991DDD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BF2AFB-351E-B382-F9F6-BDA8CEBC5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9993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Représentation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“Le Chien court dans 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verte”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32518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14191"/>
            <a:ext cx="2720009" cy="209035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25000" lnSpcReduction="20000"/>
          </a:bodyPr>
          <a:lstStyle/>
          <a:p>
            <a:r>
              <a:rPr lang="en-US" sz="6400" dirty="0"/>
              <a:t>Entrées </a:t>
            </a:r>
          </a:p>
          <a:p>
            <a:pPr lvl="1"/>
            <a:r>
              <a:rPr lang="fr-FR" sz="6400" dirty="0" err="1"/>
              <a:t>external</a:t>
            </a:r>
            <a:r>
              <a:rPr lang="fr-FR" sz="6400" dirty="0"/>
              <a:t> </a:t>
            </a:r>
            <a:r>
              <a:rPr lang="fr-FR" sz="6400" dirty="0" err="1"/>
              <a:t>quantity</a:t>
            </a:r>
            <a:r>
              <a:rPr lang="fr-FR" sz="6400" dirty="0"/>
              <a:t> takeoff </a:t>
            </a:r>
            <a:r>
              <a:rPr lang="fr-FR" sz="6400" dirty="0" err="1"/>
              <a:t>rules</a:t>
            </a:r>
            <a:endParaRPr lang="fr-FR" sz="6400" dirty="0"/>
          </a:p>
          <a:p>
            <a:pPr lvl="1"/>
            <a:r>
              <a:rPr lang="fr-FR" sz="6400" dirty="0"/>
              <a:t>Plans raster et documents de chantier</a:t>
            </a:r>
            <a:endParaRPr lang="en-US" sz="6400" dirty="0"/>
          </a:p>
          <a:p>
            <a:r>
              <a:rPr lang="fr-FR" sz="6400" dirty="0"/>
              <a:t>modèle Chat </a:t>
            </a:r>
            <a:r>
              <a:rPr lang="fr-FR" sz="6400" dirty="0" err="1"/>
              <a:t>gpt</a:t>
            </a:r>
            <a:r>
              <a:rPr lang="fr-FR" sz="6400" dirty="0"/>
              <a:t> 4o</a:t>
            </a:r>
          </a:p>
          <a:p>
            <a:r>
              <a:rPr lang="fr-FR" sz="6400" dirty="0" err="1"/>
              <a:t>Objetif</a:t>
            </a:r>
            <a:endParaRPr lang="fr-FR" sz="6400" dirty="0"/>
          </a:p>
          <a:p>
            <a:pPr lvl="1"/>
            <a:r>
              <a:rPr lang="fr-FR" sz="6400" dirty="0"/>
              <a:t>proposer une méthode pour automatiser le </a:t>
            </a:r>
            <a:r>
              <a:rPr lang="fr-FR" sz="6400" dirty="0" err="1"/>
              <a:t>Quantity</a:t>
            </a:r>
            <a:r>
              <a:rPr lang="fr-FR" sz="6400" dirty="0"/>
              <a:t> Takeoff directement à partir de documents traditionnels en 2D</a:t>
            </a:r>
          </a:p>
          <a:p>
            <a:r>
              <a:rPr lang="fr-FR" sz="6400" dirty="0"/>
              <a:t>Dataset: Dataset privé </a:t>
            </a:r>
          </a:p>
          <a:p>
            <a:r>
              <a:rPr lang="fr-FR" sz="6400" dirty="0"/>
              <a:t>Résultats :</a:t>
            </a:r>
          </a:p>
          <a:p>
            <a:r>
              <a:rPr lang="fr-FR" sz="6400" dirty="0"/>
              <a:t>GPT-4o seul → 0/30 correctes (0 %)</a:t>
            </a:r>
          </a:p>
          <a:p>
            <a:r>
              <a:rPr lang="fr-FR" sz="6400" dirty="0"/>
              <a:t>GPT-4o + leur méthode → 24/30 correctes (80 %)</a:t>
            </a:r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earthwork</a:t>
            </a:r>
            <a:endParaRPr lang="fr-FR" sz="6400" dirty="0"/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masonry</a:t>
            </a:r>
            <a:endParaRPr lang="fr-FR" sz="6400" dirty="0"/>
          </a:p>
          <a:p>
            <a:pPr lvl="1"/>
            <a:r>
              <a:rPr lang="fr-FR" sz="6400" dirty="0"/>
              <a:t>0/6 correctes en </a:t>
            </a:r>
            <a:r>
              <a:rPr lang="fr-FR" sz="6400" dirty="0" err="1"/>
              <a:t>rebar</a:t>
            </a:r>
            <a:r>
              <a:rPr lang="fr-FR" sz="64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 Centrée sur les formes irrégulières.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eDOCr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4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304800" dist="3175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3EB8414-13FE-2F9B-7CE3-A6921BCBA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85" y="464676"/>
            <a:ext cx="6032738" cy="1288211"/>
          </a:xfrm>
        </p:spPr>
        <p:txBody>
          <a:bodyPr anchor="b">
            <a:normAutofit/>
          </a:bodyPr>
          <a:lstStyle/>
          <a:p>
            <a:r>
              <a:rPr lang="en-US" sz="2800" b="1" u="sng" dirty="0"/>
              <a:t>4D-BIM based dynamic construction site layout planning</a:t>
            </a:r>
            <a:br>
              <a:rPr lang="es-AR" sz="2800" b="1" u="sng" dirty="0"/>
            </a:br>
            <a:endParaRPr lang="es-AR" sz="2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5C7085-69D0-0684-44D5-E5A28D132B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344" r="21743" b="-1"/>
          <a:stretch>
            <a:fillRect/>
          </a:stretch>
        </p:blipFill>
        <p:spPr>
          <a:xfrm>
            <a:off x="621722" y="1886552"/>
            <a:ext cx="6334867" cy="408139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502BD-7507-38CD-7D14-6EA5EF6EC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006" y="743803"/>
            <a:ext cx="3304272" cy="5474173"/>
          </a:xfrm>
        </p:spPr>
        <p:txBody>
          <a:bodyPr anchor="ctr">
            <a:normAutofit/>
          </a:bodyPr>
          <a:lstStyle/>
          <a:p>
            <a:pPr marL="0"/>
            <a:r>
              <a:rPr lang="fr-FR" sz="1900" dirty="0"/>
              <a:t>Plan type :</a:t>
            </a:r>
          </a:p>
          <a:p>
            <a:pPr marL="457200" lvl="2"/>
            <a:r>
              <a:rPr lang="fr-FR" sz="1900" dirty="0"/>
              <a:t>3D BIM</a:t>
            </a:r>
          </a:p>
          <a:p>
            <a:pPr marL="0"/>
            <a:r>
              <a:rPr lang="fr-FR" sz="1900" dirty="0"/>
              <a:t> Objectif :</a:t>
            </a:r>
          </a:p>
          <a:p>
            <a:pPr marL="457200" lvl="2"/>
            <a:r>
              <a:rPr lang="fr-FR" sz="1900" dirty="0"/>
              <a:t>Optimiser l’aménagement dynamique du site (coût, sécurité, productivité)</a:t>
            </a:r>
          </a:p>
          <a:p>
            <a:pPr marL="0"/>
            <a:r>
              <a:rPr lang="fr-FR" sz="1900" dirty="0"/>
              <a:t>Modèle :</a:t>
            </a:r>
          </a:p>
          <a:p>
            <a:pPr marL="457200" lvl="2"/>
            <a:r>
              <a:rPr lang="fr-FR" sz="1900" dirty="0"/>
              <a:t>Algorithmes génétiques </a:t>
            </a:r>
          </a:p>
          <a:p>
            <a:pPr marL="0"/>
            <a:r>
              <a:rPr lang="fr-FR" sz="1900" dirty="0"/>
              <a:t>Dataset :</a:t>
            </a:r>
          </a:p>
          <a:p>
            <a:pPr marL="457200" lvl="2"/>
            <a:r>
              <a:rPr lang="fr-FR" sz="1900" dirty="0"/>
              <a:t>Cas réel : 14 bâtiments résidentiels</a:t>
            </a:r>
          </a:p>
          <a:p>
            <a:pPr marL="0"/>
            <a:r>
              <a:rPr lang="fr-FR" sz="1900" dirty="0"/>
              <a:t>Résultats :</a:t>
            </a:r>
          </a:p>
          <a:p>
            <a:pPr marL="457200" lvl="2"/>
            <a:r>
              <a:rPr lang="fr-FR" sz="1900" dirty="0"/>
              <a:t>Convergence à la 12ᵉ génération</a:t>
            </a:r>
          </a:p>
          <a:p>
            <a:pPr marL="457200" lvl="2"/>
            <a:r>
              <a:rPr lang="fr-FR" sz="1900" dirty="0"/>
              <a:t>Coût minimal : 753 361 </a:t>
            </a:r>
          </a:p>
        </p:txBody>
      </p:sp>
    </p:spTree>
    <p:extLst>
      <p:ext uri="{BB962C8B-B14F-4D97-AF65-F5344CB8AC3E}">
        <p14:creationId xmlns:p14="http://schemas.microsoft.com/office/powerpoint/2010/main" val="29897084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3456</TotalTime>
  <Words>979</Words>
  <Application>Microsoft Office PowerPoint</Application>
  <PresentationFormat>Grand écran</PresentationFormat>
  <Paragraphs>206</Paragraphs>
  <Slides>34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Nuage de points</vt:lpstr>
      <vt:lpstr>Un métré</vt:lpstr>
      <vt:lpstr>La multimodalité</vt:lpstr>
      <vt:lpstr>Présentation PowerPoint</vt:lpstr>
      <vt:lpstr>Les 5 défis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Représentation: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Les applications de la Fusion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4D-BIM based dynamic construction site layout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16</cp:revision>
  <dcterms:created xsi:type="dcterms:W3CDTF">2025-09-05T12:51:10Z</dcterms:created>
  <dcterms:modified xsi:type="dcterms:W3CDTF">2025-10-21T07:51:46Z</dcterms:modified>
</cp:coreProperties>
</file>