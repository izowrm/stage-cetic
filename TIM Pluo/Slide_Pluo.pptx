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6" r:id="rId3"/>
    <p:sldId id="258" r:id="rId4"/>
    <p:sldId id="269" r:id="rId5"/>
    <p:sldId id="261" r:id="rId6"/>
    <p:sldId id="260" r:id="rId7"/>
    <p:sldId id="273" r:id="rId8"/>
    <p:sldId id="259" r:id="rId9"/>
    <p:sldId id="272" r:id="rId10"/>
    <p:sldId id="262" r:id="rId11"/>
    <p:sldId id="263" r:id="rId12"/>
    <p:sldId id="270" r:id="rId13"/>
    <p:sldId id="271" r:id="rId14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814" autoAdjust="0"/>
  </p:normalViewPr>
  <p:slideViewPr>
    <p:cSldViewPr snapToGrid="0">
      <p:cViewPr varScale="1">
        <p:scale>
          <a:sx n="87" d="100"/>
          <a:sy n="87" d="100"/>
        </p:scale>
        <p:origin x="147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5082A6-11C5-4584-B4A7-5F6CB8C8BF42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D0BE1B-9CB8-454F-BD68-366FF85AEE84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57486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BAE0E-C3E6-9E68-147C-600D72805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4AB8FF4-C5F2-0EC6-59AC-043232F1F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5D8528F-6B16-9E1A-EC9D-DFD91ED7B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Accompagner la transition vers le numérique les PME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2/3 jours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Statues étudiant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A350515-4FF4-7722-5024-1D98EC8011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2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3173978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Le Secteur d’activité </a:t>
            </a:r>
            <a:r>
              <a:rPr lang="fr-FR" dirty="0" err="1"/>
              <a:t>princuipalement</a:t>
            </a:r>
            <a:r>
              <a:rPr lang="fr-FR" dirty="0"/>
              <a:t>  la création et  l’aménagement </a:t>
            </a:r>
            <a:r>
              <a:rPr lang="fr-FR" dirty="0" err="1"/>
              <a:t>despace</a:t>
            </a:r>
            <a:r>
              <a:rPr lang="fr-FR" dirty="0"/>
              <a:t> </a:t>
            </a:r>
          </a:p>
          <a:p>
            <a:r>
              <a:rPr lang="fr-FR" dirty="0"/>
              <a:t> les stands de présentation de salon, la rénovation de pharmacie, musé </a:t>
            </a:r>
            <a:r>
              <a:rPr lang="fr-FR" dirty="0" err="1"/>
              <a:t>ect</a:t>
            </a:r>
            <a:r>
              <a:rPr lang="fr-FR" dirty="0"/>
              <a:t> …</a:t>
            </a:r>
          </a:p>
          <a:p>
            <a:r>
              <a:rPr lang="fr-FR" dirty="0"/>
              <a:t>Besoin spécifique  pour l’assistance de devis, expliqué le contexte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3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63777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D18D1-A60B-26DF-128A-2DB832D68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EC21416-77E5-EDE2-ACDB-BA6E22A8E7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44BD453-8C0A-A993-9938-B9DC72C957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AR" dirty="0" err="1"/>
              <a:t>Fichier</a:t>
            </a:r>
            <a:r>
              <a:rPr lang="es-AR" dirty="0"/>
              <a:t> Exel qui </a:t>
            </a:r>
            <a:r>
              <a:rPr lang="es-AR" dirty="0" err="1"/>
              <a:t>est</a:t>
            </a:r>
            <a:r>
              <a:rPr lang="es-AR" dirty="0"/>
              <a:t>  la base de </a:t>
            </a:r>
            <a:r>
              <a:rPr lang="es-AR" dirty="0" err="1"/>
              <a:t>leurs</a:t>
            </a:r>
            <a:r>
              <a:rPr lang="es-AR" dirty="0"/>
              <a:t> </a:t>
            </a:r>
            <a:r>
              <a:rPr lang="es-AR" dirty="0" err="1"/>
              <a:t>devis</a:t>
            </a:r>
            <a:r>
              <a:rPr lang="es-AR" dirty="0"/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AR" dirty="0" err="1"/>
              <a:t>Étroitement</a:t>
            </a:r>
            <a:r>
              <a:rPr lang="es-AR" dirty="0"/>
              <a:t> </a:t>
            </a:r>
            <a:r>
              <a:rPr lang="es-AR" dirty="0" err="1"/>
              <a:t>lier</a:t>
            </a:r>
            <a:r>
              <a:rPr lang="es-AR" dirty="0"/>
              <a:t> à  ODOO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F7BA35C-9DA5-93F3-6C1B-1FA1F85B48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4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107775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Gratuit </a:t>
            </a:r>
          </a:p>
          <a:p>
            <a:r>
              <a:rPr lang="fr-FR" dirty="0"/>
              <a:t>restriction journalière</a:t>
            </a:r>
          </a:p>
          <a:p>
            <a:r>
              <a:rPr lang="fr-FR" dirty="0"/>
              <a:t>mais première impulsion cadre </a:t>
            </a:r>
            <a:r>
              <a:rPr lang="fr-FR" dirty="0" err="1"/>
              <a:t>Walhub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5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740786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6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2858106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740F1-4164-781E-1209-A2D75EE99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18EE7B5-2BA3-6B6D-7FF2-F89F7FDB61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FA29F9A-770A-4DDE-7BC2-6B2090D79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Liste des mat </a:t>
            </a:r>
          </a:p>
          <a:p>
            <a:r>
              <a:rPr lang="fr-FR" dirty="0"/>
              <a:t>Liste des main d’oeuvr²e et le coup horaire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0B7832E-C455-EAF3-989C-3A14A81549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7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8222545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Echelle 1/1</a:t>
            </a:r>
          </a:p>
          <a:p>
            <a:r>
              <a:rPr lang="fr-FR" dirty="0"/>
              <a:t>ou  une mesure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8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7288886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Se spécialisé </a:t>
            </a:r>
          </a:p>
          <a:p>
            <a:endParaRPr lang="fr-FR" dirty="0"/>
          </a:p>
          <a:p>
            <a:r>
              <a:rPr lang="fr-FR" dirty="0"/>
              <a:t>Une suite de taches :</a:t>
            </a:r>
          </a:p>
          <a:p>
            <a:r>
              <a:rPr lang="fr-FR" dirty="0"/>
              <a:t> complexité + longueurs</a:t>
            </a:r>
          </a:p>
          <a:p>
            <a:r>
              <a:rPr lang="fr-FR" dirty="0"/>
              <a:t>	</a:t>
            </a:r>
          </a:p>
          <a:p>
            <a:r>
              <a:rPr lang="fr-FR" dirty="0"/>
              <a:t>Quant mat </a:t>
            </a:r>
          </a:p>
          <a:p>
            <a:r>
              <a:rPr lang="fr-FR" dirty="0"/>
              <a:t>Quant main œuvres </a:t>
            </a:r>
          </a:p>
          <a:p>
            <a:r>
              <a:rPr lang="fr-FR" dirty="0"/>
              <a:t>Calcul</a:t>
            </a:r>
          </a:p>
          <a:p>
            <a:r>
              <a:rPr lang="fr-FR" dirty="0"/>
              <a:t>J’ai  mis en place Processus </a:t>
            </a:r>
            <a:r>
              <a:rPr lang="fr-FR" dirty="0" err="1"/>
              <a:t>iteratifs</a:t>
            </a:r>
            <a:endParaRPr lang="fr-FR" dirty="0"/>
          </a:p>
          <a:p>
            <a:r>
              <a:rPr lang="fr-FR" dirty="0"/>
              <a:t>Avec une </a:t>
            </a:r>
            <a:r>
              <a:rPr lang="fr-FR" dirty="0" err="1"/>
              <a:t>mopyenne</a:t>
            </a:r>
            <a:r>
              <a:rPr lang="fr-FR" dirty="0"/>
              <a:t> écart type </a:t>
            </a:r>
          </a:p>
          <a:p>
            <a:r>
              <a:rPr lang="fr-FR" dirty="0"/>
              <a:t>Le modèle </a:t>
            </a:r>
            <a:r>
              <a:rPr lang="fr-FR" dirty="0" err="1"/>
              <a:t>haliciné</a:t>
            </a:r>
            <a:r>
              <a:rPr lang="fr-FR" dirty="0"/>
              <a:t> 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9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1852708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 1 requête prend entre 40 et 70 sec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10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3040099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8637ED-3BA2-15F4-0B7D-E732496D50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7EBEE21-E238-D96F-582F-9859F390F5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C087DA7-9828-4226-EB6D-B88CDBA6C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11ED0DD-F00B-95D9-AC6F-52405C3AD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5E8C0AC-E5B2-EA0F-EF22-C91578399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24372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2C055D-9F55-9BDC-CAC4-D73E93193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EB094EC-9CB0-6F7A-4CDC-753A3203A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E877A9F-68A2-3F97-C0D1-B1CF23F0D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B95588-BAD4-1B62-C831-98761EA73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6C7AADC-6220-9F9A-9331-7208757B9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459412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DA41D2-4409-A20F-2733-1F1F3AA2D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4D77942-A1F3-099B-3DC1-AAA91F7F62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435A91-272A-5843-B756-10A4E98F6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D83A90-3E15-9E1C-08D1-4B84CC2C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961DF5-BC11-C37D-DC9C-23172E586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0143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841A36-2D5E-1194-D60F-61D4442F6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6E7659-DD1E-7336-8EB2-74B418C20E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DA7FFD2-42B5-DCC7-F1E3-760D0049EA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BC120D3-66EA-2FDE-E821-FF90D0A2B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3C88452-3C29-4995-3005-DB5E059C2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DFEEEBF-A47E-49C8-0F53-EF0FD915B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64105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5273A8-78F9-D6A0-CEA1-033E0F689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5EC4F3A-07C6-F762-FC5D-D1F97E2A6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D3E63C-11A7-F197-43AB-0A6D16FC2E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C2A0739-FA20-BA15-5305-CAB70A7461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213AF49-4D0D-D480-FA57-B6913F5E4E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2AC164B-D20F-1A44-0B98-0CED11D85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70FBC5C-35BC-D9F4-D13A-99005EB4B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89CC17C-F519-2697-6F16-14C95591D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82743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7BB9AB-D1F7-395E-30EC-446648C01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E1D3F21-9405-407D-A183-1212C1023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89EF01F-774C-12EF-25CD-363DDE20C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8514C9-89E2-3DB3-7922-240921C7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23701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626FD62-EA59-9264-8DC8-24BCA5AE0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7D533DA-EA22-41FE-1D2D-8DB109029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F027F18-2F33-D7C9-D1EF-70BFF90AF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13650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774B4B-1849-8E2F-BAF7-F113F9B8C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BF7A55-03F4-E288-3DE0-D6C76C89A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551AB96-15CE-9393-338A-AB70FA650E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7A998D3-2948-7ECA-F1DD-99F2A589C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459A358-063C-7733-E95A-8D93BB295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9AEEA81-14E3-2351-286B-7AE3F18CB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18134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BED2D0-DE35-3F12-3611-1F3D427E0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1D80F1D-5498-FEC6-32B0-12A6DDFD2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2C54779-1F41-E7DD-B189-C3D8FC7B91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83692AF-B72F-4F19-21E6-46C19B5CE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54DC4AA-4916-7BCD-E238-1A77693F0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7F8961-299E-B483-90B7-3A2C6043D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04380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9AE3D1-AB01-29DC-9ABD-2D6424CDF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092AF57-9C4A-C448-BCBE-4A589CAA6C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D89F92C-C476-9D08-0B40-B76F96EBA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55D9E2-9292-0CB7-0689-FB631EC15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AD346E-3F7C-E4E1-94F7-916502895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215835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A622422-9E5B-2A01-DBE0-D264B4BF9C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20BA964-937C-FFEC-6803-1CF80E362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67C951B-A43F-CA62-2820-D86A5A4E7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E911E3-AD22-D113-B5FA-DF06A5797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DC52C64-880C-EB7F-B4E3-9F873E28B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680122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8597278-0DB1-94C2-ECB3-C5FEEBCE3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6385C96-B09C-3997-3B89-AE4727B6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46134BB-C0E9-3AF4-4AAD-2035AD695F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3E1F14-77DD-A1ED-C368-C64A97C5D6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9E8B2D-0D00-11C1-0352-65040861A5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94907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022CA72-2A63-428F-B586-37BA5AB6D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945940-8F90-211F-DD3B-E222254B67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2015" y="4495568"/>
            <a:ext cx="3861960" cy="190523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200"/>
              <a:t>Solution d’estimation de prix avec LLM pour Pluo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89" y="-1"/>
            <a:ext cx="11231745" cy="413142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 descr="Une image contenant Police, logo, Graphique, cercle&#10;&#10;Le contenu généré par l’IA peut être incorrect.">
            <a:extLst>
              <a:ext uri="{FF2B5EF4-FFF2-40B4-BE49-F238E27FC236}">
                <a16:creationId xmlns:a16="http://schemas.microsoft.com/office/drawing/2014/main" id="{74B72717-064B-BA70-BD7A-6FE684F262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3366" y="364143"/>
            <a:ext cx="3426462" cy="342646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75BF81B-612D-C43E-429D-1742124345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64" y="857385"/>
            <a:ext cx="5136795" cy="2439976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3837444" y="5460209"/>
            <a:ext cx="1790365" cy="457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7B8CD11-EB78-5485-3717-3204AF032635}"/>
              </a:ext>
            </a:extLst>
          </p:cNvPr>
          <p:cNvSpPr txBox="1"/>
          <p:nvPr/>
        </p:nvSpPr>
        <p:spPr>
          <a:xfrm>
            <a:off x="5162719" y="4495568"/>
            <a:ext cx="6586915" cy="19052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Robin Mougne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ESAIP Angers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Période de stage : septembre 2025 - février 2026</a:t>
            </a:r>
          </a:p>
        </p:txBody>
      </p:sp>
    </p:spTree>
    <p:extLst>
      <p:ext uri="{BB962C8B-B14F-4D97-AF65-F5344CB8AC3E}">
        <p14:creationId xmlns:p14="http://schemas.microsoft.com/office/powerpoint/2010/main" val="1196492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9088A-7D19-418C-3701-02F3E2B91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6" name="Rectangle 1035">
            <a:extLst>
              <a:ext uri="{FF2B5EF4-FFF2-40B4-BE49-F238E27FC236}">
                <a16:creationId xmlns:a16="http://schemas.microsoft.com/office/drawing/2014/main" id="{7BDAC5B6-20CE-447F-8BA1-F2274AC7A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8" name="Freeform: Shape 1037">
            <a:extLst>
              <a:ext uri="{FF2B5EF4-FFF2-40B4-BE49-F238E27FC236}">
                <a16:creationId xmlns:a16="http://schemas.microsoft.com/office/drawing/2014/main" id="{D1D22B31-BF8F-446B-9009-8A251FB177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3094406 w 12192000"/>
              <a:gd name="connsiteY0" fmla="*/ 283966 h 6858000"/>
              <a:gd name="connsiteX1" fmla="*/ 3038833 w 12192000"/>
              <a:gd name="connsiteY1" fmla="*/ 309661 h 6858000"/>
              <a:gd name="connsiteX2" fmla="*/ 3348384 w 12192000"/>
              <a:gd name="connsiteY2" fmla="*/ 406000 h 6858000"/>
              <a:gd name="connsiteX3" fmla="*/ 2864309 w 12192000"/>
              <a:gd name="connsiteY3" fmla="*/ 355295 h 6858000"/>
              <a:gd name="connsiteX4" fmla="*/ 2856039 w 12192000"/>
              <a:gd name="connsiteY4" fmla="*/ 388058 h 6858000"/>
              <a:gd name="connsiteX5" fmla="*/ 3405794 w 12192000"/>
              <a:gd name="connsiteY5" fmla="*/ 512089 h 6858000"/>
              <a:gd name="connsiteX6" fmla="*/ 3356651 w 12192000"/>
              <a:gd name="connsiteY6" fmla="*/ 531204 h 6858000"/>
              <a:gd name="connsiteX7" fmla="*/ 3064552 w 12192000"/>
              <a:gd name="connsiteY7" fmla="*/ 483228 h 6858000"/>
              <a:gd name="connsiteX8" fmla="*/ 3005765 w 12192000"/>
              <a:gd name="connsiteY8" fmla="*/ 495708 h 6858000"/>
              <a:gd name="connsiteX9" fmla="*/ 3034700 w 12192000"/>
              <a:gd name="connsiteY9" fmla="*/ 553823 h 6858000"/>
              <a:gd name="connsiteX10" fmla="*/ 3161459 w 12192000"/>
              <a:gd name="connsiteY10" fmla="*/ 576445 h 6858000"/>
              <a:gd name="connsiteX11" fmla="*/ 3358949 w 12192000"/>
              <a:gd name="connsiteY11" fmla="*/ 712961 h 6858000"/>
              <a:gd name="connsiteX12" fmla="*/ 3059960 w 12192000"/>
              <a:gd name="connsiteY12" fmla="*/ 696576 h 6858000"/>
              <a:gd name="connsiteX13" fmla="*/ 3007143 w 12192000"/>
              <a:gd name="connsiteY13" fmla="*/ 729732 h 6858000"/>
              <a:gd name="connsiteX14" fmla="*/ 2986935 w 12192000"/>
              <a:gd name="connsiteY14" fmla="*/ 772635 h 6858000"/>
              <a:gd name="connsiteX15" fmla="*/ 2871197 w 12192000"/>
              <a:gd name="connsiteY15" fmla="*/ 808127 h 6858000"/>
              <a:gd name="connsiteX16" fmla="*/ 3053071 w 12192000"/>
              <a:gd name="connsiteY16" fmla="*/ 847913 h 6858000"/>
              <a:gd name="connsiteX17" fmla="*/ 2858796 w 12192000"/>
              <a:gd name="connsiteY17" fmla="*/ 847913 h 6858000"/>
              <a:gd name="connsiteX18" fmla="*/ 2635588 w 12192000"/>
              <a:gd name="connsiteY18" fmla="*/ 820611 h 6858000"/>
              <a:gd name="connsiteX19" fmla="*/ 2397683 w 12192000"/>
              <a:gd name="connsiteY19" fmla="*/ 829190 h 6858000"/>
              <a:gd name="connsiteX20" fmla="*/ 1921874 w 12192000"/>
              <a:gd name="connsiteY20" fmla="*/ 778877 h 6858000"/>
              <a:gd name="connsiteX21" fmla="*/ 1695450 w 12192000"/>
              <a:gd name="connsiteY21" fmla="*/ 782386 h 6858000"/>
              <a:gd name="connsiteX22" fmla="*/ 2954324 w 12192000"/>
              <a:gd name="connsiteY22" fmla="*/ 1120940 h 6858000"/>
              <a:gd name="connsiteX23" fmla="*/ 2890028 w 12192000"/>
              <a:gd name="connsiteY23" fmla="*/ 1195435 h 6858000"/>
              <a:gd name="connsiteX24" fmla="*/ 3153652 w 12192000"/>
              <a:gd name="connsiteY24" fmla="*/ 1276563 h 6858000"/>
              <a:gd name="connsiteX25" fmla="*/ 3218410 w 12192000"/>
              <a:gd name="connsiteY25" fmla="*/ 1356911 h 6858000"/>
              <a:gd name="connsiteX26" fmla="*/ 3137118 w 12192000"/>
              <a:gd name="connsiteY26" fmla="*/ 1349891 h 6858000"/>
              <a:gd name="connsiteX27" fmla="*/ 3067309 w 12192000"/>
              <a:gd name="connsiteY27" fmla="*/ 1365102 h 6858000"/>
              <a:gd name="connsiteX28" fmla="*/ 3096243 w 12192000"/>
              <a:gd name="connsiteY28" fmla="*/ 1467292 h 6858000"/>
              <a:gd name="connsiteX29" fmla="*/ 3468716 w 12192000"/>
              <a:gd name="connsiteY29" fmla="*/ 1599125 h 6858000"/>
              <a:gd name="connsiteX30" fmla="*/ 3502241 w 12192000"/>
              <a:gd name="connsiteY30" fmla="*/ 1642029 h 6858000"/>
              <a:gd name="connsiteX31" fmla="*/ 3457692 w 12192000"/>
              <a:gd name="connsiteY31" fmla="*/ 1672453 h 6858000"/>
              <a:gd name="connsiteX32" fmla="*/ 3337362 w 12192000"/>
              <a:gd name="connsiteY32" fmla="*/ 1688053 h 6858000"/>
              <a:gd name="connsiteX33" fmla="*/ 3505915 w 12192000"/>
              <a:gd name="connsiteY33" fmla="*/ 1834318 h 6858000"/>
              <a:gd name="connsiteX34" fmla="*/ 3567458 w 12192000"/>
              <a:gd name="connsiteY34" fmla="*/ 1874880 h 6858000"/>
              <a:gd name="connsiteX35" fmla="*/ 3672634 w 12192000"/>
              <a:gd name="connsiteY35" fmla="*/ 1937678 h 6858000"/>
              <a:gd name="connsiteX36" fmla="*/ 3674470 w 12192000"/>
              <a:gd name="connsiteY36" fmla="*/ 1956789 h 6858000"/>
              <a:gd name="connsiteX37" fmla="*/ 3531176 w 12192000"/>
              <a:gd name="connsiteY37" fmla="*/ 2024266 h 6858000"/>
              <a:gd name="connsiteX38" fmla="*/ 3272604 w 12192000"/>
              <a:gd name="connsiteY38" fmla="*/ 2005933 h 6858000"/>
              <a:gd name="connsiteX39" fmla="*/ 3654720 w 12192000"/>
              <a:gd name="connsiteY39" fmla="*/ 2106564 h 6858000"/>
              <a:gd name="connsiteX40" fmla="*/ 2417892 w 12192000"/>
              <a:gd name="connsiteY40" fmla="*/ 1866690 h 6858000"/>
              <a:gd name="connsiteX41" fmla="*/ 2496888 w 12192000"/>
              <a:gd name="connsiteY41" fmla="*/ 1929487 h 6858000"/>
              <a:gd name="connsiteX42" fmla="*/ 2929526 w 12192000"/>
              <a:gd name="connsiteY42" fmla="*/ 2094862 h 6858000"/>
              <a:gd name="connsiteX43" fmla="*/ 3052152 w 12192000"/>
              <a:gd name="connsiteY43" fmla="*/ 2198613 h 6858000"/>
              <a:gd name="connsiteX44" fmla="*/ 3180748 w 12192000"/>
              <a:gd name="connsiteY44" fmla="*/ 2255948 h 6858000"/>
              <a:gd name="connsiteX45" fmla="*/ 3361244 w 12192000"/>
              <a:gd name="connsiteY45" fmla="*/ 2254777 h 6858000"/>
              <a:gd name="connsiteX46" fmla="*/ 3489382 w 12192000"/>
              <a:gd name="connsiteY46" fmla="*/ 2342926 h 6858000"/>
              <a:gd name="connsiteX47" fmla="*/ 3355733 w 12192000"/>
              <a:gd name="connsiteY47" fmla="*/ 2361649 h 6858000"/>
              <a:gd name="connsiteX48" fmla="*/ 3199121 w 12192000"/>
              <a:gd name="connsiteY48" fmla="*/ 2347216 h 6858000"/>
              <a:gd name="connsiteX49" fmla="*/ 2861091 w 12192000"/>
              <a:gd name="connsiteY49" fmla="*/ 2351896 h 6858000"/>
              <a:gd name="connsiteX50" fmla="*/ 2667278 w 12192000"/>
              <a:gd name="connsiteY50" fmla="*/ 2369058 h 6858000"/>
              <a:gd name="connsiteX51" fmla="*/ 2221781 w 12192000"/>
              <a:gd name="connsiteY51" fmla="*/ 2339805 h 6858000"/>
              <a:gd name="connsiteX52" fmla="*/ 2247961 w 12192000"/>
              <a:gd name="connsiteY52" fmla="*/ 2414693 h 6858000"/>
              <a:gd name="connsiteX53" fmla="*/ 2231425 w 12192000"/>
              <a:gd name="connsiteY53" fmla="*/ 2479828 h 6858000"/>
              <a:gd name="connsiteX54" fmla="*/ 2224996 w 12192000"/>
              <a:gd name="connsiteY54" fmla="*/ 2621414 h 6858000"/>
              <a:gd name="connsiteX55" fmla="*/ 2229131 w 12192000"/>
              <a:gd name="connsiteY55" fmla="*/ 2644426 h 6858000"/>
              <a:gd name="connsiteX56" fmla="*/ 2129466 w 12192000"/>
              <a:gd name="connsiteY56" fmla="*/ 2659247 h 6858000"/>
              <a:gd name="connsiteX57" fmla="*/ 2723312 w 12192000"/>
              <a:gd name="connsiteY57" fmla="*/ 2953726 h 6858000"/>
              <a:gd name="connsiteX58" fmla="*/ 2326496 w 12192000"/>
              <a:gd name="connsiteY58" fmla="*/ 2878838 h 6858000"/>
              <a:gd name="connsiteX59" fmla="*/ 2272759 w 12192000"/>
              <a:gd name="connsiteY59" fmla="*/ 3002480 h 6858000"/>
              <a:gd name="connsiteX60" fmla="*/ 2459226 w 12192000"/>
              <a:gd name="connsiteY60" fmla="*/ 3112471 h 6858000"/>
              <a:gd name="connsiteX61" fmla="*/ 2528117 w 12192000"/>
              <a:gd name="connsiteY61" fmla="*/ 3330111 h 6858000"/>
              <a:gd name="connsiteX62" fmla="*/ 2494590 w 12192000"/>
              <a:gd name="connsiteY62" fmla="*/ 3529029 h 6858000"/>
              <a:gd name="connsiteX63" fmla="*/ 2414677 w 12192000"/>
              <a:gd name="connsiteY63" fmla="*/ 3592215 h 6858000"/>
              <a:gd name="connsiteX64" fmla="*/ 2298940 w 12192000"/>
              <a:gd name="connsiteY64" fmla="*/ 3705716 h 6858000"/>
              <a:gd name="connsiteX65" fmla="*/ 2227294 w 12192000"/>
              <a:gd name="connsiteY65" fmla="*/ 3775921 h 6858000"/>
              <a:gd name="connsiteX66" fmla="*/ 1978366 w 12192000"/>
              <a:gd name="connsiteY66" fmla="*/ 3748620 h 6858000"/>
              <a:gd name="connsiteX67" fmla="*/ 2310421 w 12192000"/>
              <a:gd name="connsiteY67" fmla="*/ 3926868 h 6858000"/>
              <a:gd name="connsiteX68" fmla="*/ 2041285 w 12192000"/>
              <a:gd name="connsiteY68" fmla="*/ 3904635 h 6858000"/>
              <a:gd name="connsiteX69" fmla="*/ 1953565 w 12192000"/>
              <a:gd name="connsiteY69" fmla="*/ 3917116 h 6858000"/>
              <a:gd name="connsiteX70" fmla="*/ 2003623 w 12192000"/>
              <a:gd name="connsiteY70" fmla="*/ 3974842 h 6858000"/>
              <a:gd name="connsiteX71" fmla="*/ 2201114 w 12192000"/>
              <a:gd name="connsiteY71" fmla="*/ 4072742 h 6858000"/>
              <a:gd name="connsiteX72" fmla="*/ 2608032 w 12192000"/>
              <a:gd name="connsiteY72" fmla="*/ 4337967 h 6858000"/>
              <a:gd name="connsiteX73" fmla="*/ 2213973 w 12192000"/>
              <a:gd name="connsiteY73" fmla="*/ 4216277 h 6858000"/>
              <a:gd name="connsiteX74" fmla="*/ 2629158 w 12192000"/>
              <a:gd name="connsiteY74" fmla="*/ 4488911 h 6858000"/>
              <a:gd name="connsiteX75" fmla="*/ 2721471 w 12192000"/>
              <a:gd name="connsiteY75" fmla="*/ 4579399 h 6858000"/>
              <a:gd name="connsiteX76" fmla="*/ 2907939 w 12192000"/>
              <a:gd name="connsiteY76" fmla="*/ 4804062 h 6858000"/>
              <a:gd name="connsiteX77" fmla="*/ 2898753 w 12192000"/>
              <a:gd name="connsiteY77" fmla="*/ 4829414 h 6858000"/>
              <a:gd name="connsiteX78" fmla="*/ 2683352 w 12192000"/>
              <a:gd name="connsiteY78" fmla="*/ 4793141 h 6858000"/>
              <a:gd name="connsiteX79" fmla="*/ 2962594 w 12192000"/>
              <a:gd name="connsiteY79" fmla="*/ 4981920 h 6858000"/>
              <a:gd name="connsiteX80" fmla="*/ 3251019 w 12192000"/>
              <a:gd name="connsiteY80" fmla="*/ 5127012 h 6858000"/>
              <a:gd name="connsiteX81" fmla="*/ 3046180 w 12192000"/>
              <a:gd name="connsiteY81" fmla="*/ 5104781 h 6858000"/>
              <a:gd name="connsiteX82" fmla="*/ 2764646 w 12192000"/>
              <a:gd name="connsiteY82" fmla="*/ 5021703 h 6858000"/>
              <a:gd name="connsiteX83" fmla="*/ 2666820 w 12192000"/>
              <a:gd name="connsiteY83" fmla="*/ 5052905 h 6858000"/>
              <a:gd name="connsiteX84" fmla="*/ 2933657 w 12192000"/>
              <a:gd name="connsiteY84" fmla="*/ 5190198 h 6858000"/>
              <a:gd name="connsiteX85" fmla="*/ 3086598 w 12192000"/>
              <a:gd name="connsiteY85" fmla="*/ 5253776 h 6858000"/>
              <a:gd name="connsiteX86" fmla="*/ 3147680 w 12192000"/>
              <a:gd name="connsiteY86" fmla="*/ 5302531 h 6858000"/>
              <a:gd name="connsiteX87" fmla="*/ 3322204 w 12192000"/>
              <a:gd name="connsiteY87" fmla="*/ 5476487 h 6858000"/>
              <a:gd name="connsiteX88" fmla="*/ 3834758 w 12192000"/>
              <a:gd name="connsiteY88" fmla="*/ 5666434 h 6858000"/>
              <a:gd name="connsiteX89" fmla="*/ 4314240 w 12192000"/>
              <a:gd name="connsiteY89" fmla="*/ 5902409 h 6858000"/>
              <a:gd name="connsiteX90" fmla="*/ 4688552 w 12192000"/>
              <a:gd name="connsiteY90" fmla="*/ 6049453 h 6858000"/>
              <a:gd name="connsiteX91" fmla="*/ 5634660 w 12192000"/>
              <a:gd name="connsiteY91" fmla="*/ 6238620 h 6858000"/>
              <a:gd name="connsiteX92" fmla="*/ 9222980 w 12192000"/>
              <a:gd name="connsiteY92" fmla="*/ 4955397 h 6858000"/>
              <a:gd name="connsiteX93" fmla="*/ 9268448 w 12192000"/>
              <a:gd name="connsiteY93" fmla="*/ 4917173 h 6858000"/>
              <a:gd name="connsiteX94" fmla="*/ 9442512 w 12192000"/>
              <a:gd name="connsiteY94" fmla="*/ 4773251 h 6858000"/>
              <a:gd name="connsiteX95" fmla="*/ 9590400 w 12192000"/>
              <a:gd name="connsiteY95" fmla="*/ 4643756 h 6858000"/>
              <a:gd name="connsiteX96" fmla="*/ 9513242 w 12192000"/>
              <a:gd name="connsiteY96" fmla="*/ 4600073 h 6858000"/>
              <a:gd name="connsiteX97" fmla="*/ 9617498 w 12192000"/>
              <a:gd name="connsiteY97" fmla="*/ 4476430 h 6858000"/>
              <a:gd name="connsiteX98" fmla="*/ 9949094 w 12192000"/>
              <a:gd name="connsiteY98" fmla="*/ 4095364 h 6858000"/>
              <a:gd name="connsiteX99" fmla="*/ 10094686 w 12192000"/>
              <a:gd name="connsiteY99" fmla="*/ 4011507 h 6858000"/>
              <a:gd name="connsiteX100" fmla="*/ 10271967 w 12192000"/>
              <a:gd name="connsiteY100" fmla="*/ 3800497 h 6858000"/>
              <a:gd name="connsiteX101" fmla="*/ 10297226 w 12192000"/>
              <a:gd name="connsiteY101" fmla="*/ 3751742 h 6858000"/>
              <a:gd name="connsiteX102" fmla="*/ 10260943 w 12192000"/>
              <a:gd name="connsiteY102" fmla="*/ 3689723 h 6858000"/>
              <a:gd name="connsiteX103" fmla="*/ 10233847 w 12192000"/>
              <a:gd name="connsiteY103" fmla="*/ 3627319 h 6858000"/>
              <a:gd name="connsiteX104" fmla="*/ 10269209 w 12192000"/>
              <a:gd name="connsiteY104" fmla="*/ 3608986 h 6858000"/>
              <a:gd name="connsiteX105" fmla="*/ 10496550 w 12192000"/>
              <a:gd name="connsiteY105" fmla="*/ 3577393 h 6858000"/>
              <a:gd name="connsiteX106" fmla="*/ 10364738 w 12192000"/>
              <a:gd name="connsiteY106" fmla="*/ 3458823 h 6858000"/>
              <a:gd name="connsiteX107" fmla="*/ 10132346 w 12192000"/>
              <a:gd name="connsiteY107" fmla="*/ 3282137 h 6858000"/>
              <a:gd name="connsiteX108" fmla="*/ 10026712 w 12192000"/>
              <a:gd name="connsiteY108" fmla="*/ 3156543 h 6858000"/>
              <a:gd name="connsiteX109" fmla="*/ 10014312 w 12192000"/>
              <a:gd name="connsiteY109" fmla="*/ 3044213 h 6858000"/>
              <a:gd name="connsiteX110" fmla="*/ 9806718 w 12192000"/>
              <a:gd name="connsiteY110" fmla="*/ 2977907 h 6858000"/>
              <a:gd name="connsiteX111" fmla="*/ 10001912 w 12192000"/>
              <a:gd name="connsiteY111" fmla="*/ 2740374 h 6858000"/>
              <a:gd name="connsiteX112" fmla="*/ 10021662 w 12192000"/>
              <a:gd name="connsiteY112" fmla="*/ 2691231 h 6858000"/>
              <a:gd name="connsiteX113" fmla="*/ 9904546 w 12192000"/>
              <a:gd name="connsiteY113" fmla="*/ 2515322 h 6858000"/>
              <a:gd name="connsiteX114" fmla="*/ 9885256 w 12192000"/>
              <a:gd name="connsiteY114" fmla="*/ 2487240 h 6858000"/>
              <a:gd name="connsiteX115" fmla="*/ 9842085 w 12192000"/>
              <a:gd name="connsiteY115" fmla="*/ 2431074 h 6858000"/>
              <a:gd name="connsiteX116" fmla="*/ 9718078 w 12192000"/>
              <a:gd name="connsiteY116" fmla="*/ 2417424 h 6858000"/>
              <a:gd name="connsiteX117" fmla="*/ 9782378 w 12192000"/>
              <a:gd name="connsiteY117" fmla="*/ 2377641 h 6858000"/>
              <a:gd name="connsiteX118" fmla="*/ 9907302 w 12192000"/>
              <a:gd name="connsiteY118" fmla="*/ 2243078 h 6858000"/>
              <a:gd name="connsiteX119" fmla="*/ 9824171 w 12192000"/>
              <a:gd name="connsiteY119" fmla="*/ 2114365 h 6858000"/>
              <a:gd name="connsiteX120" fmla="*/ 9818662 w 12192000"/>
              <a:gd name="connsiteY120" fmla="*/ 2043377 h 6858000"/>
              <a:gd name="connsiteX121" fmla="*/ 9958740 w 12192000"/>
              <a:gd name="connsiteY121" fmla="*/ 1952499 h 6858000"/>
              <a:gd name="connsiteX122" fmla="*/ 10064374 w 12192000"/>
              <a:gd name="connsiteY122" fmla="*/ 1916615 h 6858000"/>
              <a:gd name="connsiteX123" fmla="*/ 10113055 w 12192000"/>
              <a:gd name="connsiteY123" fmla="*/ 1865131 h 6858000"/>
              <a:gd name="connsiteX124" fmla="*/ 10055646 w 12192000"/>
              <a:gd name="connsiteY124" fmla="*/ 1822227 h 6858000"/>
              <a:gd name="connsiteX125" fmla="*/ 9800748 w 12192000"/>
              <a:gd name="connsiteY125" fmla="*/ 1720036 h 6858000"/>
              <a:gd name="connsiteX126" fmla="*/ 9938071 w 12192000"/>
              <a:gd name="connsiteY126" fmla="*/ 1634617 h 6858000"/>
              <a:gd name="connsiteX127" fmla="*/ 9220224 w 12192000"/>
              <a:gd name="connsiteY127" fmla="*/ 1231709 h 6858000"/>
              <a:gd name="connsiteX128" fmla="*/ 9133419 w 12192000"/>
              <a:gd name="connsiteY128" fmla="*/ 1170083 h 6858000"/>
              <a:gd name="connsiteX129" fmla="*/ 8672768 w 12192000"/>
              <a:gd name="connsiteY129" fmla="*/ 1020699 h 6858000"/>
              <a:gd name="connsiteX130" fmla="*/ 8198797 w 12192000"/>
              <a:gd name="connsiteY130" fmla="*/ 915000 h 6858000"/>
              <a:gd name="connsiteX131" fmla="*/ 8528095 w 12192000"/>
              <a:gd name="connsiteY131" fmla="*/ 691898 h 6858000"/>
              <a:gd name="connsiteX132" fmla="*/ 8025190 w 12192000"/>
              <a:gd name="connsiteY132" fmla="*/ 640021 h 6858000"/>
              <a:gd name="connsiteX133" fmla="*/ 7976047 w 12192000"/>
              <a:gd name="connsiteY133" fmla="*/ 641584 h 6858000"/>
              <a:gd name="connsiteX134" fmla="*/ 6988604 w 12192000"/>
              <a:gd name="connsiteY134" fmla="*/ 607260 h 6858000"/>
              <a:gd name="connsiteX135" fmla="*/ 5573116 w 12192000"/>
              <a:gd name="connsiteY135" fmla="*/ 493368 h 6858000"/>
              <a:gd name="connsiteX136" fmla="*/ 4401503 w 12192000"/>
              <a:gd name="connsiteY136" fmla="*/ 425112 h 6858000"/>
              <a:gd name="connsiteX137" fmla="*/ 3154109 w 12192000"/>
              <a:gd name="connsiteY137" fmla="*/ 292499 h 6858000"/>
              <a:gd name="connsiteX138" fmla="*/ 3094406 w 12192000"/>
              <a:gd name="connsiteY138" fmla="*/ 283966 h 6858000"/>
              <a:gd name="connsiteX139" fmla="*/ 0 w 12192000"/>
              <a:gd name="connsiteY139" fmla="*/ 0 h 6858000"/>
              <a:gd name="connsiteX140" fmla="*/ 12192000 w 12192000"/>
              <a:gd name="connsiteY140" fmla="*/ 0 h 6858000"/>
              <a:gd name="connsiteX141" fmla="*/ 12192000 w 12192000"/>
              <a:gd name="connsiteY141" fmla="*/ 6858000 h 6858000"/>
              <a:gd name="connsiteX142" fmla="*/ 0 w 12192000"/>
              <a:gd name="connsiteY142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</a:cxnLst>
            <a:rect l="l" t="t" r="r" b="b"/>
            <a:pathLst>
              <a:path w="12192000" h="6858000">
                <a:moveTo>
                  <a:pt x="3094406" y="283966"/>
                </a:moveTo>
                <a:cubicBezTo>
                  <a:pt x="3074312" y="283528"/>
                  <a:pt x="3054907" y="288795"/>
                  <a:pt x="3038833" y="309661"/>
                </a:cubicBezTo>
                <a:cubicBezTo>
                  <a:pt x="3124259" y="364657"/>
                  <a:pt x="3233105" y="343983"/>
                  <a:pt x="3348384" y="406000"/>
                </a:cubicBezTo>
                <a:cubicBezTo>
                  <a:pt x="3161001" y="386497"/>
                  <a:pt x="3012653" y="370896"/>
                  <a:pt x="2864309" y="355295"/>
                </a:cubicBezTo>
                <a:cubicBezTo>
                  <a:pt x="2861553" y="366216"/>
                  <a:pt x="2858796" y="377136"/>
                  <a:pt x="2856039" y="388058"/>
                </a:cubicBezTo>
                <a:cubicBezTo>
                  <a:pt x="3045722" y="411070"/>
                  <a:pt x="3221166" y="470356"/>
                  <a:pt x="3405794" y="512089"/>
                </a:cubicBezTo>
                <a:cubicBezTo>
                  <a:pt x="3388799" y="537835"/>
                  <a:pt x="3371808" y="532763"/>
                  <a:pt x="3356651" y="531204"/>
                </a:cubicBezTo>
                <a:cubicBezTo>
                  <a:pt x="3257907" y="521062"/>
                  <a:pt x="3159164" y="510922"/>
                  <a:pt x="3064552" y="483228"/>
                </a:cubicBezTo>
                <a:cubicBezTo>
                  <a:pt x="3043427" y="476987"/>
                  <a:pt x="3017704" y="476987"/>
                  <a:pt x="3005765" y="495708"/>
                </a:cubicBezTo>
                <a:cubicBezTo>
                  <a:pt x="2988771" y="522231"/>
                  <a:pt x="3013113" y="539393"/>
                  <a:pt x="3034700" y="553823"/>
                </a:cubicBezTo>
                <a:cubicBezTo>
                  <a:pt x="3072360" y="578787"/>
                  <a:pt x="3117827" y="571767"/>
                  <a:pt x="3161459" y="576445"/>
                </a:cubicBezTo>
                <a:cubicBezTo>
                  <a:pt x="3277655" y="588537"/>
                  <a:pt x="3333228" y="626370"/>
                  <a:pt x="3358949" y="712961"/>
                </a:cubicBezTo>
                <a:cubicBezTo>
                  <a:pt x="3256987" y="677857"/>
                  <a:pt x="3158703" y="721151"/>
                  <a:pt x="3059960" y="696576"/>
                </a:cubicBezTo>
                <a:cubicBezTo>
                  <a:pt x="3034240" y="690338"/>
                  <a:pt x="2993364" y="699698"/>
                  <a:pt x="3007143" y="729732"/>
                </a:cubicBezTo>
                <a:cubicBezTo>
                  <a:pt x="3020003" y="757814"/>
                  <a:pt x="3062716" y="778096"/>
                  <a:pt x="2986935" y="772635"/>
                </a:cubicBezTo>
                <a:cubicBezTo>
                  <a:pt x="2932740" y="768735"/>
                  <a:pt x="2826647" y="800329"/>
                  <a:pt x="2871197" y="808127"/>
                </a:cubicBezTo>
                <a:cubicBezTo>
                  <a:pt x="2927228" y="817881"/>
                  <a:pt x="2981883" y="831921"/>
                  <a:pt x="3053071" y="847913"/>
                </a:cubicBezTo>
                <a:cubicBezTo>
                  <a:pt x="2974533" y="874043"/>
                  <a:pt x="2918042" y="868584"/>
                  <a:pt x="2858796" y="847913"/>
                </a:cubicBezTo>
                <a:cubicBezTo>
                  <a:pt x="2787150" y="822949"/>
                  <a:pt x="2693916" y="792528"/>
                  <a:pt x="2635588" y="820611"/>
                </a:cubicBezTo>
                <a:cubicBezTo>
                  <a:pt x="2548326" y="862734"/>
                  <a:pt x="2475760" y="836211"/>
                  <a:pt x="2397683" y="829190"/>
                </a:cubicBezTo>
                <a:cubicBezTo>
                  <a:pt x="2238775" y="814759"/>
                  <a:pt x="2081241" y="790576"/>
                  <a:pt x="1921874" y="778877"/>
                </a:cubicBezTo>
                <a:cubicBezTo>
                  <a:pt x="1858036" y="774195"/>
                  <a:pt x="1789143" y="751964"/>
                  <a:pt x="1695450" y="782386"/>
                </a:cubicBezTo>
                <a:cubicBezTo>
                  <a:pt x="2119822" y="938012"/>
                  <a:pt x="2575423" y="928262"/>
                  <a:pt x="2954324" y="1120940"/>
                </a:cubicBezTo>
                <a:cubicBezTo>
                  <a:pt x="2938251" y="1139269"/>
                  <a:pt x="2856502" y="1191535"/>
                  <a:pt x="2890028" y="1195435"/>
                </a:cubicBezTo>
                <a:cubicBezTo>
                  <a:pt x="2984178" y="1206748"/>
                  <a:pt x="3067767" y="1244971"/>
                  <a:pt x="3153652" y="1276563"/>
                </a:cubicBezTo>
                <a:cubicBezTo>
                  <a:pt x="3190855" y="1290216"/>
                  <a:pt x="3235862" y="1308157"/>
                  <a:pt x="3218410" y="1356911"/>
                </a:cubicBezTo>
                <a:cubicBezTo>
                  <a:pt x="3186719" y="1370562"/>
                  <a:pt x="3163296" y="1351451"/>
                  <a:pt x="3137118" y="1349891"/>
                </a:cubicBezTo>
                <a:cubicBezTo>
                  <a:pt x="3110480" y="1348331"/>
                  <a:pt x="3050773" y="1358471"/>
                  <a:pt x="3067309" y="1365102"/>
                </a:cubicBezTo>
                <a:cubicBezTo>
                  <a:pt x="3142629" y="1395136"/>
                  <a:pt x="3007143" y="1467292"/>
                  <a:pt x="3096243" y="1467292"/>
                </a:cubicBezTo>
                <a:cubicBezTo>
                  <a:pt x="3245506" y="1467681"/>
                  <a:pt x="3324961" y="1595613"/>
                  <a:pt x="3468716" y="1599125"/>
                </a:cubicBezTo>
                <a:cubicBezTo>
                  <a:pt x="3491677" y="1599513"/>
                  <a:pt x="3502700" y="1622137"/>
                  <a:pt x="3502241" y="1642029"/>
                </a:cubicBezTo>
                <a:cubicBezTo>
                  <a:pt x="3502241" y="1665822"/>
                  <a:pt x="3481116" y="1670112"/>
                  <a:pt x="3457692" y="1672453"/>
                </a:cubicBezTo>
                <a:cubicBezTo>
                  <a:pt x="3421868" y="1675962"/>
                  <a:pt x="3384667" y="1642029"/>
                  <a:pt x="3337362" y="1688053"/>
                </a:cubicBezTo>
                <a:cubicBezTo>
                  <a:pt x="3422329" y="1714966"/>
                  <a:pt x="3507294" y="1741878"/>
                  <a:pt x="3505915" y="1834318"/>
                </a:cubicBezTo>
                <a:cubicBezTo>
                  <a:pt x="3505457" y="1859279"/>
                  <a:pt x="3540820" y="1868640"/>
                  <a:pt x="3567458" y="1874880"/>
                </a:cubicBezTo>
                <a:cubicBezTo>
                  <a:pt x="3611549" y="1885023"/>
                  <a:pt x="3648750" y="1902965"/>
                  <a:pt x="3672634" y="1937678"/>
                </a:cubicBezTo>
                <a:cubicBezTo>
                  <a:pt x="3672172" y="1944308"/>
                  <a:pt x="3671715" y="1951329"/>
                  <a:pt x="3674470" y="1956789"/>
                </a:cubicBezTo>
                <a:cubicBezTo>
                  <a:pt x="3666664" y="2040646"/>
                  <a:pt x="3602363" y="2038306"/>
                  <a:pt x="3531176" y="2024266"/>
                </a:cubicBezTo>
                <a:cubicBezTo>
                  <a:pt x="3446211" y="2007103"/>
                  <a:pt x="3362164" y="1975900"/>
                  <a:pt x="3272604" y="2005933"/>
                </a:cubicBezTo>
                <a:cubicBezTo>
                  <a:pt x="3398905" y="2046107"/>
                  <a:pt x="3536229" y="2049228"/>
                  <a:pt x="3654720" y="2106564"/>
                </a:cubicBezTo>
                <a:cubicBezTo>
                  <a:pt x="3221166" y="2117095"/>
                  <a:pt x="2838130" y="1936116"/>
                  <a:pt x="2417892" y="1866690"/>
                </a:cubicBezTo>
                <a:cubicBezTo>
                  <a:pt x="2432130" y="1913105"/>
                  <a:pt x="2466114" y="1922465"/>
                  <a:pt x="2496888" y="1929487"/>
                </a:cubicBezTo>
                <a:cubicBezTo>
                  <a:pt x="2652123" y="1964590"/>
                  <a:pt x="2788067" y="2034408"/>
                  <a:pt x="2929526" y="2094862"/>
                </a:cubicBezTo>
                <a:cubicBezTo>
                  <a:pt x="2987851" y="2119825"/>
                  <a:pt x="3030106" y="2144789"/>
                  <a:pt x="3052152" y="2198613"/>
                </a:cubicBezTo>
                <a:cubicBezTo>
                  <a:pt x="3071903" y="2247367"/>
                  <a:pt x="3110021" y="2269990"/>
                  <a:pt x="3180748" y="2255948"/>
                </a:cubicBezTo>
                <a:cubicBezTo>
                  <a:pt x="3238157" y="2244246"/>
                  <a:pt x="3301078" y="2250487"/>
                  <a:pt x="3361244" y="2254777"/>
                </a:cubicBezTo>
                <a:cubicBezTo>
                  <a:pt x="3430596" y="2259459"/>
                  <a:pt x="3508213" y="2314455"/>
                  <a:pt x="3489382" y="2342926"/>
                </a:cubicBezTo>
                <a:cubicBezTo>
                  <a:pt x="3457233" y="2391292"/>
                  <a:pt x="3403498" y="2367110"/>
                  <a:pt x="3355733" y="2361649"/>
                </a:cubicBezTo>
                <a:cubicBezTo>
                  <a:pt x="3301537" y="2355018"/>
                  <a:pt x="3200957" y="2341367"/>
                  <a:pt x="3199121" y="2347216"/>
                </a:cubicBezTo>
                <a:cubicBezTo>
                  <a:pt x="3163754" y="2468518"/>
                  <a:pt x="2914827" y="2362819"/>
                  <a:pt x="2861091" y="2351896"/>
                </a:cubicBezTo>
                <a:cubicBezTo>
                  <a:pt x="2794038" y="2338245"/>
                  <a:pt x="2731116" y="2363208"/>
                  <a:pt x="2667278" y="2369058"/>
                </a:cubicBezTo>
                <a:cubicBezTo>
                  <a:pt x="2610328" y="2374518"/>
                  <a:pt x="2288376" y="2391292"/>
                  <a:pt x="2221781" y="2339805"/>
                </a:cubicBezTo>
                <a:cubicBezTo>
                  <a:pt x="2212595" y="2379978"/>
                  <a:pt x="2231884" y="2396361"/>
                  <a:pt x="2247961" y="2414693"/>
                </a:cubicBezTo>
                <a:cubicBezTo>
                  <a:pt x="2270465" y="2440824"/>
                  <a:pt x="2274138" y="2459157"/>
                  <a:pt x="2231425" y="2479828"/>
                </a:cubicBezTo>
                <a:cubicBezTo>
                  <a:pt x="2109717" y="2539115"/>
                  <a:pt x="2111557" y="2541065"/>
                  <a:pt x="2224996" y="2621414"/>
                </a:cubicBezTo>
                <a:cubicBezTo>
                  <a:pt x="2230509" y="2624923"/>
                  <a:pt x="2228211" y="2636624"/>
                  <a:pt x="2229131" y="2644426"/>
                </a:cubicBezTo>
                <a:cubicBezTo>
                  <a:pt x="2199276" y="2656906"/>
                  <a:pt x="2164373" y="2625703"/>
                  <a:pt x="2129466" y="2659247"/>
                </a:cubicBezTo>
                <a:cubicBezTo>
                  <a:pt x="2281487" y="2806680"/>
                  <a:pt x="2513421" y="2842953"/>
                  <a:pt x="2723312" y="2953726"/>
                </a:cubicBezTo>
                <a:cubicBezTo>
                  <a:pt x="2553377" y="2990389"/>
                  <a:pt x="2451419" y="2862456"/>
                  <a:pt x="2326496" y="2878838"/>
                </a:cubicBezTo>
                <a:cubicBezTo>
                  <a:pt x="2264036" y="2919012"/>
                  <a:pt x="2449582" y="2983367"/>
                  <a:pt x="2272759" y="3002480"/>
                </a:cubicBezTo>
                <a:cubicBezTo>
                  <a:pt x="2349461" y="3037583"/>
                  <a:pt x="2406411" y="3071905"/>
                  <a:pt x="2459226" y="3112471"/>
                </a:cubicBezTo>
                <a:cubicBezTo>
                  <a:pt x="2553377" y="3185016"/>
                  <a:pt x="2571749" y="3232602"/>
                  <a:pt x="2528117" y="3330111"/>
                </a:cubicBezTo>
                <a:cubicBezTo>
                  <a:pt x="2499642" y="3394076"/>
                  <a:pt x="2457848" y="3452973"/>
                  <a:pt x="2494590" y="3529029"/>
                </a:cubicBezTo>
                <a:cubicBezTo>
                  <a:pt x="2520308" y="3581294"/>
                  <a:pt x="2510206" y="3615617"/>
                  <a:pt x="2414677" y="3592215"/>
                </a:cubicBezTo>
                <a:cubicBezTo>
                  <a:pt x="2311799" y="3567251"/>
                  <a:pt x="2273221" y="3614057"/>
                  <a:pt x="2298940" y="3705716"/>
                </a:cubicBezTo>
                <a:cubicBezTo>
                  <a:pt x="2315473" y="3764612"/>
                  <a:pt x="2298020" y="3782553"/>
                  <a:pt x="2227294" y="3775921"/>
                </a:cubicBezTo>
                <a:cubicBezTo>
                  <a:pt x="2149215" y="3768512"/>
                  <a:pt x="2074811" y="3729898"/>
                  <a:pt x="1978366" y="3748620"/>
                </a:cubicBezTo>
                <a:cubicBezTo>
                  <a:pt x="2055522" y="3855492"/>
                  <a:pt x="2220403" y="3825068"/>
                  <a:pt x="2310421" y="3926868"/>
                </a:cubicBezTo>
                <a:cubicBezTo>
                  <a:pt x="2202950" y="3927259"/>
                  <a:pt x="2120739" y="3926868"/>
                  <a:pt x="2041285" y="3904635"/>
                </a:cubicBezTo>
                <a:cubicBezTo>
                  <a:pt x="2008216" y="3895664"/>
                  <a:pt x="1971934" y="3886305"/>
                  <a:pt x="1953565" y="3917116"/>
                </a:cubicBezTo>
                <a:cubicBezTo>
                  <a:pt x="1931978" y="3954170"/>
                  <a:pt x="1976527" y="3968211"/>
                  <a:pt x="2003623" y="3974842"/>
                </a:cubicBezTo>
                <a:cubicBezTo>
                  <a:pt x="2079866" y="3993563"/>
                  <a:pt x="2138192" y="4038028"/>
                  <a:pt x="2201114" y="4072742"/>
                </a:cubicBezTo>
                <a:cubicBezTo>
                  <a:pt x="2339356" y="4148800"/>
                  <a:pt x="2490917" y="4212375"/>
                  <a:pt x="2608032" y="4337967"/>
                </a:cubicBezTo>
                <a:cubicBezTo>
                  <a:pt x="2460606" y="4305983"/>
                  <a:pt x="2350838" y="4231487"/>
                  <a:pt x="2213973" y="4216277"/>
                </a:cubicBezTo>
                <a:cubicBezTo>
                  <a:pt x="2332467" y="4330557"/>
                  <a:pt x="2484945" y="4405834"/>
                  <a:pt x="2629158" y="4488911"/>
                </a:cubicBezTo>
                <a:cubicBezTo>
                  <a:pt x="2670494" y="4512315"/>
                  <a:pt x="2712289" y="4528306"/>
                  <a:pt x="2721471" y="4579399"/>
                </a:cubicBezTo>
                <a:cubicBezTo>
                  <a:pt x="2739385" y="4678470"/>
                  <a:pt x="2793121" y="4760378"/>
                  <a:pt x="2907939" y="4804062"/>
                </a:cubicBezTo>
                <a:cubicBezTo>
                  <a:pt x="2908859" y="4804452"/>
                  <a:pt x="2902428" y="4819274"/>
                  <a:pt x="2898753" y="4829414"/>
                </a:cubicBezTo>
                <a:cubicBezTo>
                  <a:pt x="2828485" y="4832536"/>
                  <a:pt x="2772912" y="4774028"/>
                  <a:pt x="2683352" y="4793141"/>
                </a:cubicBezTo>
                <a:cubicBezTo>
                  <a:pt x="2769239" y="4872708"/>
                  <a:pt x="2840885" y="4944087"/>
                  <a:pt x="2962594" y="4981920"/>
                </a:cubicBezTo>
                <a:cubicBezTo>
                  <a:pt x="3059960" y="5011952"/>
                  <a:pt x="3180289" y="5029503"/>
                  <a:pt x="3251019" y="5127012"/>
                </a:cubicBezTo>
                <a:cubicBezTo>
                  <a:pt x="3168808" y="5146126"/>
                  <a:pt x="3107723" y="5121944"/>
                  <a:pt x="3046180" y="5104781"/>
                </a:cubicBezTo>
                <a:cubicBezTo>
                  <a:pt x="2952030" y="5078258"/>
                  <a:pt x="2858796" y="5048226"/>
                  <a:pt x="2764646" y="5021703"/>
                </a:cubicBezTo>
                <a:cubicBezTo>
                  <a:pt x="2728821" y="5011563"/>
                  <a:pt x="2689782" y="5004540"/>
                  <a:pt x="2666820" y="5052905"/>
                </a:cubicBezTo>
                <a:cubicBezTo>
                  <a:pt x="2786691" y="5063047"/>
                  <a:pt x="2858337" y="5128575"/>
                  <a:pt x="2933657" y="5190198"/>
                </a:cubicBezTo>
                <a:cubicBezTo>
                  <a:pt x="2975911" y="5224912"/>
                  <a:pt x="3010358" y="5271328"/>
                  <a:pt x="3086598" y="5253776"/>
                </a:cubicBezTo>
                <a:cubicBezTo>
                  <a:pt x="3126554" y="5244415"/>
                  <a:pt x="3151814" y="5270547"/>
                  <a:pt x="3147680" y="5302531"/>
                </a:cubicBezTo>
                <a:cubicBezTo>
                  <a:pt x="3132525" y="5415251"/>
                  <a:pt x="3225759" y="5454645"/>
                  <a:pt x="3322204" y="5476487"/>
                </a:cubicBezTo>
                <a:cubicBezTo>
                  <a:pt x="3504998" y="5517440"/>
                  <a:pt x="3657018" y="5613779"/>
                  <a:pt x="3834758" y="5666434"/>
                </a:cubicBezTo>
                <a:cubicBezTo>
                  <a:pt x="4007445" y="5717529"/>
                  <a:pt x="4141095" y="5838830"/>
                  <a:pt x="4314240" y="5902409"/>
                </a:cubicBezTo>
                <a:cubicBezTo>
                  <a:pt x="4439624" y="5948433"/>
                  <a:pt x="4559494" y="6007718"/>
                  <a:pt x="4688552" y="6049453"/>
                </a:cubicBezTo>
                <a:cubicBezTo>
                  <a:pt x="4993968" y="6148131"/>
                  <a:pt x="5305360" y="6227308"/>
                  <a:pt x="5634660" y="6238620"/>
                </a:cubicBezTo>
                <a:cubicBezTo>
                  <a:pt x="5906549" y="6247590"/>
                  <a:pt x="8264931" y="6239010"/>
                  <a:pt x="9222980" y="4955397"/>
                </a:cubicBezTo>
                <a:cubicBezTo>
                  <a:pt x="9241350" y="4949155"/>
                  <a:pt x="9262017" y="4932775"/>
                  <a:pt x="9268448" y="4917173"/>
                </a:cubicBezTo>
                <a:cubicBezTo>
                  <a:pt x="9299220" y="4844235"/>
                  <a:pt x="9374540" y="4812644"/>
                  <a:pt x="9442512" y="4773251"/>
                </a:cubicBezTo>
                <a:cubicBezTo>
                  <a:pt x="9502220" y="4738536"/>
                  <a:pt x="9565600" y="4702263"/>
                  <a:pt x="9590400" y="4643756"/>
                </a:cubicBezTo>
                <a:cubicBezTo>
                  <a:pt x="9623008" y="4565749"/>
                  <a:pt x="9530236" y="4629716"/>
                  <a:pt x="9513242" y="4600073"/>
                </a:cubicBezTo>
                <a:cubicBezTo>
                  <a:pt x="9548605" y="4559509"/>
                  <a:pt x="9603261" y="4522454"/>
                  <a:pt x="9617498" y="4476430"/>
                </a:cubicBezTo>
                <a:cubicBezTo>
                  <a:pt x="9669394" y="4310276"/>
                  <a:pt x="9781460" y="4189364"/>
                  <a:pt x="9949094" y="4095364"/>
                </a:cubicBezTo>
                <a:cubicBezTo>
                  <a:pt x="9997318" y="4068452"/>
                  <a:pt x="10029007" y="4019306"/>
                  <a:pt x="10094686" y="4011507"/>
                </a:cubicBezTo>
                <a:cubicBezTo>
                  <a:pt x="10240735" y="3994345"/>
                  <a:pt x="10194808" y="3860171"/>
                  <a:pt x="10271967" y="3800497"/>
                </a:cubicBezTo>
                <a:cubicBezTo>
                  <a:pt x="10286662" y="3789184"/>
                  <a:pt x="10299980" y="3766953"/>
                  <a:pt x="10297226" y="3751742"/>
                </a:cubicBezTo>
                <a:cubicBezTo>
                  <a:pt x="10293091" y="3729898"/>
                  <a:pt x="10275639" y="3709227"/>
                  <a:pt x="10260943" y="3689723"/>
                </a:cubicBezTo>
                <a:cubicBezTo>
                  <a:pt x="10245786" y="3670222"/>
                  <a:pt x="10222825" y="3653061"/>
                  <a:pt x="10233847" y="3627319"/>
                </a:cubicBezTo>
                <a:cubicBezTo>
                  <a:pt x="10238437" y="3616788"/>
                  <a:pt x="10235225" y="3580125"/>
                  <a:pt x="10269209" y="3608986"/>
                </a:cubicBezTo>
                <a:cubicBezTo>
                  <a:pt x="10362443" y="3688165"/>
                  <a:pt x="10416637" y="3613279"/>
                  <a:pt x="10496550" y="3577393"/>
                </a:cubicBezTo>
                <a:cubicBezTo>
                  <a:pt x="10432253" y="3540340"/>
                  <a:pt x="10374383" y="3514208"/>
                  <a:pt x="10364738" y="3458823"/>
                </a:cubicBezTo>
                <a:cubicBezTo>
                  <a:pt x="10344991" y="3344542"/>
                  <a:pt x="10260485" y="3292277"/>
                  <a:pt x="10132346" y="3282137"/>
                </a:cubicBezTo>
                <a:cubicBezTo>
                  <a:pt x="10179650" y="3171757"/>
                  <a:pt x="10179650" y="3171757"/>
                  <a:pt x="10026712" y="3156543"/>
                </a:cubicBezTo>
                <a:cubicBezTo>
                  <a:pt x="10085499" y="3086337"/>
                  <a:pt x="10085499" y="3068396"/>
                  <a:pt x="10014312" y="3044213"/>
                </a:cubicBezTo>
                <a:cubicBezTo>
                  <a:pt x="9945880" y="3021201"/>
                  <a:pt x="9870100" y="3013401"/>
                  <a:pt x="9806718" y="2977907"/>
                </a:cubicBezTo>
                <a:cubicBezTo>
                  <a:pt x="9865047" y="2888199"/>
                  <a:pt x="9881580" y="2784060"/>
                  <a:pt x="10001912" y="2740374"/>
                </a:cubicBezTo>
                <a:cubicBezTo>
                  <a:pt x="10020741" y="2733743"/>
                  <a:pt x="10033600" y="2706830"/>
                  <a:pt x="10021662" y="2691231"/>
                </a:cubicBezTo>
                <a:cubicBezTo>
                  <a:pt x="9978030" y="2634675"/>
                  <a:pt x="10040492" y="2527414"/>
                  <a:pt x="9904546" y="2515322"/>
                </a:cubicBezTo>
                <a:cubicBezTo>
                  <a:pt x="9887552" y="2514152"/>
                  <a:pt x="9871936" y="2502450"/>
                  <a:pt x="9885256" y="2487240"/>
                </a:cubicBezTo>
                <a:cubicBezTo>
                  <a:pt x="9931184" y="2434196"/>
                  <a:pt x="9875611" y="2437706"/>
                  <a:pt x="9842085" y="2431074"/>
                </a:cubicBezTo>
                <a:cubicBezTo>
                  <a:pt x="9801668" y="2422884"/>
                  <a:pt x="9755740" y="2446287"/>
                  <a:pt x="9718078" y="2417424"/>
                </a:cubicBezTo>
                <a:cubicBezTo>
                  <a:pt x="9726806" y="2386999"/>
                  <a:pt x="9759413" y="2387390"/>
                  <a:pt x="9782378" y="2377641"/>
                </a:cubicBezTo>
                <a:cubicBezTo>
                  <a:pt x="9849430" y="2349558"/>
                  <a:pt x="9904086" y="2316013"/>
                  <a:pt x="9907302" y="2243078"/>
                </a:cubicBezTo>
                <a:cubicBezTo>
                  <a:pt x="9909596" y="2184182"/>
                  <a:pt x="9916946" y="2132305"/>
                  <a:pt x="9824171" y="2114365"/>
                </a:cubicBezTo>
                <a:cubicBezTo>
                  <a:pt x="9785593" y="2106953"/>
                  <a:pt x="9796616" y="2064440"/>
                  <a:pt x="9818662" y="2043377"/>
                </a:cubicBezTo>
                <a:cubicBezTo>
                  <a:pt x="9858160" y="2005933"/>
                  <a:pt x="9890766" y="1956008"/>
                  <a:pt x="9958740" y="1952499"/>
                </a:cubicBezTo>
                <a:cubicBezTo>
                  <a:pt x="10000075" y="1950158"/>
                  <a:pt x="10031764" y="1934556"/>
                  <a:pt x="10064374" y="1916615"/>
                </a:cubicBezTo>
                <a:cubicBezTo>
                  <a:pt x="10087795" y="1903743"/>
                  <a:pt x="10115810" y="1892823"/>
                  <a:pt x="10113055" y="1865131"/>
                </a:cubicBezTo>
                <a:cubicBezTo>
                  <a:pt x="10110302" y="1838607"/>
                  <a:pt x="10083203" y="1827686"/>
                  <a:pt x="10055646" y="1822227"/>
                </a:cubicBezTo>
                <a:cubicBezTo>
                  <a:pt x="9963792" y="1804675"/>
                  <a:pt x="9877448" y="1778933"/>
                  <a:pt x="9800748" y="1720036"/>
                </a:cubicBezTo>
                <a:cubicBezTo>
                  <a:pt x="9851726" y="1688834"/>
                  <a:pt x="9900410" y="1666211"/>
                  <a:pt x="9938071" y="1634617"/>
                </a:cubicBezTo>
                <a:cubicBezTo>
                  <a:pt x="10029007" y="1558172"/>
                  <a:pt x="9258802" y="1317517"/>
                  <a:pt x="9220224" y="1231709"/>
                </a:cubicBezTo>
                <a:cubicBezTo>
                  <a:pt x="9208284" y="1205187"/>
                  <a:pt x="9167410" y="1177883"/>
                  <a:pt x="9133419" y="1170083"/>
                </a:cubicBezTo>
                <a:cubicBezTo>
                  <a:pt x="8974052" y="1133420"/>
                  <a:pt x="8835810" y="1051123"/>
                  <a:pt x="8672768" y="1020699"/>
                </a:cubicBezTo>
                <a:cubicBezTo>
                  <a:pt x="8518912" y="991837"/>
                  <a:pt x="8367350" y="953222"/>
                  <a:pt x="8198797" y="915000"/>
                </a:cubicBezTo>
                <a:cubicBezTo>
                  <a:pt x="8302134" y="819048"/>
                  <a:pt x="8485382" y="830361"/>
                  <a:pt x="8528095" y="691898"/>
                </a:cubicBezTo>
                <a:cubicBezTo>
                  <a:pt x="8361379" y="656013"/>
                  <a:pt x="8185937" y="696968"/>
                  <a:pt x="8025190" y="640021"/>
                </a:cubicBezTo>
                <a:cubicBezTo>
                  <a:pt x="8011411" y="634954"/>
                  <a:pt x="7992579" y="640021"/>
                  <a:pt x="7976047" y="641584"/>
                </a:cubicBezTo>
                <a:cubicBezTo>
                  <a:pt x="7644909" y="672005"/>
                  <a:pt x="7315149" y="645484"/>
                  <a:pt x="6988604" y="607260"/>
                </a:cubicBezTo>
                <a:cubicBezTo>
                  <a:pt x="6518305" y="552656"/>
                  <a:pt x="6046170" y="517941"/>
                  <a:pt x="5573116" y="493368"/>
                </a:cubicBezTo>
                <a:cubicBezTo>
                  <a:pt x="5182272" y="473086"/>
                  <a:pt x="4790511" y="464116"/>
                  <a:pt x="4401503" y="425112"/>
                </a:cubicBezTo>
                <a:cubicBezTo>
                  <a:pt x="3985401" y="383379"/>
                  <a:pt x="3569756" y="336184"/>
                  <a:pt x="3154109" y="292499"/>
                </a:cubicBezTo>
                <a:cubicBezTo>
                  <a:pt x="3135280" y="290549"/>
                  <a:pt x="3114499" y="284406"/>
                  <a:pt x="3094406" y="283966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26" name="Picture 2" descr="Home - Walhub">
            <a:extLst>
              <a:ext uri="{FF2B5EF4-FFF2-40B4-BE49-F238E27FC236}">
                <a16:creationId xmlns:a16="http://schemas.microsoft.com/office/drawing/2014/main" id="{F7AA15B2-8CDD-4732-0690-3E2DEFEB2E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41844" y="2020224"/>
            <a:ext cx="4768755" cy="2469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5957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018F347-98F0-2EA3-EB71-33E05013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4560584" cy="1128068"/>
          </a:xfrm>
        </p:spPr>
        <p:txBody>
          <a:bodyPr anchor="ctr">
            <a:normAutofit/>
          </a:bodyPr>
          <a:lstStyle/>
          <a:p>
            <a:r>
              <a:rPr lang="fr-FR" sz="4000" b="1"/>
              <a:t>Pluo: </a:t>
            </a:r>
            <a:endParaRPr lang="es-AR" sz="400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3B17BC-88EF-17BD-36F4-4C0A21121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4559425" cy="3979585"/>
          </a:xfrm>
        </p:spPr>
        <p:txBody>
          <a:bodyPr anchor="ctr">
            <a:normAutofit/>
          </a:bodyPr>
          <a:lstStyle/>
          <a:p>
            <a:r>
              <a:rPr lang="es-AR" sz="2000"/>
              <a:t>Secteur d’activité</a:t>
            </a:r>
          </a:p>
          <a:p>
            <a:r>
              <a:rPr lang="fr-FR" sz="2000"/>
              <a:t>Leurs besoins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Image 7" descr="Une image contenant intérieur, plafond, bâtiment, exposition&#10;&#10;Le contenu généré par l’IA peut être incorrect.">
            <a:extLst>
              <a:ext uri="{FF2B5EF4-FFF2-40B4-BE49-F238E27FC236}">
                <a16:creationId xmlns:a16="http://schemas.microsoft.com/office/drawing/2014/main" id="{28BE203B-ADF5-EC67-9990-0C92B7BC1B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53" r="15547" b="1"/>
          <a:stretch>
            <a:fillRect/>
          </a:stretch>
        </p:blipFill>
        <p:spPr>
          <a:xfrm>
            <a:off x="5977788" y="799352"/>
            <a:ext cx="5425410" cy="5259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705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B4852D-15A4-3270-E0AA-428BB9CDC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12796D7-9D1C-B2CC-06BC-F8745FA83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fr-FR" sz="4800" b="1"/>
              <a:t>Types de données à  dispositions</a:t>
            </a:r>
            <a:endParaRPr lang="es-AR" sz="48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DC04C9-6851-C486-019B-A0AF15BF5F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fr-FR" sz="2000" dirty="0"/>
              <a:t>Fichier Excel</a:t>
            </a:r>
          </a:p>
          <a:p>
            <a:r>
              <a:rPr lang="fr-FR" sz="2000" dirty="0"/>
              <a:t>Un fichier </a:t>
            </a:r>
            <a:r>
              <a:rPr lang="fr-FR" sz="2000" dirty="0" err="1"/>
              <a:t>Vectorworks</a:t>
            </a:r>
            <a:endParaRPr lang="fr-FR" sz="20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4D4CED-EC47-90BE-40E1-500ABB0F3E02}"/>
              </a:ext>
            </a:extLst>
          </p:cNvPr>
          <p:cNvSpPr/>
          <p:nvPr/>
        </p:nvSpPr>
        <p:spPr>
          <a:xfrm>
            <a:off x="9953248" y="5852049"/>
            <a:ext cx="977153" cy="304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794637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FFB60E8C-7224-44A4-87A0-46A1711DD2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1E92D83-42A4-0D83-4B6B-105F6E559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528" y="386930"/>
            <a:ext cx="10141799" cy="1300554"/>
          </a:xfrm>
        </p:spPr>
        <p:txBody>
          <a:bodyPr anchor="b">
            <a:normAutofit/>
          </a:bodyPr>
          <a:lstStyle/>
          <a:p>
            <a:r>
              <a:rPr lang="fr-FR" sz="4800" dirty="0"/>
              <a:t>Estimation par LLM</a:t>
            </a:r>
            <a:endParaRPr lang="es-AR" sz="48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DA32751-37A2-45C0-BE94-63D375E27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 descr="Une image contenant Graphique, logo, graphisme, Police&#10;&#10;Le contenu généré par l’IA peut être incorrect.">
            <a:extLst>
              <a:ext uri="{FF2B5EF4-FFF2-40B4-BE49-F238E27FC236}">
                <a16:creationId xmlns:a16="http://schemas.microsoft.com/office/drawing/2014/main" id="{6E739D2C-9F2D-81DF-AC90-D807A25184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6427" y="2888559"/>
            <a:ext cx="5150277" cy="2897030"/>
          </a:xfrm>
          <a:prstGeom prst="rect">
            <a:avLst/>
          </a:prstGeom>
        </p:spPr>
      </p:pic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AD9495C3-24A6-984B-723E-E2C14A370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934" y="2389218"/>
            <a:ext cx="4530898" cy="3639450"/>
          </a:xfrm>
        </p:spPr>
        <p:txBody>
          <a:bodyPr anchor="ctr">
            <a:normAutofit/>
          </a:bodyPr>
          <a:lstStyle/>
          <a:p>
            <a:endParaRPr lang="es-AR" sz="2000" dirty="0"/>
          </a:p>
          <a:p>
            <a:r>
              <a:rPr lang="es-AR" sz="2000" dirty="0" err="1"/>
              <a:t>Multimodale</a:t>
            </a:r>
            <a:endParaRPr lang="es-AR" sz="2000" dirty="0"/>
          </a:p>
          <a:p>
            <a:r>
              <a:rPr lang="es-AR" sz="2000" dirty="0" err="1"/>
              <a:t>Raisonnement</a:t>
            </a:r>
            <a:endParaRPr lang="es-AR" sz="2000" dirty="0"/>
          </a:p>
          <a:p>
            <a:r>
              <a:rPr lang="fr-FR" sz="2000" dirty="0"/>
              <a:t>Gemini 2.5 flash</a:t>
            </a:r>
          </a:p>
          <a:p>
            <a:pPr marL="0" indent="0">
              <a:buNone/>
            </a:pPr>
            <a:endParaRPr lang="es-AR" sz="20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A55FBCD-CD42-40F5-8A1B-3203F9CAE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61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7" name="Rectangle 76">
            <a:extLst>
              <a:ext uri="{FF2B5EF4-FFF2-40B4-BE49-F238E27FC236}">
                <a16:creationId xmlns:a16="http://schemas.microsoft.com/office/drawing/2014/main" id="{BA79A7CF-01AF-4178-9369-94E0C90EB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50DEDDE-9DED-37E1-9349-816BE7196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7909" y="2023110"/>
            <a:ext cx="2469624" cy="28460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7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Image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9413ED5-9ED4-4772-BCE4-2BCAE6B1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433973" y="-827233"/>
            <a:ext cx="1715478" cy="85834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085" y="664308"/>
            <a:ext cx="8082632" cy="56003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 3" descr="Une image contenant conception&#10;&#10;Le contenu généré par l’IA peut être incorrect.">
            <a:extLst>
              <a:ext uri="{FF2B5EF4-FFF2-40B4-BE49-F238E27FC236}">
                <a16:creationId xmlns:a16="http://schemas.microsoft.com/office/drawing/2014/main" id="{0503F361-82B5-C173-30EF-20D95B1C5E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45" r="10693" b="2"/>
          <a:stretch>
            <a:fillRect/>
          </a:stretch>
        </p:blipFill>
        <p:spPr>
          <a:xfrm>
            <a:off x="1661128" y="858525"/>
            <a:ext cx="5376523" cy="5211906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90F533E9-6690-41A8-A372-4C6C622D0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950447" y="3392097"/>
            <a:ext cx="1719072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8488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3B5995-0A83-E8B1-3BB0-EE31CD2EB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6" name="Rectangle 55">
            <a:extLst>
              <a:ext uri="{FF2B5EF4-FFF2-40B4-BE49-F238E27FC236}">
                <a16:creationId xmlns:a16="http://schemas.microsoft.com/office/drawing/2014/main" id="{BA79A7CF-01AF-4178-9369-94E0C90EB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6937134-3E9A-C21D-A688-C86CD8F8E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7909" y="2023110"/>
            <a:ext cx="2469624" cy="28460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z="4000" dirty="0"/>
              <a:t>Données textuelles</a:t>
            </a:r>
            <a:endParaRPr lang="en-US" sz="37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9413ED5-9ED4-4772-BCE4-2BCAE6B1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433973" y="-827233"/>
            <a:ext cx="1715478" cy="85834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085" y="664308"/>
            <a:ext cx="8082632" cy="56003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 3" descr="Une image contenant texte, capture d’écran, ligne, Police&#10;&#10;Le contenu généré par l’IA peut être incorrect.">
            <a:extLst>
              <a:ext uri="{FF2B5EF4-FFF2-40B4-BE49-F238E27FC236}">
                <a16:creationId xmlns:a16="http://schemas.microsoft.com/office/drawing/2014/main" id="{8B3A4F61-5054-F2B5-B08B-B2EC44F9F0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8987" b="1"/>
          <a:stretch>
            <a:fillRect/>
          </a:stretch>
        </p:blipFill>
        <p:spPr>
          <a:xfrm>
            <a:off x="545238" y="1227334"/>
            <a:ext cx="7608304" cy="4474288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90F533E9-6690-41A8-A372-4C6C622D0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950447" y="3392097"/>
            <a:ext cx="1719072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57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29C2CF4-9C9E-0AE0-07D4-821DC5913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fr-FR" sz="4800"/>
              <a:t>Fichier STL</a:t>
            </a:r>
            <a:endParaRPr lang="es-AR" sz="480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C69139D-ACD7-DA3C-913F-D7CA99A9E9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fr-FR" sz="2000" dirty="0"/>
              <a:t>Isoler la pièce</a:t>
            </a:r>
          </a:p>
          <a:p>
            <a:r>
              <a:rPr lang="fr-FR" sz="2000" dirty="0"/>
              <a:t>Export de la pièce au format STL</a:t>
            </a:r>
          </a:p>
          <a:p>
            <a:r>
              <a:rPr lang="fr-FR" sz="2000" dirty="0"/>
              <a:t>Ce fichier contient :</a:t>
            </a:r>
          </a:p>
          <a:p>
            <a:pPr lvl="1"/>
            <a:r>
              <a:rPr lang="fr-FR" sz="2000" dirty="0"/>
              <a:t>la géométrie 3D</a:t>
            </a:r>
          </a:p>
          <a:p>
            <a:pPr lvl="1"/>
            <a:r>
              <a:rPr lang="fr-FR" sz="2000" dirty="0"/>
              <a:t>le volume de la pièce</a:t>
            </a:r>
            <a:endParaRPr lang="es-AR" sz="2000" dirty="0"/>
          </a:p>
        </p:txBody>
      </p:sp>
      <p:pic>
        <p:nvPicPr>
          <p:cNvPr id="8" name="Image 7" descr="Une image contenant croquis, dessin, art, conception&#10;&#10;Le contenu généré par l’IA peut être incorrect.">
            <a:extLst>
              <a:ext uri="{FF2B5EF4-FFF2-40B4-BE49-F238E27FC236}">
                <a16:creationId xmlns:a16="http://schemas.microsoft.com/office/drawing/2014/main" id="{9D4BEC2C-210C-AEE0-0963-510742BDB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532" y="2970116"/>
            <a:ext cx="5150277" cy="2742522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5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B78C39-F60A-997F-F0B9-7A19DE849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4" name="Rectangle 83">
            <a:extLst>
              <a:ext uri="{FF2B5EF4-FFF2-40B4-BE49-F238E27FC236}">
                <a16:creationId xmlns:a16="http://schemas.microsoft.com/office/drawing/2014/main" id="{8B9AA7C6-5E5A-498E-A6DF-A943376E0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5" name="Group 76">
            <a:extLst>
              <a:ext uri="{FF2B5EF4-FFF2-40B4-BE49-F238E27FC236}">
                <a16:creationId xmlns:a16="http://schemas.microsoft.com/office/drawing/2014/main" id="{83EAB11A-76F7-48F4-9B4F-5BFDF4BF9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4300" y="2385102"/>
            <a:ext cx="574091" cy="2087796"/>
            <a:chOff x="209668" y="2857422"/>
            <a:chExt cx="463662" cy="208779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74D4C416-D5F4-4F6F-A6F1-87A21CD4FC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423947" y="2857422"/>
              <a:ext cx="249383" cy="208779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C6AC1C30-21C6-4BF6-93EE-B211D7A85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209668" y="2857423"/>
              <a:ext cx="1" cy="208779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Rectangle 86">
            <a:extLst>
              <a:ext uri="{FF2B5EF4-FFF2-40B4-BE49-F238E27FC236}">
                <a16:creationId xmlns:a16="http://schemas.microsoft.com/office/drawing/2014/main" id="{81E140AE-0ABF-47C8-BF32-7D2F0CF2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631767"/>
            <a:ext cx="11111729" cy="575240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CB07747-4D69-5ABF-258D-80F805A4D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3618" y="1239927"/>
            <a:ext cx="4008586" cy="4680583"/>
          </a:xfrm>
        </p:spPr>
        <p:txBody>
          <a:bodyPr anchor="ctr">
            <a:normAutofit/>
          </a:bodyPr>
          <a:lstStyle/>
          <a:p>
            <a:r>
              <a:rPr lang="fr-FR" sz="5200" dirty="0"/>
              <a:t>Prompt</a:t>
            </a:r>
            <a:endParaRPr lang="es-AR" sz="52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15C691-8D23-2BBB-9895-63EAE85A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1923" y="1239927"/>
            <a:ext cx="4971824" cy="468058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FR" sz="1000" dirty="0"/>
              <a:t>Tu es un expert en devis pour une entreprise spécialisée dans la fabrication de meubles sur mesure.</a:t>
            </a:r>
            <a:br>
              <a:rPr lang="fr-FR" sz="1000" dirty="0"/>
            </a:br>
            <a:r>
              <a:rPr lang="fr-FR" sz="1000" dirty="0"/>
              <a:t>Tu vas analyser trois types d'entrée : une image du meuble, un fichier STL du meuble, et la liste des matériaux nécessaires à la fabrication du meuble.</a:t>
            </a:r>
            <a:br>
              <a:rPr lang="fr-FR" sz="1000" dirty="0"/>
            </a:br>
            <a:br>
              <a:rPr lang="fr-FR" sz="1000" dirty="0"/>
            </a:br>
            <a:r>
              <a:rPr lang="fr-FR" sz="1000" dirty="0"/>
              <a:t>Ta tâche consiste à :</a:t>
            </a:r>
            <a:br>
              <a:rPr lang="fr-FR" sz="1000" dirty="0"/>
            </a:br>
            <a:r>
              <a:rPr lang="fr-FR" sz="1000" dirty="0"/>
              <a:t>1. Évaluer la complexité du meuble en s’appuyant sur les documents fournis. Dans le STL, la longueur du meuble est de 484 cm ; je te laisse en déduire le reste des cotes.</a:t>
            </a:r>
            <a:br>
              <a:rPr lang="fr-FR" sz="1000" dirty="0"/>
            </a:br>
            <a:r>
              <a:rPr lang="fr-FR" sz="1000" dirty="0"/>
              <a:t>2. Estimer la quantité nécessaire pour chacun des matériaux suivants :</a:t>
            </a:r>
            <a:br>
              <a:rPr lang="fr-FR" sz="1000" dirty="0"/>
            </a:br>
            <a:r>
              <a:rPr lang="fr-FR" sz="1000" dirty="0"/>
              <a:t>- Tube 30 mm x 30 mm</a:t>
            </a:r>
            <a:br>
              <a:rPr lang="fr-FR" sz="1000" dirty="0"/>
            </a:br>
            <a:r>
              <a:rPr lang="fr-FR" sz="1000" dirty="0"/>
              <a:t>- SOFTWOOD 18 mm (244 cm x 122 cm)</a:t>
            </a:r>
            <a:br>
              <a:rPr lang="fr-FR" sz="1000" dirty="0"/>
            </a:br>
            <a:r>
              <a:rPr lang="fr-FR" sz="1000" dirty="0"/>
              <a:t>- MDF 18 mm (305 cm x 122 cm)</a:t>
            </a:r>
            <a:br>
              <a:rPr lang="fr-FR" sz="1000" dirty="0"/>
            </a:br>
            <a:r>
              <a:rPr lang="fr-FR" sz="1000" dirty="0"/>
              <a:t>- MDF 9 mm (305 cm x 122 cm)</a:t>
            </a:r>
            <a:br>
              <a:rPr lang="fr-FR" sz="1000" dirty="0"/>
            </a:br>
            <a:r>
              <a:rPr lang="fr-FR" sz="1000" dirty="0"/>
              <a:t>- STRAT EGGER W1000 ST9 BLANC (305 cm x 130 cm)</a:t>
            </a:r>
            <a:br>
              <a:rPr lang="fr-FR" sz="1000" dirty="0"/>
            </a:br>
            <a:r>
              <a:rPr lang="fr-FR" sz="1000" dirty="0"/>
              <a:t>3. Estimer le temps de main-d'œuvre requis par type :</a:t>
            </a:r>
            <a:br>
              <a:rPr lang="fr-FR" sz="1000" dirty="0"/>
            </a:br>
            <a:r>
              <a:rPr lang="fr-FR" sz="1000" dirty="0"/>
              <a:t>- M.O. menuiserie</a:t>
            </a:r>
            <a:br>
              <a:rPr lang="fr-FR" sz="1000" dirty="0"/>
            </a:br>
            <a:r>
              <a:rPr lang="fr-FR" sz="1000" dirty="0"/>
              <a:t>- M.O. CNC</a:t>
            </a:r>
            <a:br>
              <a:rPr lang="fr-FR" sz="1000" dirty="0"/>
            </a:br>
            <a:r>
              <a:rPr lang="fr-FR" sz="1000" dirty="0"/>
              <a:t>- M.O. scie</a:t>
            </a:r>
            <a:br>
              <a:rPr lang="fr-FR" sz="1000" dirty="0"/>
            </a:br>
            <a:r>
              <a:rPr lang="fr-FR" sz="1000" dirty="0"/>
              <a:t>4. Calculer le prix total du projet, en prenant en compte :</a:t>
            </a:r>
            <a:br>
              <a:rPr lang="fr-FR" sz="1000" dirty="0"/>
            </a:br>
            <a:r>
              <a:rPr lang="fr-FR" sz="1000" dirty="0"/>
              <a:t>- Le coût des matériaux utilisés</a:t>
            </a:r>
            <a:br>
              <a:rPr lang="fr-FR" sz="1000" dirty="0"/>
            </a:br>
            <a:r>
              <a:rPr lang="fr-FR" sz="1000" dirty="0"/>
              <a:t>- Le coût horaire de la main-d'œuvre, selon les tarifs suivants :</a:t>
            </a:r>
            <a:br>
              <a:rPr lang="fr-FR" sz="1000" dirty="0"/>
            </a:br>
            <a:r>
              <a:rPr lang="fr-FR" sz="1000" dirty="0"/>
              <a:t>- M.O. menuiserie : 35,31 € / h</a:t>
            </a:r>
            <a:br>
              <a:rPr lang="fr-FR" sz="1000" dirty="0"/>
            </a:br>
            <a:r>
              <a:rPr lang="fr-FR" sz="1000" dirty="0"/>
              <a:t>- M.O. CNC : 40,58 € / h</a:t>
            </a:r>
            <a:br>
              <a:rPr lang="fr-FR" sz="1000" dirty="0"/>
            </a:br>
            <a:r>
              <a:rPr lang="fr-FR" sz="1000" dirty="0"/>
              <a:t>- M.O. scie : 40,58 € / h</a:t>
            </a:r>
            <a:br>
              <a:rPr lang="fr-FR" sz="1000" dirty="0"/>
            </a:br>
            <a:br>
              <a:rPr lang="fr-FR" sz="1000" dirty="0"/>
            </a:br>
            <a:r>
              <a:rPr lang="fr-FR" sz="1000" dirty="0"/>
              <a:t>Ne me détaille pas les calculs. Donne uniquement le résultat final au format JSON suivant, sans aucun texte autour :</a:t>
            </a:r>
            <a:br>
              <a:rPr lang="fr-FR" sz="1000" dirty="0"/>
            </a:br>
            <a:br>
              <a:rPr lang="fr-FR" sz="1000" dirty="0"/>
            </a:br>
            <a:r>
              <a:rPr lang="fr-FR" sz="1000" dirty="0"/>
              <a:t>{</a:t>
            </a:r>
            <a:br>
              <a:rPr lang="fr-FR" sz="1000" dirty="0"/>
            </a:br>
            <a:r>
              <a:rPr lang="fr-FR" sz="1000" dirty="0"/>
              <a:t>"</a:t>
            </a:r>
            <a:r>
              <a:rPr lang="fr-FR" sz="1000" dirty="0" err="1"/>
              <a:t>prix_final</a:t>
            </a:r>
            <a:r>
              <a:rPr lang="fr-FR" sz="1000" dirty="0"/>
              <a:t>": 0.00,</a:t>
            </a:r>
            <a:br>
              <a:rPr lang="fr-FR" sz="1000" dirty="0"/>
            </a:br>
            <a:r>
              <a:rPr lang="fr-FR" sz="1000" dirty="0"/>
              <a:t>"</a:t>
            </a:r>
            <a:r>
              <a:rPr lang="fr-FR" sz="1000" dirty="0" err="1"/>
              <a:t>prix_material</a:t>
            </a:r>
            <a:r>
              <a:rPr lang="fr-FR" sz="1000" dirty="0"/>
              <a:t>": 0.00,</a:t>
            </a:r>
            <a:br>
              <a:rPr lang="fr-FR" sz="1000" dirty="0"/>
            </a:br>
            <a:r>
              <a:rPr lang="fr-FR" sz="1000" dirty="0"/>
              <a:t>"</a:t>
            </a:r>
            <a:r>
              <a:rPr lang="fr-FR" sz="1000" dirty="0" err="1"/>
              <a:t>prix_manoeuvre</a:t>
            </a:r>
            <a:r>
              <a:rPr lang="fr-FR" sz="1000" dirty="0"/>
              <a:t>": 0.00</a:t>
            </a:r>
            <a:br>
              <a:rPr lang="fr-FR" sz="1000" dirty="0"/>
            </a:br>
            <a:r>
              <a:rPr lang="fr-FR" sz="1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54883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6B23D79-AC24-65D4-FEC1-10387E8B8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fr-FR" sz="5400" dirty="0"/>
              <a:t>Résultat: </a:t>
            </a:r>
            <a:endParaRPr lang="es-AR" sz="54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1873E2-A88F-6CA7-06E7-FDFD8E2DA8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fr-FR" sz="2400" dirty="0"/>
              <a:t>Pour la gondole :</a:t>
            </a:r>
            <a:br>
              <a:rPr lang="fr-FR" sz="2400" dirty="0"/>
            </a:br>
            <a:r>
              <a:rPr lang="fr-FR" sz="2400" dirty="0"/>
              <a:t>Prix estimé par </a:t>
            </a:r>
            <a:r>
              <a:rPr lang="fr-FR" sz="2400" dirty="0" err="1"/>
              <a:t>Pluo</a:t>
            </a:r>
            <a:r>
              <a:rPr lang="fr-FR" sz="2400" dirty="0"/>
              <a:t> : 5115 euros</a:t>
            </a:r>
            <a:br>
              <a:rPr lang="fr-FR" sz="2400" dirty="0"/>
            </a:br>
            <a:r>
              <a:rPr lang="fr-FR" sz="2400" dirty="0"/>
              <a:t>Prix estimé par Gemini : 5000 - 6000 euros</a:t>
            </a:r>
          </a:p>
          <a:p>
            <a:pPr marL="0" indent="0">
              <a:buNone/>
            </a:pPr>
            <a:endParaRPr lang="fr-FR" sz="2400" dirty="0"/>
          </a:p>
          <a:p>
            <a:r>
              <a:rPr lang="fr-FR" sz="2400" dirty="0"/>
              <a:t>Temps de traitement : </a:t>
            </a:r>
          </a:p>
          <a:p>
            <a:pPr lvl="1"/>
            <a:r>
              <a:rPr lang="fr-FR" sz="2000" dirty="0"/>
              <a:t>environ 10 minutes sans abonnement.</a:t>
            </a:r>
          </a:p>
          <a:p>
            <a:pPr lvl="1"/>
            <a:r>
              <a:rPr lang="fr-FR" sz="2000" dirty="0"/>
              <a:t>Avec un abonnement, le temps de traitement peut être de 2 à 3 minutes.</a:t>
            </a:r>
          </a:p>
        </p:txBody>
      </p:sp>
    </p:spTree>
    <p:extLst>
      <p:ext uri="{BB962C8B-B14F-4D97-AF65-F5344CB8AC3E}">
        <p14:creationId xmlns:p14="http://schemas.microsoft.com/office/powerpoint/2010/main" val="2943464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CA3430F-6B83-2950-080E-ABF55EA46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Possibilité d’optimisation: </a:t>
            </a:r>
            <a:endParaRPr lang="es-AR" sz="4000" dirty="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CD4919-D435-1EA6-5A1C-2F9DC2D68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FR" sz="2000" dirty="0"/>
              <a:t>Fournir des exemples au modèle, si possible à deux niveaux de difficulté, afin de l’encadrer dans l’estimation du prix.</a:t>
            </a:r>
          </a:p>
          <a:p>
            <a:r>
              <a:rPr lang="fr-FR" sz="2000" dirty="0"/>
              <a:t>Entraîner un LLM spécialement pour cette tâche.</a:t>
            </a:r>
          </a:p>
          <a:p>
            <a:r>
              <a:rPr lang="fr-FR" sz="2000" dirty="0"/>
              <a:t>Entraîner un agent pour obtenir les prix réels des matériaux.</a:t>
            </a:r>
          </a:p>
          <a:p>
            <a:r>
              <a:rPr lang="fr-FR" sz="2000" dirty="0"/>
              <a:t>…</a:t>
            </a:r>
          </a:p>
          <a:p>
            <a:pPr marL="0" indent="0">
              <a:buNone/>
            </a:pPr>
            <a:endParaRPr lang="es-AR" sz="2000" dirty="0"/>
          </a:p>
        </p:txBody>
      </p:sp>
    </p:spTree>
    <p:extLst>
      <p:ext uri="{BB962C8B-B14F-4D97-AF65-F5344CB8AC3E}">
        <p14:creationId xmlns:p14="http://schemas.microsoft.com/office/powerpoint/2010/main" val="3315021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A8681C-768A-19BC-5B0F-889B95172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E510007-3622-180B-4C30-779080517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C78CE7-AAA7-D395-61E4-2C96CC44B1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BA535D-A87E-52F3-9F45-DD19AF7F5F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3FF0A4-B3E8-AE49-3D22-35DF0C8EF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29DA14-3418-84F6-991D-711CB992B8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6E64E2B-37B8-4573-C4F1-B7127164A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186145-82C6-4BFB-0BD3-DE4806066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Défis:</a:t>
            </a:r>
            <a:endParaRPr lang="es-AR" sz="4000" dirty="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A66AA5-0DCD-96FD-9B79-910F872FE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1"/>
            <a:ext cx="4862447" cy="5188280"/>
          </a:xfrm>
        </p:spPr>
        <p:txBody>
          <a:bodyPr anchor="ctr">
            <a:normAutofit/>
          </a:bodyPr>
          <a:lstStyle/>
          <a:p>
            <a:r>
              <a:rPr lang="fr-FR" dirty="0"/>
              <a:t>Le nombre de </a:t>
            </a:r>
            <a:r>
              <a:rPr lang="fr-FR" dirty="0" err="1"/>
              <a:t>tokens</a:t>
            </a:r>
            <a:r>
              <a:rPr lang="fr-FR" dirty="0"/>
              <a:t> des fichiers STL.</a:t>
            </a:r>
          </a:p>
          <a:p>
            <a:r>
              <a:rPr lang="fr-FR" dirty="0"/>
              <a:t>Le coût potentiel d’un LLM plus performant.</a:t>
            </a:r>
          </a:p>
          <a:p>
            <a:r>
              <a:rPr lang="fr-FR" dirty="0"/>
              <a:t>La complexité des meubles.</a:t>
            </a:r>
            <a:endParaRPr lang="es-AR" dirty="0"/>
          </a:p>
          <a:p>
            <a:pPr marL="0" indent="0">
              <a:buNone/>
            </a:pPr>
            <a:endParaRPr lang="es-AR" sz="2000" dirty="0"/>
          </a:p>
        </p:txBody>
      </p:sp>
    </p:spTree>
    <p:extLst>
      <p:ext uri="{BB962C8B-B14F-4D97-AF65-F5344CB8AC3E}">
        <p14:creationId xmlns:p14="http://schemas.microsoft.com/office/powerpoint/2010/main" val="29581207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F7F70E-92B8-3CB6-7209-7D8961998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ABB8C1-F48D-C278-4357-B2C977277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64301618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2564</TotalTime>
  <Words>647</Words>
  <Application>Microsoft Office PowerPoint</Application>
  <PresentationFormat>Grand écran</PresentationFormat>
  <Paragraphs>76</Paragraphs>
  <Slides>13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Thème Office</vt:lpstr>
      <vt:lpstr>Solution d’estimation de prix avec LLM pour Pluo</vt:lpstr>
      <vt:lpstr>Présentation PowerPoint</vt:lpstr>
      <vt:lpstr>Pluo: </vt:lpstr>
      <vt:lpstr>Types de données à  dispositions</vt:lpstr>
      <vt:lpstr>Estimation par LLM</vt:lpstr>
      <vt:lpstr>Image</vt:lpstr>
      <vt:lpstr>Données textuelles</vt:lpstr>
      <vt:lpstr>Fichier STL</vt:lpstr>
      <vt:lpstr>Prompt</vt:lpstr>
      <vt:lpstr>Résultat: </vt:lpstr>
      <vt:lpstr>Possibilité d’optimisation: </vt:lpstr>
      <vt:lpstr>Défis: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MOUGNE Robin</dc:creator>
  <cp:lastModifiedBy>MOUGNE Robin</cp:lastModifiedBy>
  <cp:revision>7</cp:revision>
  <dcterms:created xsi:type="dcterms:W3CDTF">2025-12-09T08:13:54Z</dcterms:created>
  <dcterms:modified xsi:type="dcterms:W3CDTF">2026-02-24T11:22:00Z</dcterms:modified>
</cp:coreProperties>
</file>