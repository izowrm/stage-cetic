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8" r:id="rId4"/>
    <p:sldId id="275" r:id="rId5"/>
    <p:sldId id="261" r:id="rId6"/>
    <p:sldId id="260" r:id="rId7"/>
    <p:sldId id="273" r:id="rId8"/>
    <p:sldId id="259" r:id="rId9"/>
    <p:sldId id="272" r:id="rId10"/>
    <p:sldId id="262" r:id="rId11"/>
    <p:sldId id="263" r:id="rId12"/>
    <p:sldId id="270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14" autoAdjust="0"/>
  </p:normalViewPr>
  <p:slideViewPr>
    <p:cSldViewPr snapToGrid="0">
      <p:cViewPr varScale="1">
        <p:scale>
          <a:sx n="87" d="100"/>
          <a:sy n="87" d="100"/>
        </p:scale>
        <p:origin x="14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082A6-11C5-4584-B4A7-5F6CB8C8BF42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0BE1B-9CB8-454F-BD68-366FF85AEE84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748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6569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18D1-A60B-26DF-128A-2DB832D6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C21416-77E5-EDE2-ACDB-BA6E22A8E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44BD453-8C0A-A993-9938-B9DC72C95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 err="1"/>
              <a:t>Etat</a:t>
            </a:r>
            <a:r>
              <a:rPr lang="es-AR" dirty="0"/>
              <a:t> de </a:t>
            </a:r>
            <a:r>
              <a:rPr lang="es-AR" dirty="0" err="1"/>
              <a:t>l’art</a:t>
            </a:r>
            <a:r>
              <a:rPr lang="es-AR" dirty="0"/>
              <a:t> ce qui se </a:t>
            </a:r>
            <a:r>
              <a:rPr lang="es-AR" dirty="0" err="1"/>
              <a:t>fait</a:t>
            </a:r>
            <a:r>
              <a:rPr lang="es-AR" dirty="0"/>
              <a:t> deja 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 err="1"/>
              <a:t>J’ai</a:t>
            </a:r>
            <a:r>
              <a:rPr lang="es-AR" dirty="0"/>
              <a:t> </a:t>
            </a:r>
            <a:r>
              <a:rPr lang="es-AR" dirty="0" err="1"/>
              <a:t>vu</a:t>
            </a:r>
            <a:r>
              <a:rPr lang="es-AR" dirty="0"/>
              <a:t> multimodal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Ce qui se </a:t>
            </a:r>
            <a:r>
              <a:rPr lang="es-AR" dirty="0" err="1"/>
              <a:t>fait</a:t>
            </a:r>
            <a:r>
              <a:rPr lang="es-AR" dirty="0"/>
              <a:t> unimodal 2D: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dirty="0" err="1"/>
              <a:t>detection</a:t>
            </a:r>
            <a:r>
              <a:rPr lang="es-AR" dirty="0"/>
              <a:t> </a:t>
            </a:r>
            <a:r>
              <a:rPr lang="es-AR" dirty="0" err="1"/>
              <a:t>d’objet</a:t>
            </a:r>
            <a:endParaRPr lang="es-AR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dirty="0" err="1"/>
              <a:t>passage</a:t>
            </a:r>
            <a:r>
              <a:rPr lang="es-AR" dirty="0"/>
              <a:t> en 3D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Ce qui se </a:t>
            </a:r>
            <a:r>
              <a:rPr lang="es-AR" dirty="0" err="1"/>
              <a:t>fais</a:t>
            </a:r>
            <a:r>
              <a:rPr lang="es-AR" dirty="0"/>
              <a:t> unimodal 3D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dirty="0"/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Un </a:t>
            </a:r>
            <a:r>
              <a:rPr lang="es-AR" dirty="0" err="1"/>
              <a:t>exemple</a:t>
            </a:r>
            <a:r>
              <a:rPr lang="es-AR" dirty="0"/>
              <a:t> de Multimodal + plan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dirty="0"/>
              <a:t>La </a:t>
            </a:r>
            <a:r>
              <a:rPr lang="es-AR" dirty="0" err="1"/>
              <a:t>detection</a:t>
            </a:r>
            <a:r>
              <a:rPr lang="es-AR" dirty="0"/>
              <a:t> </a:t>
            </a:r>
            <a:r>
              <a:rPr lang="es-AR" dirty="0" err="1"/>
              <a:t>d’objet</a:t>
            </a:r>
            <a:r>
              <a:rPr lang="es-AR" dirty="0"/>
              <a:t> </a:t>
            </a:r>
            <a:r>
              <a:rPr lang="es-AR" dirty="0" err="1"/>
              <a:t>pour</a:t>
            </a:r>
            <a:r>
              <a:rPr lang="es-AR" dirty="0"/>
              <a:t> les </a:t>
            </a:r>
            <a:r>
              <a:rPr lang="es-AR" dirty="0" err="1"/>
              <a:t>system</a:t>
            </a:r>
            <a:r>
              <a:rPr lang="es-AR" dirty="0"/>
              <a:t> </a:t>
            </a:r>
            <a:r>
              <a:rPr lang="es-AR" dirty="0" err="1"/>
              <a:t>enbarqué</a:t>
            </a:r>
            <a:r>
              <a:rPr lang="es-AR" dirty="0"/>
              <a:t> des </a:t>
            </a:r>
            <a:r>
              <a:rPr lang="es-AR" dirty="0" err="1"/>
              <a:t>voitures</a:t>
            </a: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7BA35C-9DA5-93F3-6C1B-1FA1F85B4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0777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Secteur d’activité </a:t>
            </a:r>
            <a:r>
              <a:rPr lang="fr-FR" dirty="0" err="1"/>
              <a:t>princuipalement</a:t>
            </a:r>
            <a:r>
              <a:rPr lang="fr-FR" dirty="0"/>
              <a:t>  la création et  l’aménagement </a:t>
            </a:r>
            <a:r>
              <a:rPr lang="fr-FR" dirty="0" err="1"/>
              <a:t>despace</a:t>
            </a:r>
            <a:r>
              <a:rPr lang="fr-FR" dirty="0"/>
              <a:t> </a:t>
            </a:r>
          </a:p>
          <a:p>
            <a:r>
              <a:rPr lang="fr-FR" dirty="0"/>
              <a:t> les stands de présentation de salon, la rénovation de pharmacie, musé </a:t>
            </a:r>
            <a:r>
              <a:rPr lang="fr-FR" dirty="0" err="1"/>
              <a:t>ect</a:t>
            </a:r>
            <a:r>
              <a:rPr lang="fr-FR" dirty="0"/>
              <a:t> …</a:t>
            </a:r>
          </a:p>
          <a:p>
            <a:r>
              <a:rPr lang="fr-FR" dirty="0"/>
              <a:t>Donc il dispose d’une collection de meuble</a:t>
            </a:r>
          </a:p>
          <a:p>
            <a:r>
              <a:rPr lang="fr-FR" dirty="0"/>
              <a:t>Meuble sur mesure </a:t>
            </a:r>
          </a:p>
          <a:p>
            <a:r>
              <a:rPr lang="fr-FR" dirty="0"/>
              <a:t>Besoin spécifique  pour l’assistance de devis, expliqué le contexte </a:t>
            </a:r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777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0C30-892E-F168-5B04-0D869F73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153445-C1F3-AD37-C62D-D34891D7D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2F5839-FC25-35A1-2425-5DFE254F5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 err="1"/>
              <a:t>Fichier</a:t>
            </a:r>
            <a:r>
              <a:rPr lang="es-AR" dirty="0"/>
              <a:t> Exel qui </a:t>
            </a:r>
            <a:r>
              <a:rPr lang="es-AR" dirty="0" err="1"/>
              <a:t>est</a:t>
            </a:r>
            <a:r>
              <a:rPr lang="es-AR" dirty="0"/>
              <a:t>  la base de </a:t>
            </a:r>
            <a:r>
              <a:rPr lang="es-AR" dirty="0" err="1"/>
              <a:t>leurs</a:t>
            </a:r>
            <a:r>
              <a:rPr lang="es-AR" dirty="0"/>
              <a:t> </a:t>
            </a:r>
            <a:r>
              <a:rPr lang="es-AR" dirty="0" err="1"/>
              <a:t>devis</a:t>
            </a:r>
            <a:r>
              <a:rPr lang="es-AR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	</a:t>
            </a:r>
            <a:r>
              <a:rPr lang="es-AR" dirty="0" err="1"/>
              <a:t>matériaux</a:t>
            </a:r>
            <a:r>
              <a:rPr lang="es-AR" dirty="0"/>
              <a:t> et  </a:t>
            </a:r>
            <a:r>
              <a:rPr lang="es-AR" dirty="0" err="1"/>
              <a:t>quantité</a:t>
            </a: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	</a:t>
            </a:r>
            <a:r>
              <a:rPr lang="es-AR" dirty="0" err="1"/>
              <a:t>quandtioté</a:t>
            </a:r>
            <a:r>
              <a:rPr lang="es-AR" dirty="0"/>
              <a:t> de </a:t>
            </a:r>
            <a:r>
              <a:rPr lang="es-AR" dirty="0" err="1"/>
              <a:t>main</a:t>
            </a:r>
            <a:r>
              <a:rPr lang="es-AR" dirty="0"/>
              <a:t> </a:t>
            </a:r>
            <a:r>
              <a:rPr lang="es-AR" dirty="0" err="1"/>
              <a:t>d’oeuvre</a:t>
            </a:r>
            <a:r>
              <a:rPr lang="es-AR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	et  le Prix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17FCFA-30A5-5A44-B735-18D7C3645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6771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Gratuit </a:t>
            </a:r>
          </a:p>
          <a:p>
            <a:r>
              <a:rPr lang="fr-FR" dirty="0"/>
              <a:t>restriction journalière</a:t>
            </a:r>
          </a:p>
          <a:p>
            <a:r>
              <a:rPr lang="fr-FR" dirty="0"/>
              <a:t>mais première impulsion cadre </a:t>
            </a:r>
            <a:r>
              <a:rPr lang="fr-FR" dirty="0" err="1"/>
              <a:t>Walhub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0786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Dans un premier temps j’ai simplement envoyé une image du  meuble avec un prompt basic</a:t>
            </a:r>
          </a:p>
          <a:p>
            <a:r>
              <a:rPr lang="fr-FR" dirty="0"/>
              <a:t>Besoin de plus d’informations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5810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40F1-4164-781E-1209-A2D75EE9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8EE7B5-2BA3-6B6D-7FF2-F89F7FDB6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A29F9A-770A-4DDE-7BC2-6B2090D79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Liste des matériaux</a:t>
            </a:r>
          </a:p>
          <a:p>
            <a:r>
              <a:rPr lang="fr-FR" dirty="0"/>
              <a:t>Et la Liste des main d’oeuvr²e et le coup horaire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B7832E-C455-EAF3-989C-3A14A8154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2254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Echelle 1/1</a:t>
            </a:r>
          </a:p>
          <a:p>
            <a:r>
              <a:rPr lang="fr-FR" dirty="0"/>
              <a:t>ou  une mesure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8888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Se spécialisé </a:t>
            </a:r>
          </a:p>
          <a:p>
            <a:endParaRPr lang="fr-FR" dirty="0"/>
          </a:p>
          <a:p>
            <a:r>
              <a:rPr lang="fr-FR" dirty="0"/>
              <a:t>Une suite de taches :</a:t>
            </a:r>
          </a:p>
          <a:p>
            <a:r>
              <a:rPr lang="fr-FR" dirty="0"/>
              <a:t> complexité + longueurs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Quant mat </a:t>
            </a:r>
          </a:p>
          <a:p>
            <a:r>
              <a:rPr lang="fr-FR" dirty="0"/>
              <a:t>Quant main œuvres </a:t>
            </a:r>
          </a:p>
          <a:p>
            <a:r>
              <a:rPr lang="fr-FR" dirty="0"/>
              <a:t>Calcul</a:t>
            </a:r>
          </a:p>
          <a:p>
            <a:r>
              <a:rPr lang="fr-FR" dirty="0"/>
              <a:t>J’ai  mis en place Processus </a:t>
            </a:r>
            <a:r>
              <a:rPr lang="fr-FR" dirty="0" err="1"/>
              <a:t>iteratifs</a:t>
            </a:r>
            <a:endParaRPr lang="fr-FR" dirty="0"/>
          </a:p>
          <a:p>
            <a:r>
              <a:rPr lang="fr-FR" dirty="0"/>
              <a:t>Avec une </a:t>
            </a:r>
            <a:r>
              <a:rPr lang="fr-FR" dirty="0" err="1"/>
              <a:t>mopyenne</a:t>
            </a:r>
            <a:r>
              <a:rPr lang="fr-FR" dirty="0"/>
              <a:t> écart type </a:t>
            </a:r>
          </a:p>
          <a:p>
            <a:r>
              <a:rPr lang="fr-FR" dirty="0"/>
              <a:t>Le modèle </a:t>
            </a:r>
            <a:r>
              <a:rPr lang="fr-FR" dirty="0" err="1"/>
              <a:t>haliciné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5270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1 requête prend entre 40 et 70 sec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009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3085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0BE1B-9CB8-454F-BD68-366FF85AEE84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0666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8637ED-3BA2-15F4-0B7D-E732496D5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EBEE21-E238-D96F-582F-9859F390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087DA7-9828-4226-EB6D-B88CDBA6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1ED0DD-F00B-95D9-AC6F-52405C3A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E8C0AC-E5B2-EA0F-EF22-C9157839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437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C055D-9F55-9BDC-CAC4-D73E9319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094EC-9CB0-6F7A-4CDC-753A3203A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877A9F-68A2-3F97-C0D1-B1CF23F0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B95588-BAD4-1B62-C831-98761EA7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C7AADC-6220-9F9A-9331-7208757B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941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A41D2-4409-A20F-2733-1F1F3AA2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D77942-A1F3-099B-3DC1-AAA91F7F6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435A91-272A-5843-B756-10A4E98F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D83A90-3E15-9E1C-08D1-4B84CC2C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961DF5-BC11-C37D-DC9C-23172E58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14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41A36-2D5E-1194-D60F-61D4442F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E7659-DD1E-7336-8EB2-74B418C20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A7FFD2-42B5-DCC7-F1E3-760D0049E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C120D3-66EA-2FDE-E821-FF90D0A2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C88452-3C29-4995-3005-DB5E059C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FEEEBF-A47E-49C8-0F53-EF0FD915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10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273A8-78F9-D6A0-CEA1-033E0F68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EC4F3A-07C6-F762-FC5D-D1F97E2A6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D3E63C-11A7-F197-43AB-0A6D16FC2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2A0739-FA20-BA15-5305-CAB70A746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213AF49-4D0D-D480-FA57-B6913F5E4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AC164B-D20F-1A44-0B98-0CED11D8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0FBC5C-35BC-D9F4-D13A-99005EB4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9CC17C-F519-2697-6F16-14C95591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274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BB9AB-D1F7-395E-30EC-446648C0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1D3F21-9405-407D-A183-1212C102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9EF01F-774C-12EF-25CD-363DDE20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8514C9-89E2-3DB3-7922-240921C7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370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26FD62-EA59-9264-8DC8-24BCA5AE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D533DA-EA22-41FE-1D2D-8DB10902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027F18-2F33-D7C9-D1EF-70BFF90A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365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74B4B-1849-8E2F-BAF7-F113F9B8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BF7A55-03F4-E288-3DE0-D6C76C89A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51AB96-15CE-9393-338A-AB70FA650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A998D3-2948-7ECA-F1DD-99F2A589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59A358-063C-7733-E95A-8D93BB295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AEEA81-14E3-2351-286B-7AE3F18C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813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ED2D0-DE35-3F12-3611-1F3D427E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1D80F1D-5498-FEC6-32B0-12A6DDFD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C54779-1F41-E7DD-B189-C3D8FC7B9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3692AF-B72F-4F19-21E6-46C19B5C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4DC4AA-4916-7BCD-E238-1A77693F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7F8961-299E-B483-90B7-3A2C6043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438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AE3D1-AB01-29DC-9ABD-2D6424CD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92AF57-9C4A-C448-BCBE-4A589CAA6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89F92C-C476-9D08-0B40-B76F96EB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5D9E2-9292-0CB7-0689-FB631EC1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AD346E-3F7C-E4E1-94F7-91650289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583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A622422-9E5B-2A01-DBE0-D264B4BF9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0BA964-937C-FFEC-6803-1CF80E36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7C951B-A43F-CA62-2820-D86A5A4E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E911E3-AD22-D113-B5FA-DF06A579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C52C64-880C-EB7F-B4E3-9F873E28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012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8597278-0DB1-94C2-ECB3-C5FEEBCE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385C96-B09C-3997-3B89-AE4727B6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134BB-C0E9-3AF4-4AAD-2035AD695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98120-A03B-421F-8E42-0D275B84E880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3E1F14-77DD-A1ED-C368-C64A97C5D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9E8B2D-0D00-11C1-0352-65040861A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490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75BF81B-612D-C43E-429D-174212434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64" y="857385"/>
            <a:ext cx="5136795" cy="243997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B8CD11-EB78-5485-3717-3204AF032635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Robin Mougne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ESAIP Angers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Période de stage : septembre 2025 - février 2026</a:t>
            </a:r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B60AA1FC-4AF4-2BA0-80AF-F8BF80ECF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52" y="923693"/>
            <a:ext cx="48196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9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4852D-15A4-3270-E0AA-428BB9CD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2796D7-9D1C-B2CC-06BC-F8745FA8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fr-FR" sz="4000"/>
              <a:t>Sujet du stage: </a:t>
            </a:r>
            <a:endParaRPr lang="es-AR" sz="40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165F2D-067F-9824-2702-9BDBD48ED9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5715" y="2508105"/>
            <a:ext cx="5040285" cy="36324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fr-FR" sz="2000" dirty="0"/>
              <a:t>La pertinence d’une approche multimodale pour l’exploitation de plans 2D et 3D 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s-AR" sz="2000" dirty="0" err="1"/>
              <a:t>État</a:t>
            </a:r>
            <a:r>
              <a:rPr lang="es-AR" sz="2000" dirty="0"/>
              <a:t> </a:t>
            </a:r>
            <a:r>
              <a:rPr lang="fr-FR" sz="2000" dirty="0"/>
              <a:t>de l’art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dirty="0"/>
              <a:t>Exploration d’un cas d’usage</a:t>
            </a:r>
            <a:endParaRPr lang="es-AR" altLang="es-AR" sz="2000" dirty="0"/>
          </a:p>
        </p:txBody>
      </p:sp>
      <p:pic>
        <p:nvPicPr>
          <p:cNvPr id="5" name="Image 4" descr="Une image contenant texte, carte, diagramme, Plan&#10;&#10;Le contenu généré par l’IA peut être incorrect.">
            <a:extLst>
              <a:ext uri="{FF2B5EF4-FFF2-40B4-BE49-F238E27FC236}">
                <a16:creationId xmlns:a16="http://schemas.microsoft.com/office/drawing/2014/main" id="{FF0D263F-9FFF-1721-B374-74604AF4B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1" r="12257"/>
          <a:stretch>
            <a:fillRect/>
          </a:stretch>
        </p:blipFill>
        <p:spPr>
          <a:xfrm>
            <a:off x="7846729" y="774285"/>
            <a:ext cx="2588995" cy="2581173"/>
          </a:xfrm>
          <a:prstGeom prst="rect">
            <a:avLst/>
          </a:prstGeom>
        </p:spPr>
      </p:pic>
      <p:pic>
        <p:nvPicPr>
          <p:cNvPr id="7" name="Image 6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C51AF196-1F70-F417-7416-10F467B8F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667" y="3773867"/>
            <a:ext cx="4389120" cy="2183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4D4CED-EC47-90BE-40E1-500ABB0F3E02}"/>
              </a:ext>
            </a:extLst>
          </p:cNvPr>
          <p:cNvSpPr/>
          <p:nvPr/>
        </p:nvSpPr>
        <p:spPr>
          <a:xfrm>
            <a:off x="9953248" y="5852049"/>
            <a:ext cx="977153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463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18F347-98F0-2EA3-EB71-33E05013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fr-FR" sz="4000" dirty="0"/>
              <a:t>Cas d’usage </a:t>
            </a:r>
            <a:r>
              <a:rPr lang="fr-FR" sz="4000" b="1" dirty="0"/>
              <a:t>: </a:t>
            </a:r>
            <a:endParaRPr lang="es-AR" sz="40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3B17BC-88EF-17BD-36F4-4C0A21121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s-AR" sz="2000" dirty="0" err="1"/>
              <a:t>Secteur</a:t>
            </a:r>
            <a:r>
              <a:rPr lang="es-AR" sz="2000" dirty="0"/>
              <a:t> </a:t>
            </a:r>
            <a:r>
              <a:rPr lang="es-AR" sz="2000" dirty="0" err="1"/>
              <a:t>d’activité</a:t>
            </a:r>
            <a:endParaRPr lang="es-AR" sz="2000" dirty="0"/>
          </a:p>
          <a:p>
            <a:r>
              <a:rPr lang="fr-FR" sz="2000" dirty="0"/>
              <a:t>Leurs besoins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 descr="Une image contenant intérieur, plafond, bâtiment, exposition&#10;&#10;Le contenu généré par l’IA peut être incorrect.">
            <a:extLst>
              <a:ext uri="{FF2B5EF4-FFF2-40B4-BE49-F238E27FC236}">
                <a16:creationId xmlns:a16="http://schemas.microsoft.com/office/drawing/2014/main" id="{28BE203B-ADF5-EC67-9990-0C92B7BC1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3" r="15547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0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1C01B-497F-0B97-7212-7B682698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5E91F0C-2ADC-000B-C144-187724E7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6600D4-FD32-622F-71B9-EC888709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 dirty="0"/>
              <a:t>Types de données à disposition</a:t>
            </a:r>
            <a:endParaRPr lang="es-AR" sz="48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D837A6-E26B-9EA5-60D4-3DDB5C8C5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309079-09EC-1204-E7F9-4A5FAC7F1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EA6979-B865-BE15-FE2E-9F4E072BC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600408-441D-8187-5314-F91F2B98B470}"/>
              </a:ext>
            </a:extLst>
          </p:cNvPr>
          <p:cNvSpPr/>
          <p:nvPr/>
        </p:nvSpPr>
        <p:spPr>
          <a:xfrm>
            <a:off x="9953248" y="5852049"/>
            <a:ext cx="977153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A2D4DE-CC6A-F9B6-82D6-36E6F8113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750" y="4095641"/>
            <a:ext cx="22782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</a:t>
            </a: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</a:t>
            </a: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AR" altLang="es-A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Vectorworks</a:t>
            </a:r>
            <a:endParaRPr kumimoji="0" lang="es-AR" altLang="es-A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5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E92D83-42A4-0D83-4B6B-105F6E55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fr-FR" sz="4800" dirty="0"/>
              <a:t>Estimation par LLM</a:t>
            </a:r>
            <a:endParaRPr lang="es-AR" sz="48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Graphique, logo, graphisme, Police&#10;&#10;Le contenu généré par l’IA peut être incorrect.">
            <a:extLst>
              <a:ext uri="{FF2B5EF4-FFF2-40B4-BE49-F238E27FC236}">
                <a16:creationId xmlns:a16="http://schemas.microsoft.com/office/drawing/2014/main" id="{6E739D2C-9F2D-81DF-AC90-D807A2518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427" y="2888559"/>
            <a:ext cx="5150277" cy="2897030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AD9495C3-24A6-984B-723E-E2C14A37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934" y="2389218"/>
            <a:ext cx="4530898" cy="3639450"/>
          </a:xfrm>
        </p:spPr>
        <p:txBody>
          <a:bodyPr anchor="ctr">
            <a:normAutofit/>
          </a:bodyPr>
          <a:lstStyle/>
          <a:p>
            <a:endParaRPr lang="es-AR" sz="2000" dirty="0"/>
          </a:p>
          <a:p>
            <a:r>
              <a:rPr lang="es-AR" sz="2000" dirty="0"/>
              <a:t>Multimodal</a:t>
            </a:r>
          </a:p>
          <a:p>
            <a:r>
              <a:rPr lang="es-AR" sz="2000" dirty="0" err="1"/>
              <a:t>Raisonnement</a:t>
            </a:r>
            <a:endParaRPr lang="es-AR" sz="2000" dirty="0"/>
          </a:p>
          <a:p>
            <a:r>
              <a:rPr lang="fr-FR" sz="2000" dirty="0"/>
              <a:t>Gemini 2.5 flash</a:t>
            </a:r>
          </a:p>
          <a:p>
            <a:pPr marL="0" indent="0">
              <a:buNone/>
            </a:pPr>
            <a:endParaRPr lang="es-AR" sz="2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6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0DEDDE-9DED-37E1-9349-816BE719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Image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0503F361-82B5-C173-30EF-20D95B1C5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5" r="10693" b="2"/>
          <a:stretch>
            <a:fillRect/>
          </a:stretch>
        </p:blipFill>
        <p:spPr>
          <a:xfrm>
            <a:off x="1661128" y="858525"/>
            <a:ext cx="5376523" cy="5211906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48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B5995-0A83-E8B1-3BB0-EE31CD2E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937134-3E9A-C21D-A688-C86CD8F8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dirty="0"/>
              <a:t>Données textuelles</a:t>
            </a: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8B3A4F61-5054-F2B5-B08B-B2EC44F9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87" b="1"/>
          <a:stretch>
            <a:fillRect/>
          </a:stretch>
        </p:blipFill>
        <p:spPr>
          <a:xfrm>
            <a:off x="545238" y="1227334"/>
            <a:ext cx="7608304" cy="4474288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5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9C2CF4-9C9E-0AE0-07D4-821DC591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/>
              <a:t>Fichier STL</a:t>
            </a:r>
            <a:endParaRPr lang="es-AR" sz="48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69139D-ACD7-DA3C-913F-D7CA99A9E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 dirty="0"/>
              <a:t>Fichier STL :</a:t>
            </a:r>
          </a:p>
          <a:p>
            <a:pPr lvl="1"/>
            <a:r>
              <a:rPr lang="fr-FR" sz="2000" dirty="0"/>
              <a:t>la géométrie 3D</a:t>
            </a:r>
          </a:p>
          <a:p>
            <a:pPr lvl="1"/>
            <a:r>
              <a:rPr lang="fr-FR" sz="2000" dirty="0"/>
              <a:t>le volume de la pièce</a:t>
            </a:r>
            <a:endParaRPr lang="es-AR" sz="2000" dirty="0"/>
          </a:p>
        </p:txBody>
      </p:sp>
      <p:pic>
        <p:nvPicPr>
          <p:cNvPr id="8" name="Image 7" descr="Une image contenant croquis, dessin, art, conception&#10;&#10;Le contenu généré par l’IA peut être incorrect.">
            <a:extLst>
              <a:ext uri="{FF2B5EF4-FFF2-40B4-BE49-F238E27FC236}">
                <a16:creationId xmlns:a16="http://schemas.microsoft.com/office/drawing/2014/main" id="{9D4BEC2C-210C-AEE0-0963-510742BDB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2970116"/>
            <a:ext cx="5150277" cy="274252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78C39-F60A-997F-F0B9-7A19DE84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76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B07747-4D69-5ABF-258D-80F805A4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fr-FR" sz="5200" dirty="0"/>
              <a:t>Prompt</a:t>
            </a:r>
            <a:endParaRPr lang="es-AR" sz="5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15C691-8D23-2BBB-9895-63EAE85A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000" dirty="0"/>
              <a:t>Tu es un expert en devis pour une entreprise spécialisée dans la fabrication de meubles sur mesure.</a:t>
            </a:r>
            <a:br>
              <a:rPr lang="fr-FR" sz="1000" dirty="0"/>
            </a:br>
            <a:r>
              <a:rPr lang="fr-FR" sz="1000" dirty="0"/>
              <a:t>Tu vas analyser trois types d'entrée : une image du meuble, un fichier STL du meuble, et la liste des matériaux nécessaires à la fabrication du meuble.</a:t>
            </a:r>
            <a:br>
              <a:rPr lang="fr-FR" sz="1000" dirty="0"/>
            </a:br>
            <a:br>
              <a:rPr lang="fr-FR" sz="1000" dirty="0"/>
            </a:br>
            <a:r>
              <a:rPr lang="fr-FR" sz="1000" dirty="0"/>
              <a:t>Ta tâche consiste à :</a:t>
            </a:r>
            <a:br>
              <a:rPr lang="fr-FR" sz="1000" dirty="0"/>
            </a:br>
            <a:r>
              <a:rPr lang="fr-FR" sz="1000" dirty="0"/>
              <a:t>1. Évaluer la complexité du meuble en s’appuyant sur les documents fournis. Dans le STL, la longueur du meuble est de 484 cm ; je te laisse en déduire le reste des cotes.</a:t>
            </a:r>
            <a:br>
              <a:rPr lang="fr-FR" sz="1000" dirty="0"/>
            </a:br>
            <a:r>
              <a:rPr lang="fr-FR" sz="1000" dirty="0"/>
              <a:t>2. Estimer la quantité nécessaire pour chacun des matériaux suivants :</a:t>
            </a:r>
            <a:br>
              <a:rPr lang="fr-FR" sz="1000" dirty="0"/>
            </a:br>
            <a:r>
              <a:rPr lang="fr-FR" sz="1000" dirty="0"/>
              <a:t>- Tube 30 mm x 30 mm</a:t>
            </a:r>
            <a:br>
              <a:rPr lang="fr-FR" sz="1000" dirty="0"/>
            </a:br>
            <a:r>
              <a:rPr lang="fr-FR" sz="1000" dirty="0"/>
              <a:t>- SOFTWOOD 18 mm (244 cm x 122 cm)</a:t>
            </a:r>
            <a:br>
              <a:rPr lang="fr-FR" sz="1000" dirty="0"/>
            </a:br>
            <a:r>
              <a:rPr lang="fr-FR" sz="1000" dirty="0"/>
              <a:t>- MDF 18 mm (305 cm x 122 cm)</a:t>
            </a:r>
            <a:br>
              <a:rPr lang="fr-FR" sz="1000" dirty="0"/>
            </a:br>
            <a:r>
              <a:rPr lang="fr-FR" sz="1000" dirty="0"/>
              <a:t>- MDF 9 mm (305 cm x 122 cm)</a:t>
            </a:r>
            <a:br>
              <a:rPr lang="fr-FR" sz="1000" dirty="0"/>
            </a:br>
            <a:r>
              <a:rPr lang="fr-FR" sz="1000" dirty="0"/>
              <a:t>- STRAT EGGER W1000 ST9 BLANC (305 cm x 130 cm)</a:t>
            </a:r>
            <a:br>
              <a:rPr lang="fr-FR" sz="1000" dirty="0"/>
            </a:br>
            <a:r>
              <a:rPr lang="fr-FR" sz="1000" dirty="0"/>
              <a:t>3. Estimer le temps de main-d'œuvre requis par type :</a:t>
            </a:r>
            <a:br>
              <a:rPr lang="fr-FR" sz="1000" dirty="0"/>
            </a:br>
            <a:r>
              <a:rPr lang="fr-FR" sz="1000" dirty="0"/>
              <a:t>- M.O. menuiserie</a:t>
            </a:r>
            <a:br>
              <a:rPr lang="fr-FR" sz="1000" dirty="0"/>
            </a:br>
            <a:r>
              <a:rPr lang="fr-FR" sz="1000" dirty="0"/>
              <a:t>- M.O. CNC</a:t>
            </a:r>
            <a:br>
              <a:rPr lang="fr-FR" sz="1000" dirty="0"/>
            </a:br>
            <a:r>
              <a:rPr lang="fr-FR" sz="1000" dirty="0"/>
              <a:t>- M.O. scie</a:t>
            </a:r>
            <a:br>
              <a:rPr lang="fr-FR" sz="1000" dirty="0"/>
            </a:br>
            <a:r>
              <a:rPr lang="fr-FR" sz="1000" dirty="0"/>
              <a:t>4. Calculer le prix total du projet, en prenant en compte :</a:t>
            </a:r>
            <a:br>
              <a:rPr lang="fr-FR" sz="1000" dirty="0"/>
            </a:br>
            <a:r>
              <a:rPr lang="fr-FR" sz="1000" dirty="0"/>
              <a:t>- Le coût des matériaux utilisés</a:t>
            </a:r>
            <a:br>
              <a:rPr lang="fr-FR" sz="1000" dirty="0"/>
            </a:br>
            <a:r>
              <a:rPr lang="fr-FR" sz="1000" dirty="0"/>
              <a:t>- Le coût horaire de la main-d'œuvre, selon les tarifs suivants :</a:t>
            </a:r>
            <a:br>
              <a:rPr lang="fr-FR" sz="1000" dirty="0"/>
            </a:br>
            <a:r>
              <a:rPr lang="fr-FR" sz="1000" dirty="0"/>
              <a:t>- M.O. menuiserie : X € / h</a:t>
            </a:r>
            <a:br>
              <a:rPr lang="fr-FR" sz="1000" dirty="0"/>
            </a:br>
            <a:r>
              <a:rPr lang="fr-FR" sz="1000" dirty="0"/>
              <a:t>- M.O. CNC : Y € / h</a:t>
            </a:r>
            <a:br>
              <a:rPr lang="fr-FR" sz="1000" dirty="0"/>
            </a:br>
            <a:r>
              <a:rPr lang="fr-FR" sz="1000" dirty="0"/>
              <a:t>- M.O. scie : Z € / h</a:t>
            </a:r>
            <a:br>
              <a:rPr lang="fr-FR" sz="1000" dirty="0"/>
            </a:br>
            <a:br>
              <a:rPr lang="fr-FR" sz="1000" dirty="0"/>
            </a:br>
            <a:r>
              <a:rPr lang="fr-FR" sz="1000" dirty="0"/>
              <a:t>Ne me détaille pas les calculs. Donne uniquement le résultat final au format JSON suivant, sans aucun texte autour :</a:t>
            </a:r>
            <a:br>
              <a:rPr lang="fr-FR" sz="1000" dirty="0"/>
            </a:br>
            <a:br>
              <a:rPr lang="fr-FR" sz="1000" dirty="0"/>
            </a:br>
            <a:r>
              <a:rPr lang="fr-FR" sz="1000" dirty="0"/>
              <a:t>{</a:t>
            </a:r>
            <a:br>
              <a:rPr lang="fr-FR" sz="1000" dirty="0"/>
            </a:br>
            <a:r>
              <a:rPr lang="fr-FR" sz="1000" dirty="0"/>
              <a:t>"</a:t>
            </a:r>
            <a:r>
              <a:rPr lang="fr-FR" sz="1000" dirty="0" err="1"/>
              <a:t>prix_final</a:t>
            </a:r>
            <a:r>
              <a:rPr lang="fr-FR" sz="1000" dirty="0"/>
              <a:t>": 0.00,</a:t>
            </a:r>
            <a:br>
              <a:rPr lang="fr-FR" sz="1000" dirty="0"/>
            </a:br>
            <a:r>
              <a:rPr lang="fr-FR" sz="1000" dirty="0"/>
              <a:t>"</a:t>
            </a:r>
            <a:r>
              <a:rPr lang="fr-FR" sz="1000" dirty="0" err="1"/>
              <a:t>prix_material</a:t>
            </a:r>
            <a:r>
              <a:rPr lang="fr-FR" sz="1000" dirty="0"/>
              <a:t>": 0.00,</a:t>
            </a:r>
            <a:br>
              <a:rPr lang="fr-FR" sz="1000" dirty="0"/>
            </a:br>
            <a:r>
              <a:rPr lang="fr-FR" sz="1000" dirty="0"/>
              <a:t>"</a:t>
            </a:r>
            <a:r>
              <a:rPr lang="fr-FR" sz="1000" dirty="0" err="1"/>
              <a:t>prix_manoeuvre</a:t>
            </a:r>
            <a:r>
              <a:rPr lang="fr-FR" sz="1000" dirty="0"/>
              <a:t>": 0.00</a:t>
            </a:r>
            <a:br>
              <a:rPr lang="fr-FR" sz="1000" dirty="0"/>
            </a:br>
            <a:r>
              <a:rPr lang="fr-FR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48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B23D79-AC24-65D4-FEC1-10387E8B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fr-FR" sz="5400" dirty="0"/>
              <a:t>Résultat: </a:t>
            </a:r>
            <a:endParaRPr lang="es-AR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873E2-A88F-6CA7-06E7-FDFD8E2DA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fr-FR" sz="2400" dirty="0"/>
              <a:t>Pour la gondole :</a:t>
            </a:r>
            <a:br>
              <a:rPr lang="fr-FR" sz="2400" dirty="0"/>
            </a:br>
            <a:r>
              <a:rPr lang="fr-FR" sz="2400" dirty="0"/>
              <a:t>Prix estimé par l’entreprise : 5115 euros</a:t>
            </a:r>
            <a:br>
              <a:rPr lang="fr-FR" sz="2400" dirty="0"/>
            </a:br>
            <a:r>
              <a:rPr lang="fr-FR" sz="2400" dirty="0"/>
              <a:t>Prix estimé par Gemini : 5000 - 6000 euros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Temps de traitement : </a:t>
            </a:r>
          </a:p>
          <a:p>
            <a:pPr lvl="1"/>
            <a:r>
              <a:rPr lang="fr-FR" sz="2000" dirty="0"/>
              <a:t>environ 10 minutes sans abonnement.</a:t>
            </a:r>
          </a:p>
          <a:p>
            <a:pPr lvl="1"/>
            <a:r>
              <a:rPr lang="fr-FR" sz="2000" dirty="0"/>
              <a:t>Avec un abonnement, le temps de traitement peut être de 2 à 3 minutes.</a:t>
            </a:r>
          </a:p>
        </p:txBody>
      </p:sp>
    </p:spTree>
    <p:extLst>
      <p:ext uri="{BB962C8B-B14F-4D97-AF65-F5344CB8AC3E}">
        <p14:creationId xmlns:p14="http://schemas.microsoft.com/office/powerpoint/2010/main" val="2943464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A3430F-6B83-2950-080E-ABF55EA4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4000" dirty="0" err="1">
                <a:solidFill>
                  <a:schemeClr val="bg1"/>
                </a:solidFill>
              </a:rPr>
              <a:t>Possibilités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s-AR" sz="4000" dirty="0" err="1">
                <a:solidFill>
                  <a:schemeClr val="bg1"/>
                </a:solidFill>
              </a:rPr>
              <a:t>d’amélioration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fr-FR" sz="4000" dirty="0">
                <a:solidFill>
                  <a:srgbClr val="FFFFFF"/>
                </a:solidFill>
              </a:rPr>
              <a:t>: </a:t>
            </a:r>
            <a:endParaRPr lang="es-AR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CD4919-D435-1EA6-5A1C-2F9DC2D68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FR" sz="2000" dirty="0"/>
              <a:t>Fournir des exemples au modèle, si possible à deux niveaux de complexité, afin de l’encadrer dans l’estimation du prix.</a:t>
            </a:r>
          </a:p>
          <a:p>
            <a:r>
              <a:rPr lang="fr-FR" sz="2000" dirty="0"/>
              <a:t>Entraîner un LLM spécialement pour cette tâche.</a:t>
            </a:r>
          </a:p>
          <a:p>
            <a:r>
              <a:rPr lang="fr-FR" sz="2000" dirty="0"/>
              <a:t>Entraîner divers agents.</a:t>
            </a:r>
          </a:p>
          <a:p>
            <a:r>
              <a:rPr lang="fr-FR" sz="2000" dirty="0"/>
              <a:t>…</a:t>
            </a:r>
          </a:p>
          <a:p>
            <a:pPr marL="0" indent="0">
              <a:buNone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31502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8681C-768A-19BC-5B0F-889B9517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E510007-3622-180B-4C30-779080517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C78CE7-AAA7-D395-61E4-2C96CC44B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BA535D-A87E-52F3-9F45-DD19AF7F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3FF0A4-B3E8-AE49-3D22-35DF0C8EF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29DA14-3418-84F6-991D-711CB992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E64E2B-37B8-4573-C4F1-B7127164A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186145-82C6-4BFB-0BD3-DE4806066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dirty="0">
                <a:solidFill>
                  <a:srgbClr val="FFFFFF"/>
                </a:solidFill>
              </a:rPr>
              <a:t>Défis:</a:t>
            </a:r>
            <a:endParaRPr lang="es-AR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A66AA5-0DCD-96FD-9B79-910F872FE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1"/>
            <a:ext cx="4862447" cy="5188280"/>
          </a:xfrm>
        </p:spPr>
        <p:txBody>
          <a:bodyPr anchor="ctr">
            <a:normAutofit/>
          </a:bodyPr>
          <a:lstStyle/>
          <a:p>
            <a:r>
              <a:rPr lang="fr-FR" dirty="0"/>
              <a:t>Le nombre de </a:t>
            </a:r>
            <a:r>
              <a:rPr lang="fr-FR" dirty="0" err="1"/>
              <a:t>tokens</a:t>
            </a:r>
            <a:r>
              <a:rPr lang="fr-FR" dirty="0"/>
              <a:t> des fichiers STL.</a:t>
            </a:r>
          </a:p>
          <a:p>
            <a:r>
              <a:rPr lang="fr-FR" dirty="0"/>
              <a:t>Le coût potentiel d’un LLM plus performant.</a:t>
            </a:r>
          </a:p>
          <a:p>
            <a:r>
              <a:rPr lang="fr-FR" dirty="0"/>
              <a:t>Généralisation sur plusieurs type meubles</a:t>
            </a:r>
          </a:p>
          <a:p>
            <a:r>
              <a:rPr lang="fr-FR" dirty="0"/>
              <a:t>…</a:t>
            </a:r>
            <a:endParaRPr lang="es-AR" dirty="0"/>
          </a:p>
          <a:p>
            <a:pPr marL="0" indent="0">
              <a:buNone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29581207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3119</TotalTime>
  <Words>724</Words>
  <Application>Microsoft Office PowerPoint</Application>
  <PresentationFormat>Grand écran</PresentationFormat>
  <Paragraphs>93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Sujet du stage: </vt:lpstr>
      <vt:lpstr>Cas d’usage : </vt:lpstr>
      <vt:lpstr>Types de données à disposition</vt:lpstr>
      <vt:lpstr>Estimation par LLM</vt:lpstr>
      <vt:lpstr>Image</vt:lpstr>
      <vt:lpstr>Données textuelles</vt:lpstr>
      <vt:lpstr>Fichier STL</vt:lpstr>
      <vt:lpstr>Prompt</vt:lpstr>
      <vt:lpstr>Résultat: </vt:lpstr>
      <vt:lpstr>Possibilités d’amélioration : </vt:lpstr>
      <vt:lpstr>Défis: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MOUGNE Robin</dc:creator>
  <cp:lastModifiedBy>MOUGNE Robin</cp:lastModifiedBy>
  <cp:revision>12</cp:revision>
  <dcterms:created xsi:type="dcterms:W3CDTF">2025-12-09T08:13:54Z</dcterms:created>
  <dcterms:modified xsi:type="dcterms:W3CDTF">2026-02-25T23:02:50Z</dcterms:modified>
</cp:coreProperties>
</file>